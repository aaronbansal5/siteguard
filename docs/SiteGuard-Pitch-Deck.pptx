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29b8bc80684e82" /><Relationship Type="http://schemas.openxmlformats.org/officeDocument/2006/relationships/extended-properties" Target="/docProps/app.xml" Id="Rcd1b66cac6f64734" /><Relationship Type="http://schemas.openxmlformats.org/officeDocument/2006/relationships/officeDocument" Target="/ppt/presentation.xml" Id="R95a3fae10fa24e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66c2cdb7b048a5"/>
  </p:sldMasterIdLst>
  <p:notesMasterIdLst>
    <p:notesMasterId xmlns:r="http://schemas.openxmlformats.org/officeDocument/2006/relationships" r:id="R83eadcf765364f25"/>
  </p:notesMasterIdLst>
  <p:sldIdLst>
    <p:sldId xmlns:r="http://schemas.openxmlformats.org/officeDocument/2006/relationships" id="256" r:id="R6bd32ddd4c1a41d3"/>
    <p:sldId xmlns:r="http://schemas.openxmlformats.org/officeDocument/2006/relationships" id="257" r:id="R5cfe537b13304f1c"/>
    <p:sldId xmlns:r="http://schemas.openxmlformats.org/officeDocument/2006/relationships" id="258" r:id="R1d6493ec0a5845d8"/>
    <p:sldId xmlns:r="http://schemas.openxmlformats.org/officeDocument/2006/relationships" id="259" r:id="R66995d0ebc894cbb"/>
    <p:sldId xmlns:r="http://schemas.openxmlformats.org/officeDocument/2006/relationships" id="260" r:id="Rdd501799c1814d98"/>
    <p:sldId xmlns:r="http://schemas.openxmlformats.org/officeDocument/2006/relationships" id="261" r:id="Rad3d1d89332e4632"/>
    <p:sldId xmlns:r="http://schemas.openxmlformats.org/officeDocument/2006/relationships" id="262" r:id="Rbb3f537f50f64e98"/>
    <p:sldId xmlns:r="http://schemas.openxmlformats.org/officeDocument/2006/relationships" id="263" r:id="R56034deb45f44a20"/>
    <p:sldId xmlns:r="http://schemas.openxmlformats.org/officeDocument/2006/relationships" id="264" r:id="R3f2e2e1a0d7843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09d910afb74209" /><Relationship Type="http://schemas.openxmlformats.org/officeDocument/2006/relationships/slideMaster" Target="/ppt/slideMasters/slideMaster1.xml" Id="R1966c2cdb7b048a5" /><Relationship Type="http://schemas.openxmlformats.org/officeDocument/2006/relationships/notesMaster" Target="/ppt/notesMasters/notesMaster1.xml" Id="R83eadcf765364f25" /><Relationship Type="http://schemas.openxmlformats.org/officeDocument/2006/relationships/presProps" Target="/ppt/presProps.xml" Id="R1cd85a99283e4c81" /><Relationship Type="http://schemas.openxmlformats.org/officeDocument/2006/relationships/tableStyles" Target="/ppt/tableStyles.xml" Id="Rf5468fe235d048de" /><Relationship Type="http://schemas.openxmlformats.org/officeDocument/2006/relationships/slide" Target="/ppt/slides/slide1.xml" Id="R6bd32ddd4c1a41d3" /><Relationship Type="http://schemas.openxmlformats.org/officeDocument/2006/relationships/slide" Target="/ppt/slides/slide2.xml" Id="R5cfe537b13304f1c" /><Relationship Type="http://schemas.openxmlformats.org/officeDocument/2006/relationships/slide" Target="/ppt/slides/slide3.xml" Id="R1d6493ec0a5845d8" /><Relationship Type="http://schemas.openxmlformats.org/officeDocument/2006/relationships/slide" Target="/ppt/slides/slide4.xml" Id="R66995d0ebc894cbb" /><Relationship Type="http://schemas.openxmlformats.org/officeDocument/2006/relationships/slide" Target="/ppt/slides/slide5.xml" Id="Rdd501799c1814d98" /><Relationship Type="http://schemas.openxmlformats.org/officeDocument/2006/relationships/slide" Target="/ppt/slides/slide6.xml" Id="Rad3d1d89332e4632" /><Relationship Type="http://schemas.openxmlformats.org/officeDocument/2006/relationships/slide" Target="/ppt/slides/slide7.xml" Id="Rbb3f537f50f64e98" /><Relationship Type="http://schemas.openxmlformats.org/officeDocument/2006/relationships/slide" Target="/ppt/slides/slide8.xml" Id="R56034deb45f44a20" /><Relationship Type="http://schemas.openxmlformats.org/officeDocument/2006/relationships/slide" Target="/ppt/slides/slide9.xml" Id="R3f2e2e1a0d7843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ed3cad5c9b42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d391ec92504f31" /><Relationship Type="http://schemas.openxmlformats.org/officeDocument/2006/relationships/notesMaster" Target="/ppt/notesMasters/notesMaster1.xml" Id="R617a34a429c844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b58fba4d494230" /><Relationship Type="http://schemas.openxmlformats.org/officeDocument/2006/relationships/notesMaster" Target="/ppt/notesMasters/notesMaster1.xml" Id="Rdf99e1ada2cf45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c6c083f344328" /><Relationship Type="http://schemas.openxmlformats.org/officeDocument/2006/relationships/notesMaster" Target="/ppt/notesMasters/notesMaster1.xml" Id="R3d1b0c12144549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eec74ee3e4a95" /><Relationship Type="http://schemas.openxmlformats.org/officeDocument/2006/relationships/notesMaster" Target="/ppt/notesMasters/notesMaster1.xml" Id="R94910953d6a246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c1c7d3913a4961" /><Relationship Type="http://schemas.openxmlformats.org/officeDocument/2006/relationships/notesMaster" Target="/ppt/notesMasters/notesMaster1.xml" Id="R9470881baec548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24f69e15e34719" /><Relationship Type="http://schemas.openxmlformats.org/officeDocument/2006/relationships/notesMaster" Target="/ppt/notesMasters/notesMaster1.xml" Id="R1b2442c533a84c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3ec45fd6c54ac8" /><Relationship Type="http://schemas.openxmlformats.org/officeDocument/2006/relationships/notesMaster" Target="/ppt/notesMasters/notesMaster1.xml" Id="R1418755eeda74f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0e58299e6a4054" /><Relationship Type="http://schemas.openxmlformats.org/officeDocument/2006/relationships/notesMaster" Target="/ppt/notesMasters/notesMaster1.xml" Id="Rf9c5bb8b351e49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6d791a89504f94" /><Relationship Type="http://schemas.openxmlformats.org/officeDocument/2006/relationships/notesMaster" Target="/ppt/notesMasters/notesMaster1.xml" Id="Ra541313bede143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 is conceptual AI-generated imagery, not a worksite record. Open with a worker asking for five more minutes of rest.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docs/pitch-assets/worker-break-concept.png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worker-centered. Protected break time remains fixed. The product helps surface a voluntary request and coordinate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docs/PROJECT_SPEC.md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uses a synthetic source and does not show a live Presage reading. The worker can stop the check-in.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docs/demo-screenshots/04b-measurement-60s.png</a:t>
            </a:r>
          </a:p>
          <a:p xmlns:a="http://schemas.openxmlformats.org/drawingml/2006/main">
            <a:r>
              <a:t>- docs/DEMO_RUN_REPORT.md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numeric values belong to the synthetic demo screenshot. They illustrate descriptive change within this session; they do not determine readiness or a rest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docs/demo-screenshots/05a-summary.png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request is worker initiated. This screenshot is a fictional demo scenario. The supervisor approves additional rest as a separate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docs/demo-screenshots/06b-approved.png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fictional demo's committed proposal preserves six protected breaks. The supervisor reviews the coverage update, with any remaining gap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docs/demo-screenshots/07b-committed.png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synthetic bounding-box prototype. A possible person-down posture raises a review item. The UI requires a human follow-up note to close the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docs/demo-screenshots/11a-fall-incident.png</a:t>
            </a:r>
          </a:p>
          <a:p xmlns:a="http://schemas.openxmlformats.org/drawingml/2006/main">
            <a:r>
              <a:t>- docs/DEMO_RUN_REPORT.md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Presage provides source-labeled observations when the bridge is available. Tiger Data stores history. Gemini explains server-approved facts. Worker and safety operations decide what to do. The screenshots shown in this deck are synthetic demo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docs/PRESAGE_CONTRACT.md</a:t>
            </a:r>
          </a:p>
          <a:p xmlns:a="http://schemas.openxmlformats.org/drawingml/2006/main">
            <a:r>
              <a:t>- docs/TIGER_DATA_VERIFICATION.md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worker's five-minute request. State the three sponsor categories: Best Use of Presage, Best Use of Gemini API, and Best Use of Tiger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https://www.youtube.com/watch?v=CzoFM4OR6TA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543a6186644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7c8425df542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ec501414c4f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7a5c2ebc94a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7f990ec1247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e1eda184d48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F3B32F-4651-4B8D-87AF-FD23A48378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59F563-1934-4FCB-9B58-BD8D5834A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AEEA2C-DBC6-4D4C-9D3D-1DA52FC466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1804AA-AD88-41CE-93C5-82011251DF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71123D-EB84-4576-94FA-9C7D25201D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31B4AE-3C83-463B-AC1E-87A5F7710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A5010A-D5D8-4345-BDA8-24EEFFF9BC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E0525C-D986-40A6-814F-FD1CB1AA3B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4BCFB7-6EA5-4BF9-A160-63E81BE17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22B480-08D0-402B-B129-E0AF3136B8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18b2ca506f4f8d" /><Relationship Type="http://schemas.openxmlformats.org/officeDocument/2006/relationships/slideLayout" Target="/ppt/slideLayouts/slideLayout1.xml" Id="R7e11ff5fa2564a58" /><Relationship Type="http://schemas.openxmlformats.org/officeDocument/2006/relationships/slideLayout" Target="/ppt/slideLayouts/slideLayout2.xml" Id="Rd64bb072deec48be" /><Relationship Type="http://schemas.openxmlformats.org/officeDocument/2006/relationships/slideLayout" Target="/ppt/slideLayouts/slideLayout3.xml" Id="R80a3e600b2844ad6" /><Relationship Type="http://schemas.openxmlformats.org/officeDocument/2006/relationships/slideLayout" Target="/ppt/slideLayouts/slideLayout4.xml" Id="R4deed6d0b0a04b0b" /><Relationship Type="http://schemas.openxmlformats.org/officeDocument/2006/relationships/slideLayout" Target="/ppt/slideLayouts/slideLayout5.xml" Id="R3605a965a1374a6f" /><Relationship Type="http://schemas.openxmlformats.org/officeDocument/2006/relationships/slideLayout" Target="/ppt/slideLayouts/slideLayout6.xml" Id="Rd6bff985ebb845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11ff5fa2564a58"/>
    <p:sldLayoutId xmlns:r="http://schemas.openxmlformats.org/officeDocument/2006/relationships" id="2147483650" r:id="Rd64bb072deec48be"/>
    <p:sldLayoutId xmlns:r="http://schemas.openxmlformats.org/officeDocument/2006/relationships" id="2147483651" r:id="R80a3e600b2844ad6"/>
    <p:sldLayoutId xmlns:r="http://schemas.openxmlformats.org/officeDocument/2006/relationships" id="2147483652" r:id="R4deed6d0b0a04b0b"/>
    <p:sldLayoutId xmlns:r="http://schemas.openxmlformats.org/officeDocument/2006/relationships" id="2147483653" r:id="R3605a965a1374a6f"/>
    <p:sldLayoutId xmlns:r="http://schemas.openxmlformats.org/officeDocument/2006/relationships" id="2147483654" r:id="Rd6bff985ebb845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06d1953674c5f" /><Relationship Type="http://schemas.openxmlformats.org/officeDocument/2006/relationships/image" Target="/ppt/media/image.png" Id="R4260dd3032354d2a" /><Relationship Type="http://schemas.openxmlformats.org/officeDocument/2006/relationships/notesSlide" Target="/ppt/notesSlides/notesSlide1.xml" Id="Rebae42c0c2d443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b860a965541ac" /><Relationship Type="http://schemas.openxmlformats.org/officeDocument/2006/relationships/notesSlide" Target="/ppt/notesSlides/notesSlide2.xml" Id="Recd0c72e0fdd41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5d1196d954cf2" /><Relationship Type="http://schemas.openxmlformats.org/officeDocument/2006/relationships/image" Target="/ppt/media/image2.png" Id="R6ed6a60c45814c53" /><Relationship Type="http://schemas.openxmlformats.org/officeDocument/2006/relationships/notesSlide" Target="/ppt/notesSlides/notesSlide3.xml" Id="R3372bb67854041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49fddeef84da2" /><Relationship Type="http://schemas.openxmlformats.org/officeDocument/2006/relationships/image" Target="/ppt/media/image3.png" Id="Re1f5f529e5ec4ce2" /><Relationship Type="http://schemas.openxmlformats.org/officeDocument/2006/relationships/notesSlide" Target="/ppt/notesSlides/notesSlide4.xml" Id="R20677175c13945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6f882ed644270" /><Relationship Type="http://schemas.openxmlformats.org/officeDocument/2006/relationships/image" Target="/ppt/media/image4.png" Id="Rc7055d64a1f94a36" /><Relationship Type="http://schemas.openxmlformats.org/officeDocument/2006/relationships/notesSlide" Target="/ppt/notesSlides/notesSlide5.xml" Id="R40ac260cbc1a46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87c18324c42e9" /><Relationship Type="http://schemas.openxmlformats.org/officeDocument/2006/relationships/image" Target="/ppt/media/image5.png" Id="Rad3f8fedcab64a83" /><Relationship Type="http://schemas.openxmlformats.org/officeDocument/2006/relationships/notesSlide" Target="/ppt/notesSlides/notesSlide6.xml" Id="Raf3af3e3b0a64d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d7c44c393478e" /><Relationship Type="http://schemas.openxmlformats.org/officeDocument/2006/relationships/image" Target="/ppt/media/image6.png" Id="R9de792141f0d4353" /><Relationship Type="http://schemas.openxmlformats.org/officeDocument/2006/relationships/notesSlide" Target="/ppt/notesSlides/notesSlide7.xml" Id="R2bc20d68c12845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beba1bdc34a19" /><Relationship Type="http://schemas.openxmlformats.org/officeDocument/2006/relationships/notesSlide" Target="/ppt/notesSlides/notesSlide8.xml" Id="R6ba329459d9d44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d2bcdb6d249aa" /><Relationship Type="http://schemas.openxmlformats.org/officeDocument/2006/relationships/notesSlide" Target="/ppt/notesSlides/notesSlide9.xml" Id="Rcd5a4136b9704c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DCD63-549E-4835-B5FE-C87D3D2DB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0dd3032354d2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DB9A1-00C2-4A7E-9F45-4A4FA406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CEFF75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CEFF75"/>
                </a:solidFill>
              </a:defRPr>
            </a:pPr>
            <a:r>
              <a:rPr sz="2850" b="1">
                <a:solidFill>
                  <a:srgbClr val="CEFF75"/>
                </a:solidFill>
              </a:rPr>
              <a:t>SiteGuard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C0792-AE4E-4F3C-BF2B-1B496766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6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Five more</a:t>
            </a:r>
          </a:p>
          <a:p xmlns:a="http://schemas.openxmlformats.org/drawingml/2006/main">
            <a:pPr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D045E-C0D8-445E-842E-AB333E9E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292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A worker asks. The team can respond.</a:t>
            </a:r>
          </a:p>
        </p:txBody>
      </p:sp>
    </p:spTree>
    <p:extLst>
      <p:ext uri="{BB962C8B-B14F-4D97-AF65-F5344CB8AC3E}">
        <p14:creationId xmlns:p14="http://schemas.microsoft.com/office/powerpoint/2010/main" val="1681531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FFB8B-B79C-4AD1-8515-6F1AF86F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05342"/>
                </a:solidFill>
              </a:defRPr>
            </a:pPr>
            <a:r>
              <a:rPr sz="1275" b="1">
                <a:solidFill>
                  <a:srgbClr val="205342"/>
                </a:solidFill>
              </a:rPr>
              <a:t>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AF9B5-42BB-475D-A9B9-A49CDFF1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100" b="1">
                <a:solidFill>
                  <a:srgbClr val="092C26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092C26"/>
                </a:solidFill>
              </a:defRPr>
            </a:pPr>
            <a:r>
              <a:rPr sz="5100" b="1">
                <a:solidFill>
                  <a:srgbClr val="092C26"/>
                </a:solidFill>
              </a:rPr>
              <a:t>A schedule knows</a:t>
            </a:r>
          </a:p>
          <a:p xmlns:a="http://schemas.openxmlformats.org/drawingml/2006/main">
            <a:pPr>
              <a:defRPr sz="5100" b="1">
                <a:solidFill>
                  <a:srgbClr val="092C26"/>
                </a:solidFill>
              </a:defRPr>
            </a:pPr>
            <a:r>
              <a:rPr sz="5100" b="1">
                <a:solidFill>
                  <a:srgbClr val="092C26"/>
                </a:solidFill>
              </a:rPr>
              <a:t>the break ended.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F1359-A138-422C-AB46-9F1CD51E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5342"/>
                </a:solidFill>
              </a:defRPr>
            </a:pPr>
            <a:r>
              <a:rPr sz="3150" b="1">
                <a:solidFill>
                  <a:srgbClr val="205342"/>
                </a:solidFill>
              </a:rPr>
              <a:t>It cannot know whether the worker feels ready.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B1150-ACD0-4A11-94F8-128064A6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89EED-E7CA-4EFF-869D-7EEF3013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5B7169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169"/>
                </a:solidFill>
              </a:defRPr>
            </a:pPr>
            <a:r>
              <a:rPr sz="1800" b="0">
                <a:solidFill>
                  <a:srgbClr val="5B7169"/>
                </a:solidFill>
              </a:rPr>
              <a:t>The worker needs a clear way to ask. The safety team needs a way to make room.</a:t>
            </a:r>
          </a:p>
        </p:txBody>
      </p:sp>
    </p:spTree>
    <p:extLst>
      <p:ext uri="{BB962C8B-B14F-4D97-AF65-F5344CB8AC3E}">
        <p14:creationId xmlns:p14="http://schemas.microsoft.com/office/powerpoint/2010/main" val="975127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2B5FD-2F93-4ECE-AA3A-BD530752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05342"/>
                </a:solidFill>
              </a:defRPr>
            </a:pPr>
            <a:r>
              <a:rPr sz="1275" b="1">
                <a:solidFill>
                  <a:srgbClr val="205342"/>
                </a:solidFill>
              </a:rPr>
              <a:t>01  CHECK 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44A67-F4EF-484C-9015-1B65D835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825" b="1">
                <a:solidFill>
                  <a:srgbClr val="092C26"/>
                </a:solidFill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092C26"/>
                </a:solidFill>
              </a:defRPr>
            </a:pPr>
            <a:r>
              <a:rPr sz="3825" b="1">
                <a:solidFill>
                  <a:srgbClr val="092C26"/>
                </a:solidFill>
              </a:rPr>
              <a:t>The worker starts a check-in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01339-C0AC-4F01-9298-9420A62464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6a60c45814c53"/>
          <a:srcRect xmlns:a="http://schemas.openxmlformats.org/drawingml/2006/main" l="0" t="15217" r="0" b="15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05000"/>
            <a:ext cx="10858500" cy="424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6A6E1-1537-4B3A-ABB4-B5C5B2BA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5B7169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B7169"/>
                </a:solidFill>
              </a:defRPr>
            </a:pPr>
            <a:r>
              <a:rPr sz="1350" b="1">
                <a:solidFill>
                  <a:srgbClr val="5B7169"/>
                </a:solidFill>
              </a:rPr>
              <a:t>Synthetic demo readings</a:t>
            </a:r>
          </a:p>
        </p:txBody>
      </p:sp>
    </p:spTree>
    <p:extLst>
      <p:ext uri="{BB962C8B-B14F-4D97-AF65-F5344CB8AC3E}">
        <p14:creationId xmlns:p14="http://schemas.microsoft.com/office/powerpoint/2010/main" val="731588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2C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E05ED-8079-4305-BD7D-59DAA00F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CEFF7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EFF75"/>
                </a:solidFill>
              </a:defRPr>
            </a:pPr>
            <a:r>
              <a:rPr sz="1275" b="1">
                <a:solidFill>
                  <a:srgbClr val="CEFF75"/>
                </a:solidFill>
              </a:rPr>
              <a:t>02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8F139-48D1-4E11-A769-E2938576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A change the worker can see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4538E-049F-47D1-96EE-9481F8B5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CEFF75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EFF75"/>
                </a:solidFill>
              </a:defRPr>
            </a:pPr>
            <a:r>
              <a:rPr sz="2100" b="0">
                <a:solidFill>
                  <a:srgbClr val="CEFF75"/>
                </a:solidFill>
              </a:rPr>
              <a:t>This demo session: pulse 102.2 to 88.6 bpm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0FA64-0986-4933-87EE-E4ED9EAC14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5f529e5ec4ce2"/>
          <a:srcRect xmlns:a="http://schemas.openxmlformats.org/drawingml/2006/main" l="0" t="4" r="0" b="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66950"/>
            <a:ext cx="10858500" cy="3181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6DBBC-C45B-44CF-AE4C-7CA220E5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The app shows the evidence and its source.</a:t>
            </a:r>
          </a:p>
        </p:txBody>
      </p:sp>
    </p:spTree>
    <p:extLst>
      <p:ext uri="{BB962C8B-B14F-4D97-AF65-F5344CB8AC3E}">
        <p14:creationId xmlns:p14="http://schemas.microsoft.com/office/powerpoint/2010/main" val="285844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73B6C-7897-48BF-8DBA-1AEBB192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05342"/>
                </a:solidFill>
              </a:defRPr>
            </a:pPr>
            <a:r>
              <a:rPr sz="1275" b="1">
                <a:solidFill>
                  <a:srgbClr val="205342"/>
                </a:solidFill>
              </a:rPr>
              <a:t>03 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BDB7F-42B9-4187-BBB3-680F900D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092C26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92C26"/>
                </a:solidFill>
              </a:defRPr>
            </a:pPr>
            <a:r>
              <a:rPr sz="4050" b="1">
                <a:solidFill>
                  <a:srgbClr val="092C26"/>
                </a:solidFill>
              </a:rPr>
              <a:t>Five more minutes of rest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D2109-D2D7-4A58-9014-D3BE58337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55d64a1f94a36"/>
          <a:srcRect xmlns:a="http://schemas.openxmlformats.org/drawingml/2006/main" l="0" t="2045" r="0" b="2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0" y="1714500"/>
            <a:ext cx="87630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99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2C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9B524-3DC0-4246-A270-AFF5C6B8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CEFF7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EFF75"/>
                </a:solidFill>
              </a:defRPr>
            </a:pPr>
            <a:r>
              <a:rPr sz="1275" b="1">
                <a:solidFill>
                  <a:srgbClr val="CEFF75"/>
                </a:solidFill>
              </a:rPr>
              <a:t>04  RESPOND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10CFD-0DED-43DA-B6C0-CC6025CB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The schedule makes room.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A476F-F2DF-4045-ACC1-D740BC41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800" b="1">
                <a:solidFill>
                  <a:srgbClr val="CEFF75"/>
                </a:solidFill>
              </a:defRPr>
            </a:defPPr>
          </a:lstStyle>
          <a:p xmlns:a="http://schemas.openxmlformats.org/drawingml/2006/main">
            <a:pPr>
              <a:defRPr sz="10800" b="1">
                <a:solidFill>
                  <a:srgbClr val="CEFF75"/>
                </a:solidFill>
              </a:defRPr>
            </a:pPr>
            <a:r>
              <a:rPr sz="10800" b="1">
                <a:solidFill>
                  <a:srgbClr val="CEFF75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3FB6F-4CD8-4458-8968-D96661F7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71825"/>
            <a:ext cx="333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protected breaks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preserved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F220F-2B17-4725-863A-06F866DE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8640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Coverage updates after review.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8A13C-4DC9-45FD-8F17-9A4390014A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f8fedcab64a83"/>
          <a:srcRect xmlns:a="http://schemas.openxmlformats.org/drawingml/2006/main" l="0" t="4998" r="0" b="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933450"/>
            <a:ext cx="5000625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CEDA7-8054-4393-961A-A4E70553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4C66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4C66B"/>
                </a:solidFill>
              </a:defRPr>
            </a:pPr>
            <a:r>
              <a:rPr sz="1275" b="1">
                <a:solidFill>
                  <a:srgbClr val="F4C66B"/>
                </a:solidFill>
              </a:rPr>
              <a:t>ANOTHER SAFETY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25889-569F-4D21-8D4B-21F3F22A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Possible person down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19C02-BFB4-4C68-9E54-A7FB8A455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792141f0d4353"/>
          <a:srcRect xmlns:a="http://schemas.openxmlformats.org/drawingml/2006/main" l="21" t="0" r="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90700"/>
            <a:ext cx="10858500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94FBA-A0EE-42A9-B0FF-7C1FDDF6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The alert goes to a person for review.</a:t>
            </a:r>
          </a:p>
        </p:txBody>
      </p:sp>
    </p:spTree>
    <p:extLst>
      <p:ext uri="{BB962C8B-B14F-4D97-AF65-F5344CB8AC3E}">
        <p14:creationId xmlns:p14="http://schemas.microsoft.com/office/powerpoint/2010/main" val="21174216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A522A-A6D9-459E-BEC2-0815CE93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05342"/>
                </a:solidFill>
              </a:defRPr>
            </a:pPr>
            <a:r>
              <a:rPr sz="1275" b="1">
                <a:solidFill>
                  <a:srgbClr val="205342"/>
                </a:solidFill>
              </a:rPr>
              <a:t>UNDER THE HOOD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40ECF-9B00-4D9B-BA1D-F2F1614E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092C26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92C26"/>
                </a:solidFill>
              </a:defRPr>
            </a:pPr>
            <a:r>
              <a:rPr sz="4350" b="1">
                <a:solidFill>
                  <a:srgbClr val="092C26"/>
                </a:solidFill>
              </a:rPr>
              <a:t>Four jobs. One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EC251-E815-4DCB-B94F-F40BBC27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5342"/>
                </a:solidFill>
              </a:defRPr>
            </a:pPr>
            <a:r>
              <a:rPr sz="1950" b="1">
                <a:solidFill>
                  <a:srgbClr val="205342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17298-C4FE-40E3-9E0B-BBD1067B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2D1DB-EE6E-4755-9310-FDCB2F03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092C26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92C26"/>
                </a:solidFill>
              </a:defRPr>
            </a:pPr>
            <a:r>
              <a:rPr sz="3000" b="1">
                <a:solidFill>
                  <a:srgbClr val="092C26"/>
                </a:solidFill>
              </a:rPr>
              <a:t>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B32F7-8294-4420-8870-277DFE1E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5342"/>
                </a:solidFill>
              </a:defRPr>
            </a:pPr>
            <a:r>
              <a:rPr sz="1725" b="1">
                <a:solidFill>
                  <a:srgbClr val="205342"/>
                </a:solidFill>
              </a:rPr>
              <a:t>Presage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90C59-63D5-4FD3-B4DA-EA5C86F0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B7169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7169"/>
                </a:solidFill>
              </a:defRPr>
            </a:pPr>
            <a:r>
              <a:rPr sz="1575" b="0">
                <a:solidFill>
                  <a:srgbClr val="5B7169"/>
                </a:solidFill>
              </a:rPr>
              <a:t>Camera pulse and breathing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FE173-C9FF-4D74-B159-7AB8EE9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5342"/>
                </a:solidFill>
              </a:defRPr>
            </a:pPr>
            <a:r>
              <a:rPr sz="1950" b="1">
                <a:solidFill>
                  <a:srgbClr val="20534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A9452-A197-4299-937B-075629E0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57525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0196B-4EB2-4F72-B24F-BC41B5E2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3852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092C26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92C26"/>
                </a:solidFill>
              </a:defRPr>
            </a:pPr>
            <a:r>
              <a:rPr sz="3000" b="1">
                <a:solidFill>
                  <a:srgbClr val="092C26"/>
                </a:solidFill>
              </a:rPr>
              <a:t>Remember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53537-A5F6-462C-AD78-9ABEA7A9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5342"/>
                </a:solidFill>
              </a:defRPr>
            </a:pPr>
            <a:r>
              <a:rPr sz="1725" b="1">
                <a:solidFill>
                  <a:srgbClr val="205342"/>
                </a:solidFill>
              </a:rPr>
              <a:t>Tiger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33FD7-9ED3-4BB6-91CE-2AFB92A7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57750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B7169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7169"/>
                </a:solidFill>
              </a:defRPr>
            </a:pPr>
            <a:r>
              <a:rPr sz="1575" b="0">
                <a:solidFill>
                  <a:srgbClr val="5B7169"/>
                </a:solidFill>
              </a:rPr>
              <a:t>Worker history over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29367-6A4B-4F66-9DEA-67FCC48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5342"/>
                </a:solidFill>
              </a:defRPr>
            </a:pPr>
            <a:r>
              <a:rPr sz="1950" b="1">
                <a:solidFill>
                  <a:srgbClr val="20534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09078-7EA9-4038-8BD8-CE08918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57525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BF6D5-1D16-49AF-B3A0-DD3237DB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3852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092C26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92C26"/>
                </a:solidFill>
              </a:defRPr>
            </a:pPr>
            <a:r>
              <a:rPr sz="3000" b="1">
                <a:solidFill>
                  <a:srgbClr val="092C26"/>
                </a:solidFill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87E67-C608-4584-AEF5-B700A7C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5342"/>
                </a:solidFill>
              </a:defRPr>
            </a:pPr>
            <a:r>
              <a:rPr sz="1725" b="1">
                <a:solidFill>
                  <a:srgbClr val="205342"/>
                </a:solidFill>
              </a:rPr>
              <a:t>Gemini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7ED97-FB24-4F72-A048-04986F7E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B7169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7169"/>
                </a:solidFill>
              </a:defRPr>
            </a:pPr>
            <a:r>
              <a:rPr sz="1575" b="0">
                <a:solidFill>
                  <a:srgbClr val="5B7169"/>
                </a:solidFill>
              </a:rPr>
              <a:t>Approved facts in plain language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0AFDA-683A-4E5D-B4D2-8E3BA746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5342"/>
                </a:solidFill>
              </a:defRPr>
            </a:pPr>
            <a:r>
              <a:rPr sz="1950" b="1">
                <a:solidFill>
                  <a:srgbClr val="205342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E5106-FF92-495A-ADE8-AEDBC60C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57525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750BE-F1DE-4F5D-B4FE-54EBEEEE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3852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092C26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92C26"/>
                </a:solidFill>
              </a:defRPr>
            </a:pPr>
            <a:r>
              <a:rPr sz="3000" b="1">
                <a:solidFill>
                  <a:srgbClr val="092C26"/>
                </a:solidFill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A3FCE-4CF8-48F2-93DA-B3652C70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434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05342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5342"/>
                </a:solidFill>
              </a:defRPr>
            </a:pPr>
            <a:r>
              <a:rPr sz="1725" b="1">
                <a:solidFill>
                  <a:srgbClr val="205342"/>
                </a:solidFill>
              </a:rPr>
              <a:t>Worker +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814B9-17A5-4524-9333-95F5D08A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57750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B7169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7169"/>
                </a:solidFill>
              </a:defRPr>
            </a:pPr>
            <a:r>
              <a:rPr sz="1575" b="0">
                <a:solidFill>
                  <a:srgbClr val="5B7169"/>
                </a:solidFill>
              </a:rPr>
              <a:t>Request, review, coverage</a:t>
            </a:r>
          </a:p>
        </p:txBody>
      </p:sp>
    </p:spTree>
    <p:extLst>
      <p:ext uri="{BB962C8B-B14F-4D97-AF65-F5344CB8AC3E}">
        <p14:creationId xmlns:p14="http://schemas.microsoft.com/office/powerpoint/2010/main" val="721414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2C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A4869-C508-49C8-B29D-E0977E13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CEFF75"/>
                </a:solidFill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CEFF75"/>
                </a:solidFill>
              </a:defRPr>
            </a:pPr>
            <a:r>
              <a:rPr sz="3525" b="1">
                <a:solidFill>
                  <a:srgbClr val="CEFF75"/>
                </a:solidFill>
              </a:rPr>
              <a:t>SiteGuard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76FC5-7050-4714-A15B-D4C44701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763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7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A request becomes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a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09873-87DE-4B3F-AFF3-FF6A03B8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52925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CB9C5-D4B9-4086-B220-98E91DB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Presage     Gemini API     Tiger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FC769-B1D5-4690-B28D-E0E8388C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CEFF7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EFF75"/>
                </a:solidFill>
              </a:defRPr>
            </a:pPr>
            <a:r>
              <a:rPr sz="1575" b="0">
                <a:solidFill>
                  <a:srgbClr val="CEFF75"/>
                </a:solidFill>
              </a:rPr>
              <a:t>Watch the demo: youtube.com/watch?v=CzoFM4OR6TA</a:t>
            </a:r>
          </a:p>
        </p:txBody>
      </p:sp>
    </p:spTree>
    <p:extLst>
      <p:ext uri="{BB962C8B-B14F-4D97-AF65-F5344CB8AC3E}">
        <p14:creationId xmlns:p14="http://schemas.microsoft.com/office/powerpoint/2010/main" val="1339338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2026-10-11T15:45:23.4280000Z</dcterms:created>
  <dcterms:modified xsi:type="dcterms:W3CDTF">2026-10-11T15:45:23.4290000Z</dcterms:modified>
</coreProperties>
</file>