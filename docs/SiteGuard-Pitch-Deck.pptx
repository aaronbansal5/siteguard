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89450944c142c9" /><Relationship Type="http://schemas.openxmlformats.org/officeDocument/2006/relationships/extended-properties" Target="/docProps/app.xml" Id="R97918ef7079e4142" /><Relationship Type="http://schemas.openxmlformats.org/officeDocument/2006/relationships/officeDocument" Target="/ppt/presentation.xml" Id="Ra7089dccc0c24faf" /></Relationships>
</file>

<file path=ppt/presentation.xml><?xml version="1.0" encoding="utf-8"?>
<p:presentation xmlns:p="http://schemas.openxmlformats.org/presentationml/2006/main">
  <p:sldMasterIdLst>
    <p:sldMasterId xmlns:r="http://schemas.openxmlformats.org/officeDocument/2006/relationships" id="2147483648" r:id="Re228f5b42e4040ba"/>
  </p:sldMasterIdLst>
  <p:notesMasterIdLst>
    <p:notesMasterId xmlns:r="http://schemas.openxmlformats.org/officeDocument/2006/relationships" r:id="R9c0295c0d1f24872"/>
  </p:notesMasterIdLst>
  <p:sldIdLst>
    <p:sldId xmlns:r="http://schemas.openxmlformats.org/officeDocument/2006/relationships" id="256" r:id="R6909cbaaf43f4c4c"/>
    <p:sldId xmlns:r="http://schemas.openxmlformats.org/officeDocument/2006/relationships" id="257" r:id="R0332c4f704154f3d"/>
    <p:sldId xmlns:r="http://schemas.openxmlformats.org/officeDocument/2006/relationships" id="258" r:id="R073c75403cf44231"/>
    <p:sldId xmlns:r="http://schemas.openxmlformats.org/officeDocument/2006/relationships" id="259" r:id="Rbffd0f452b94426a"/>
    <p:sldId xmlns:r="http://schemas.openxmlformats.org/officeDocument/2006/relationships" id="260" r:id="R528d652da3ac40f3"/>
    <p:sldId xmlns:r="http://schemas.openxmlformats.org/officeDocument/2006/relationships" id="261" r:id="Re01dc977a9104b94"/>
    <p:sldId xmlns:r="http://schemas.openxmlformats.org/officeDocument/2006/relationships" id="262" r:id="Rcc00016fb2d74f97"/>
    <p:sldId xmlns:r="http://schemas.openxmlformats.org/officeDocument/2006/relationships" id="263" r:id="Rf71dadf747be4af5"/>
    <p:sldId xmlns:r="http://schemas.openxmlformats.org/officeDocument/2006/relationships" id="264" r:id="Rbef2e908919f4b89"/>
    <p:sldId xmlns:r="http://schemas.openxmlformats.org/officeDocument/2006/relationships" id="265" r:id="Rdf5d14e6e8d64e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bcc4d45e5b4c4d" /><Relationship Type="http://schemas.openxmlformats.org/officeDocument/2006/relationships/slideMaster" Target="/ppt/slideMasters/slideMaster1.xml" Id="Re228f5b42e4040ba" /><Relationship Type="http://schemas.openxmlformats.org/officeDocument/2006/relationships/notesMaster" Target="/ppt/notesMasters/notesMaster1.xml" Id="R9c0295c0d1f24872" /><Relationship Type="http://schemas.openxmlformats.org/officeDocument/2006/relationships/presProps" Target="/ppt/presProps.xml" Id="R771d92350aa74ac5" /><Relationship Type="http://schemas.openxmlformats.org/officeDocument/2006/relationships/tableStyles" Target="/ppt/tableStyles.xml" Id="R38a4f0a45bd4468a" /><Relationship Type="http://schemas.openxmlformats.org/officeDocument/2006/relationships/slide" Target="/ppt/slides/slide1.xml" Id="R6909cbaaf43f4c4c" /><Relationship Type="http://schemas.openxmlformats.org/officeDocument/2006/relationships/slide" Target="/ppt/slides/slide2.xml" Id="R0332c4f704154f3d" /><Relationship Type="http://schemas.openxmlformats.org/officeDocument/2006/relationships/slide" Target="/ppt/slides/slide3.xml" Id="R073c75403cf44231" /><Relationship Type="http://schemas.openxmlformats.org/officeDocument/2006/relationships/slide" Target="/ppt/slides/slide4.xml" Id="Rbffd0f452b94426a" /><Relationship Type="http://schemas.openxmlformats.org/officeDocument/2006/relationships/slide" Target="/ppt/slides/slide5.xml" Id="R528d652da3ac40f3" /><Relationship Type="http://schemas.openxmlformats.org/officeDocument/2006/relationships/slide" Target="/ppt/slides/slide6.xml" Id="Re01dc977a9104b94" /><Relationship Type="http://schemas.openxmlformats.org/officeDocument/2006/relationships/slide" Target="/ppt/slides/slide7.xml" Id="Rcc00016fb2d74f97" /><Relationship Type="http://schemas.openxmlformats.org/officeDocument/2006/relationships/slide" Target="/ppt/slides/slide8.xml" Id="Rf71dadf747be4af5" /><Relationship Type="http://schemas.openxmlformats.org/officeDocument/2006/relationships/slide" Target="/ppt/slides/slide9.xml" Id="Rbef2e908919f4b89" /><Relationship Type="http://schemas.openxmlformats.org/officeDocument/2006/relationships/slide" Target="/ppt/slides/slide10.xml" Id="Rdf5d14e6e8d64e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bc034149c74f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a34ef76a004169" /><Relationship Type="http://schemas.openxmlformats.org/officeDocument/2006/relationships/notesMaster" Target="/ppt/notesMasters/notesMaster1.xml" Id="R0c50888e4a2a45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887acc53444d4c" /><Relationship Type="http://schemas.openxmlformats.org/officeDocument/2006/relationships/notesMaster" Target="/ppt/notesMasters/notesMaster1.xml" Id="Rda02c74898bf45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d85be6162a426e" /><Relationship Type="http://schemas.openxmlformats.org/officeDocument/2006/relationships/notesMaster" Target="/ppt/notesMasters/notesMaster1.xml" Id="Ra3474e4930734a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49c9cb6ec94ac5" /><Relationship Type="http://schemas.openxmlformats.org/officeDocument/2006/relationships/notesMaster" Target="/ppt/notesMasters/notesMaster1.xml" Id="Ra354efb1218146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71c0bee514450d" /><Relationship Type="http://schemas.openxmlformats.org/officeDocument/2006/relationships/notesMaster" Target="/ppt/notesMasters/notesMaster1.xml" Id="R894f8037ba9f4f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d357ee0d974550" /><Relationship Type="http://schemas.openxmlformats.org/officeDocument/2006/relationships/notesMaster" Target="/ppt/notesMasters/notesMaster1.xml" Id="R140dde417e2545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1aa8ee33ad45eb" /><Relationship Type="http://schemas.openxmlformats.org/officeDocument/2006/relationships/notesMaster" Target="/ppt/notesMasters/notesMaster1.xml" Id="R81ad20fee76c4a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e4a66572714a08" /><Relationship Type="http://schemas.openxmlformats.org/officeDocument/2006/relationships/notesMaster" Target="/ppt/notesMasters/notesMaster1.xml" Id="R8374b93f1c3d4d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9caa22830b43bf" /><Relationship Type="http://schemas.openxmlformats.org/officeDocument/2006/relationships/notesMaster" Target="/ppt/notesMasters/notesMaster1.xml" Id="R5af35c8120184b0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1e67746c1a4a2e" /><Relationship Type="http://schemas.openxmlformats.org/officeDocument/2006/relationships/notesMaster" Target="/ppt/notesMasters/notesMaster1.xml" Id="R97d7cd74b04f44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one sentence: A worker says, ‘I need five more minutes.’ SiteGuard connects that request to consented check-in context and a supervisor response. Then move directly into the problem.</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docs/PROJECT_SPEC.md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operational gap. Avoid accident statistics. The product starts with a worker-controlled request and preserves the site’s protected break rules.</a:t>
            </a:r>
          </a:p>
          <a:p xmlns:a="http://schemas.openxmlformats.org/drawingml/2006/main">
            <a:r>
              <a:t/>
            </a:r>
          </a:p>
          <a:p xmlns:a="http://schemas.openxmlformats.org/drawingml/2006/main">
            <a:r>
              <a:t>Sources:</a:t>
            </a:r>
          </a:p>
          <a:p xmlns:a="http://schemas.openxmlformats.org/drawingml/2006/main">
            <a:r>
              <a:t>- docs/PROJECT_SPEC.md</a:t>
            </a:r>
          </a:p>
          <a:p xmlns:a="http://schemas.openxmlformats.org/drawingml/2006/main">
            <a:r>
              <a:t>- docs/PRESENTATION_SCRIPT.md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Presage supplies observations. Tiger Data preserves history. Gemini explains server-approved facts. The worker chooses whether to ask. A supervisor reviews the request and adjusts coverage.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docs/PROJECT_SPEC.md</a:t>
            </a:r>
          </a:p>
          <a:p xmlns:a="http://schemas.openxmlformats.org/drawingml/2006/main">
            <a:r>
              <a:t>- docs/PRESENTATION_SCRIPT.md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out that skipping a measurement does not block support. Sharing stays off unless the worker opts in. Missing or invalid readings remain visible as gaps rather than being filled in.</a:t>
            </a:r>
          </a:p>
          <a:p xmlns:a="http://schemas.openxmlformats.org/drawingml/2006/main">
            <a:r>
              <a:t/>
            </a:r>
          </a:p>
          <a:p xmlns:a="http://schemas.openxmlformats.org/drawingml/2006/main">
            <a:r>
              <a:t>Sources:</a:t>
            </a:r>
          </a:p>
          <a:p xmlns:a="http://schemas.openxmlformats.org/drawingml/2006/main">
            <a:r>
              <a:t>- docs/PRESENTATION_SCRIPT.md</a:t>
            </a:r>
          </a:p>
          <a:p xmlns:a="http://schemas.openxmlformats.org/drawingml/2006/main">
            <a:r>
              <a:t>- docs/PROJECT_SPEC.md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proof point. Show the request, approval, preview, and committed coverage. Emphasize that the planner cannot shorten or move the protected break and leaves uncovered gaps visible.</a:t>
            </a:r>
          </a:p>
          <a:p xmlns:a="http://schemas.openxmlformats.org/drawingml/2006/main">
            <a:r>
              <a:t/>
            </a:r>
          </a:p>
          <a:p xmlns:a="http://schemas.openxmlformats.org/drawingml/2006/main">
            <a:r>
              <a:t>Sources:</a:t>
            </a:r>
          </a:p>
          <a:p xmlns:a="http://schemas.openxmlformats.org/drawingml/2006/main">
            <a:r>
              <a:t>- docs/PRESENTATION_SCRIPT.md</a:t>
            </a:r>
          </a:p>
          <a:p xmlns:a="http://schemas.openxmlformats.org/drawingml/2006/main">
            <a:r>
              <a:t>- docs/PROJECT_SPEC.md</a:t>
            </a:r>
          </a:p>
          <a:p xmlns:a="http://schemas.openxmlformats.org/drawingml/2006/main">
            <a:r>
              <a:t>- docs/DEMO_RUN_REPORT.md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 each sponsor to a visible job in the product. Presage supplies the camera observations. Tiger Data stores time-series history. Gemini explains only facts the server approved. Supabase verifies identity and the app assigns roles.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docs/PRESAGE_CONTRACT.md</a:t>
            </a:r>
          </a:p>
          <a:p xmlns:a="http://schemas.openxmlformats.org/drawingml/2006/main">
            <a:r>
              <a:t>- docs/TIGER_DATA_VERIFICATION.md</a:t>
            </a:r>
          </a:p>
          <a:p xmlns:a="http://schemas.openxmlformats.org/drawingml/2006/main">
            <a:r>
              <a:t>- docs/SUPABASE_AUTH.md</a:t>
            </a:r>
          </a:p>
          <a:p xmlns:a="http://schemas.openxmlformats.org/drawingml/2006/main">
            <a:r>
              <a:t>- apps/api/src/insights/explain.ts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concrete controls. Do not call the product private by design without explaining consent, sharing defaults, source labels, transient frame processing, role checks, and explicit missing-data states.</a:t>
            </a:r>
          </a:p>
          <a:p xmlns:a="http://schemas.openxmlformats.org/drawingml/2006/main">
            <a:r>
              <a:t/>
            </a:r>
          </a:p>
          <a:p xmlns:a="http://schemas.openxmlformats.org/drawingml/2006/main">
            <a:r>
              <a:t>Sources:</a:t>
            </a:r>
          </a:p>
          <a:p xmlns:a="http://schemas.openxmlformats.org/drawingml/2006/main">
            <a:r>
              <a:t>- docs/PROJECT_SPEC.md</a:t>
            </a:r>
          </a:p>
          <a:p xmlns:a="http://schemas.openxmlformats.org/drawingml/2006/main">
            <a:r>
              <a:t>- docs/PRESENTATION_SCRIPT.md</a:t>
            </a:r>
          </a:p>
          <a:p xmlns:a="http://schemas.openxmlformats.org/drawingml/2006/main">
            <a:r>
              <a:t>- docs/SECURITY_REVIEW.md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this as a possible-person-down prototype, not verified fall detection. The interface raises an incident for human review. A supervisor acknowledges, investigates, and resolves it with a note.</a:t>
            </a:r>
          </a:p>
          <a:p xmlns:a="http://schemas.openxmlformats.org/drawingml/2006/main">
            <a:r>
              <a:t/>
            </a:r>
          </a:p>
          <a:p xmlns:a="http://schemas.openxmlformats.org/drawingml/2006/main">
            <a:r>
              <a:t>Sources:</a:t>
            </a:r>
          </a:p>
          <a:p xmlns:a="http://schemas.openxmlformats.org/drawingml/2006/main">
            <a:r>
              <a:t>- integrations/fall-detection/README.md</a:t>
            </a:r>
          </a:p>
          <a:p xmlns:a="http://schemas.openxmlformats.org/drawingml/2006/main">
            <a:r>
              <a:t>- docs/FALL_DETECTION.md</a:t>
            </a:r>
          </a:p>
          <a:p xmlns:a="http://schemas.openxmlformats.org/drawingml/2006/main">
            <a:r>
              <a:t>- docs/DEMO_RUN_REPORT.md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demonstrated evidence from future validation. The recorded rehearsal passed every core beat. Tiger Cloud verification passed. The fall prototype has 36 unit tests. Real Presage pulse remained only partially verified in the older report, so avoid claiming full live measurement unless today’s integration panel proves it.</a:t>
            </a:r>
          </a:p>
          <a:p xmlns:a="http://schemas.openxmlformats.org/drawingml/2006/main">
            <a:r>
              <a:t/>
            </a:r>
          </a:p>
          <a:p xmlns:a="http://schemas.openxmlformats.org/drawingml/2006/main">
            <a:r>
              <a:t>Sources:</a:t>
            </a:r>
          </a:p>
          <a:p xmlns:a="http://schemas.openxmlformats.org/drawingml/2006/main">
            <a:r>
              <a:t>- docs/DEMO_RUN_REPORT.md</a:t>
            </a:r>
          </a:p>
          <a:p xmlns:a="http://schemas.openxmlformats.org/drawingml/2006/main">
            <a:r>
              <a:t>- docs/TIGER_DATA_VERIFICATION.md</a:t>
            </a:r>
          </a:p>
          <a:p xmlns:a="http://schemas.openxmlformats.org/drawingml/2006/main">
            <a:r>
              <a:t>- docs/PRESENTATION_SCRIPT.md</a:t>
            </a:r>
          </a:p>
          <a:p xmlns:a="http://schemas.openxmlformats.org/drawingml/2006/main">
            <a:r>
              <a:t>- docs/PRODUCTION_READINESS.md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outcome: SiteGuard turns ‘I need more rest’ into a coordinated response while worker choice and protected breaks remain intact. Then name the three sponsor categories and invite questions.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https://www.youtube.com/watch?v=CzoFM4OR6TA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0f766a8c564f3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98927243bd40f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a561f25fb3442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54383db7f34c5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0cf09971b5c42c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d85cf78e084c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D09F87-A218-41FC-8562-FE5FCFF1C7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9352F9-354F-4038-8E06-CC8125926B6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12ECEB3-AFE3-4788-8E81-5581D1C850C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E48A77-EA6E-4063-AF43-03FA244EE6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7B56BB-E49E-4C1D-955C-7C31F8F5728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223CAB8-2DD9-4993-8CD0-0A777DA3D8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33AE8A-920B-4D47-B836-27768076B4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A387DF1-74A0-495B-8FAB-B5329D9CFDB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4289B5-59D6-46E9-AE3D-B9AC80BED0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68CD79-BD2D-459D-B0DD-CDC568C325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a4df1a22a94543" /><Relationship Type="http://schemas.openxmlformats.org/officeDocument/2006/relationships/slideLayout" Target="/ppt/slideLayouts/slideLayout1.xml" Id="Re21b4e2a5a594004" /><Relationship Type="http://schemas.openxmlformats.org/officeDocument/2006/relationships/slideLayout" Target="/ppt/slideLayouts/slideLayout2.xml" Id="Ra8fea87a198648fa" /><Relationship Type="http://schemas.openxmlformats.org/officeDocument/2006/relationships/slideLayout" Target="/ppt/slideLayouts/slideLayout3.xml" Id="R4acbe9f6082c415e" /><Relationship Type="http://schemas.openxmlformats.org/officeDocument/2006/relationships/slideLayout" Target="/ppt/slideLayouts/slideLayout4.xml" Id="R6eab2ad0621f45ef" /><Relationship Type="http://schemas.openxmlformats.org/officeDocument/2006/relationships/slideLayout" Target="/ppt/slideLayouts/slideLayout5.xml" Id="R5d8a1278ab814a64" /><Relationship Type="http://schemas.openxmlformats.org/officeDocument/2006/relationships/slideLayout" Target="/ppt/slideLayouts/slideLayout6.xml" Id="R459b747d889f47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1b4e2a5a594004"/>
    <p:sldLayoutId xmlns:r="http://schemas.openxmlformats.org/officeDocument/2006/relationships" id="2147483650" r:id="Ra8fea87a198648fa"/>
    <p:sldLayoutId xmlns:r="http://schemas.openxmlformats.org/officeDocument/2006/relationships" id="2147483651" r:id="R4acbe9f6082c415e"/>
    <p:sldLayoutId xmlns:r="http://schemas.openxmlformats.org/officeDocument/2006/relationships" id="2147483652" r:id="R6eab2ad0621f45ef"/>
    <p:sldLayoutId xmlns:r="http://schemas.openxmlformats.org/officeDocument/2006/relationships" id="2147483653" r:id="R5d8a1278ab814a64"/>
    <p:sldLayoutId xmlns:r="http://schemas.openxmlformats.org/officeDocument/2006/relationships" id="2147483654" r:id="R459b747d889f47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0ebe726e21d4195" /><Relationship Type="http://schemas.openxmlformats.org/officeDocument/2006/relationships/image" Target="/ppt/media/image.png" Id="Rfd872b5962a842c6" /><Relationship Type="http://schemas.openxmlformats.org/officeDocument/2006/relationships/image" Target="/ppt/media/image2.png" Id="R648fe00516304598" /><Relationship Type="http://schemas.openxmlformats.org/officeDocument/2006/relationships/notesSlide" Target="/ppt/notesSlides/notesSlide1.xml" Id="R2716be7baaac49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dc0154df314c79" /><Relationship Type="http://schemas.openxmlformats.org/officeDocument/2006/relationships/image" Target="/ppt/media/image3.png" Id="R548af247bda14bc9" /><Relationship Type="http://schemas.openxmlformats.org/officeDocument/2006/relationships/notesSlide" Target="/ppt/notesSlides/notesSlide2.xml" Id="R4e1cf0f953a046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a5144c4cf704bb7" /><Relationship Type="http://schemas.openxmlformats.org/officeDocument/2006/relationships/notesSlide" Target="/ppt/notesSlides/notesSlide3.xml" Id="Ra94d6f68f51f4a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8d5f14f30fd4386" /><Relationship Type="http://schemas.openxmlformats.org/officeDocument/2006/relationships/image" Target="/ppt/media/image4.png" Id="R80e29a3f9b664eb3" /><Relationship Type="http://schemas.openxmlformats.org/officeDocument/2006/relationships/image" Target="/ppt/media/image5.png" Id="Rf250351f53bc417c" /><Relationship Type="http://schemas.openxmlformats.org/officeDocument/2006/relationships/image" Target="/ppt/media/image6.png" Id="R25e65d7f88154d86" /><Relationship Type="http://schemas.openxmlformats.org/officeDocument/2006/relationships/notesSlide" Target="/ppt/notesSlides/notesSlide4.xml" Id="Ra5fb8c269d5441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33e530ba9b842da" /><Relationship Type="http://schemas.openxmlformats.org/officeDocument/2006/relationships/image" Target="/ppt/media/image7.png" Id="Rd133106b111c402b" /><Relationship Type="http://schemas.openxmlformats.org/officeDocument/2006/relationships/notesSlide" Target="/ppt/notesSlides/notesSlide5.xml" Id="R61169f14200743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3e61a1a92bd4a78" /><Relationship Type="http://schemas.openxmlformats.org/officeDocument/2006/relationships/notesSlide" Target="/ppt/notesSlides/notesSlide6.xml" Id="R5bed0cc702d946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4d8b4aebc1d4ff4" /><Relationship Type="http://schemas.openxmlformats.org/officeDocument/2006/relationships/image" Target="/ppt/media/image8.png" Id="R8fa3f0f09670431a" /><Relationship Type="http://schemas.openxmlformats.org/officeDocument/2006/relationships/notesSlide" Target="/ppt/notesSlides/notesSlide7.xml" Id="R892cc66e62a947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f6c229096b34ea5" /><Relationship Type="http://schemas.openxmlformats.org/officeDocument/2006/relationships/image" Target="/ppt/media/image9.png" Id="R360f428fed874f82" /><Relationship Type="http://schemas.openxmlformats.org/officeDocument/2006/relationships/image" Target="/ppt/media/image10.png" Id="Rba89ceaea74240ce" /><Relationship Type="http://schemas.openxmlformats.org/officeDocument/2006/relationships/notesSlide" Target="/ppt/notesSlides/notesSlide8.xml" Id="R91ca810d61c042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4ace6985ee24d1a" /><Relationship Type="http://schemas.openxmlformats.org/officeDocument/2006/relationships/notesSlide" Target="/ppt/notesSlides/notesSlide9.xml" Id="R52f751bf0f0041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0de045ca9464784" /><Relationship Type="http://schemas.openxmlformats.org/officeDocument/2006/relationships/image" Target="/ppt/media/image11.png" Id="R673c5097afa149fb" /><Relationship Type="http://schemas.openxmlformats.org/officeDocument/2006/relationships/notesSlide" Target="/ppt/notesSlides/notesSlide10.xml" Id="R21287563840b4785" /></Relationships>
</file>

<file path=ppt/slides/slide1.xml><?xml version="1.0" encoding="utf-8"?>
<p:sld xmlns:p="http://schemas.openxmlformats.org/presentationml/2006/main">
  <p:cSld>
    <p:bg>
      <p:bgPr>
        <a:solidFill xmlns:a="http://schemas.openxmlformats.org/drawingml/2006/main">
          <a:srgbClr val="0B302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7C4712-2A8F-4D8F-B4AC-29F0898D0554}"/>
              </a:ext>
            </a:extLst>
          </p:cNvPr>
          <p:cNvSpPr>
            <a:spLocks xmlns:a="http://schemas.openxmlformats.org/drawingml/2006/main" noGrp="1"/>
          </p:cNvSpPr>
          <p:nvPr/>
        </p:nvSpPr>
        <p:spPr>
          <a:xfrm xmlns:a="http://schemas.openxmlformats.org/drawingml/2006/main">
            <a:off x="0" y="0"/>
            <a:ext cx="152400" cy="6858000"/>
          </a:xfrm>
          <a:prstGeom xmlns:a="http://schemas.openxmlformats.org/drawingml/2006/main" prst="rect">
            <a:avLst/>
          </a:prstGeom>
          <a:solidFill xmlns:a="http://schemas.openxmlformats.org/drawingml/2006/main">
            <a:srgbClr val="C9FF6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7B51FD3-DA80-4FCF-9865-F98DED3B96E2}"/>
              </a:ext>
            </a:extLst>
          </p:cNvPr>
          <p:cNvSpPr>
            <a:spLocks xmlns:a="http://schemas.openxmlformats.org/drawingml/2006/main" noGrp="1"/>
          </p:cNvSpPr>
          <p:nvPr/>
        </p:nvSpPr>
        <p:spPr>
          <a:xfrm xmlns:a="http://schemas.openxmlformats.org/drawingml/2006/main">
            <a:off x="552450" y="419100"/>
            <a:ext cx="2381250" cy="933450"/>
          </a:xfrm>
          <a:prstGeom xmlns:a="http://schemas.openxmlformats.org/drawingml/2006/main" prst="roundRect">
            <a:avLst>
              <a:gd name="adj" fmla="val 18367"/>
            </a:avLst>
          </a:prstGeom>
          <a:solidFill xmlns:a="http://schemas.openxmlformats.org/drawingml/2006/main">
            <a:srgbClr val="F4F7F2"/>
          </a:solidFill>
          <a:ln xmlns:a="http://schemas.openxmlformats.org/drawingml/2006/main" w="0">
            <a:noFill/>
            <a:prstDash val="solid"/>
          </a:ln>
        </p:spPr>
      </p:sp>
      <p:pic>
        <p:nvPicPr>
          <p:cNvPr id="3" name="">
            <a:extLst xmlns:a="http://schemas.openxmlformats.org/drawingml/2006/main">
              <a:ext uri="{FF2B5EF4-FFF2-40B4-BE49-F238E27FC236}">
                <a16:creationId xmlns:a16="http://schemas.microsoft.com/office/drawing/2014/main" id="{A50931D0-D9AE-4484-9DC8-E725151956C3}"/>
              </a:ext>
            </a:extLst>
          </p:cNvPr>
          <p:cNvPicPr>
            <a:picLocks xmlns:a="http://schemas.openxmlformats.org/drawingml/2006/main" noChangeAspect="1"/>
          </p:cNvPicPr>
          <p:nvPr/>
        </p:nvPicPr>
        <p:blipFill>
          <a:blip xmlns:r="http://schemas.openxmlformats.org/officeDocument/2006/relationships" xmlns:a="http://schemas.openxmlformats.org/drawingml/2006/main" r:embed="Rfd872b5962a842c6"/>
          <a:stretch xmlns:a="http://schemas.openxmlformats.org/drawingml/2006/main"/>
        </p:blipFill>
        <p:spPr>
          <a:xfrm xmlns:a="http://schemas.openxmlformats.org/drawingml/2006/main">
            <a:off x="647700" y="520700"/>
            <a:ext cx="2190750" cy="730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623D490-CE80-4023-AC4E-02269F678FB4}"/>
              </a:ext>
            </a:extLst>
          </p:cNvPr>
          <p:cNvSpPr>
            <a:spLocks xmlns:a="http://schemas.openxmlformats.org/drawingml/2006/main" noGrp="1"/>
          </p:cNvSpPr>
          <p:nvPr/>
        </p:nvSpPr>
        <p:spPr>
          <a:xfrm xmlns:a="http://schemas.openxmlformats.org/drawingml/2006/main">
            <a:off x="666750" y="1809750"/>
            <a:ext cx="628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600" b="1" i="0">
                <a:solidFill>
                  <a:srgbClr val="FFFFFF"/>
                </a:solidFill>
              </a:defRPr>
            </a:defPPr>
          </a:lstStyle>
          <a:p xmlns:a="http://schemas.openxmlformats.org/drawingml/2006/main">
            <a:pPr>
              <a:defRPr sz="3600" b="1" i="0">
                <a:solidFill>
                  <a:srgbClr val="FFFFFF"/>
                </a:solidFill>
              </a:defRPr>
            </a:pPr>
            <a:r>
              <a:rPr sz="3600" b="1" i="0">
                <a:solidFill>
                  <a:srgbClr val="FFFFFF"/>
                </a:solidFill>
              </a:rPr>
              <a:t>A worker asks for</a:t>
            </a:r>
          </a:p>
          <a:p xmlns:a="http://schemas.openxmlformats.org/drawingml/2006/main">
            <a:pPr>
              <a:defRPr sz="3600" b="1" i="0">
                <a:solidFill>
                  <a:srgbClr val="FFFFFF"/>
                </a:solidFill>
              </a:defRPr>
            </a:pPr>
            <a:r>
              <a:rPr sz="3600" b="1" i="0">
                <a:solidFill>
                  <a:srgbClr val="FFFFFF"/>
                </a:solidFill>
              </a:rPr>
              <a:t>five more minutes</a:t>
            </a:r>
          </a:p>
        </p:txBody>
      </p:sp>
      <p:sp>
        <p:nvSpPr>
          <p:cNvPr id="5" name="">
            <a:extLst xmlns:a="http://schemas.openxmlformats.org/drawingml/2006/main">
              <a:ext uri="{FF2B5EF4-FFF2-40B4-BE49-F238E27FC236}">
                <a16:creationId xmlns:a16="http://schemas.microsoft.com/office/drawing/2014/main" id="{5A8D956F-C332-4707-AC5A-53A08CA69DC1}"/>
              </a:ext>
            </a:extLst>
          </p:cNvPr>
          <p:cNvSpPr>
            <a:spLocks xmlns:a="http://schemas.openxmlformats.org/drawingml/2006/main" noGrp="1"/>
          </p:cNvSpPr>
          <p:nvPr/>
        </p:nvSpPr>
        <p:spPr>
          <a:xfrm xmlns:a="http://schemas.openxmlformats.org/drawingml/2006/main">
            <a:off x="704850" y="4095750"/>
            <a:ext cx="561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0" i="0">
                <a:solidFill>
                  <a:srgbClr val="DDE9E4"/>
                </a:solidFill>
              </a:defRPr>
            </a:defPPr>
          </a:lstStyle>
          <a:p xmlns:a="http://schemas.openxmlformats.org/drawingml/2006/main">
            <a:pPr>
              <a:defRPr sz="1575" b="0" i="0">
                <a:solidFill>
                  <a:srgbClr val="DDE9E4"/>
                </a:solidFill>
              </a:defRPr>
            </a:pPr>
            <a:r>
              <a:rPr sz="1575" b="0" i="0">
                <a:solidFill>
                  <a:srgbClr val="DDE9E4"/>
                </a:solidFill>
              </a:rPr>
              <a:t>SiteGuard connects a voluntary check-in to a human response while protected breaks stay protected.</a:t>
            </a:r>
          </a:p>
        </p:txBody>
      </p:sp>
      <p:sp>
        <p:nvSpPr>
          <p:cNvPr id="6" name="">
            <a:extLst xmlns:a="http://schemas.openxmlformats.org/drawingml/2006/main">
              <a:ext uri="{FF2B5EF4-FFF2-40B4-BE49-F238E27FC236}">
                <a16:creationId xmlns:a16="http://schemas.microsoft.com/office/drawing/2014/main" id="{3196B0C1-336C-493F-8600-30D16703A15D}"/>
              </a:ext>
            </a:extLst>
          </p:cNvPr>
          <p:cNvSpPr>
            <a:spLocks xmlns:a="http://schemas.openxmlformats.org/drawingml/2006/main" noGrp="1"/>
          </p:cNvSpPr>
          <p:nvPr/>
        </p:nvSpPr>
        <p:spPr>
          <a:xfrm xmlns:a="http://schemas.openxmlformats.org/drawingml/2006/main">
            <a:off x="704850" y="5314950"/>
            <a:ext cx="3219450" cy="457200"/>
          </a:xfrm>
          <a:prstGeom xmlns:a="http://schemas.openxmlformats.org/drawingml/2006/main" prst="roundRect">
            <a:avLst>
              <a:gd name="adj" fmla="val 50000"/>
            </a:avLst>
          </a:prstGeom>
          <a:solidFill xmlns:a="http://schemas.openxmlformats.org/drawingml/2006/main">
            <a:srgbClr val="C9FF6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7AFD3CE-F16B-443D-936B-93D1ED5AD735}"/>
              </a:ext>
            </a:extLst>
          </p:cNvPr>
          <p:cNvSpPr>
            <a:spLocks xmlns:a="http://schemas.openxmlformats.org/drawingml/2006/main" noGrp="1"/>
          </p:cNvSpPr>
          <p:nvPr/>
        </p:nvSpPr>
        <p:spPr>
          <a:xfrm xmlns:a="http://schemas.openxmlformats.org/drawingml/2006/main">
            <a:off x="904875" y="5457825"/>
            <a:ext cx="281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0B302A"/>
                </a:solidFill>
              </a:defRPr>
            </a:defPPr>
          </a:lstStyle>
          <a:p xmlns:a="http://schemas.openxmlformats.org/drawingml/2006/main">
            <a:pPr>
              <a:defRPr sz="1050" b="1" i="0">
                <a:solidFill>
                  <a:srgbClr val="0B302A"/>
                </a:solidFill>
              </a:defRPr>
            </a:pPr>
            <a:r>
              <a:rPr sz="1050" b="1" i="0">
                <a:solidFill>
                  <a:srgbClr val="0B302A"/>
                </a:solidFill>
              </a:rPr>
              <a:t>PEOPLE FIRST. EVERY SHIFT.</a:t>
            </a:r>
          </a:p>
        </p:txBody>
      </p:sp>
      <p:pic>
        <p:nvPicPr>
          <p:cNvPr id="8" name="">
            <a:extLst xmlns:a="http://schemas.openxmlformats.org/drawingml/2006/main">
              <a:ext uri="{FF2B5EF4-FFF2-40B4-BE49-F238E27FC236}">
                <a16:creationId xmlns:a16="http://schemas.microsoft.com/office/drawing/2014/main" id="{3D36E355-3486-42C5-91F2-559908D40082}"/>
              </a:ext>
            </a:extLst>
          </p:cNvPr>
          <p:cNvPicPr>
            <a:picLocks xmlns:a="http://schemas.openxmlformats.org/drawingml/2006/main" noChangeAspect="1"/>
          </p:cNvPicPr>
          <p:nvPr/>
        </p:nvPicPr>
        <p:blipFill>
          <a:blip xmlns:r="http://schemas.openxmlformats.org/officeDocument/2006/relationships" xmlns:a="http://schemas.openxmlformats.org/drawingml/2006/main" r:embed="R648fe00516304598"/>
          <a:srcRect xmlns:a="http://schemas.openxmlformats.org/drawingml/2006/main" l="12000" t="0" r="8000" b="0"/>
          <a:stretch xmlns:a="http://schemas.openxmlformats.org/drawingml/2006/main"/>
        </p:blipFill>
        <p:spPr>
          <a:xfrm xmlns:a="http://schemas.openxmlformats.org/drawingml/2006/main">
            <a:off x="7239000" y="819150"/>
            <a:ext cx="4333875" cy="5219700"/>
          </a:xfrm>
          <a:prstGeom xmlns:a="http://schemas.openxmlformats.org/drawingml/2006/main" prst="roundRect">
            <a:avLst>
              <a:gd name="adj" fmla="val 6154"/>
            </a:avLst>
          </a:prstGeom>
        </p:spPr>
      </p:pic>
    </p:spTree>
    <p:extLst>
      <p:ext uri="{BB962C8B-B14F-4D97-AF65-F5344CB8AC3E}">
        <p14:creationId xmlns:p14="http://schemas.microsoft.com/office/powerpoint/2010/main" val="1757566935"/>
      </p:ext>
    </p:extLst>
  </p:cSld>
</p:sld>
</file>

<file path=ppt/slides/slide2.xml><?xml version="1.0" encoding="utf-8"?>
<p:sld xmlns:p="http://schemas.openxmlformats.org/presentationml/2006/main">
  <p:cSld>
    <p:bg>
      <p:bgPr>
        <a:solidFill xmlns:a="http://schemas.openxmlformats.org/drawingml/2006/main">
          <a:srgbClr val="F4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054DD-6736-42E7-85C8-EF7F74F9E669}"/>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65786F"/>
                </a:solidFill>
              </a:defRPr>
            </a:defPPr>
          </a:lstStyle>
          <a:p xmlns:a="http://schemas.openxmlformats.org/drawingml/2006/main">
            <a:pPr>
              <a:defRPr sz="825" b="1" i="0">
                <a:solidFill>
                  <a:srgbClr val="65786F"/>
                </a:solidFill>
              </a:defRPr>
            </a:pPr>
            <a:r>
              <a:rPr sz="825" b="1" i="0">
                <a:solidFill>
                  <a:srgbClr val="65786F"/>
                </a:solidFill>
              </a:rPr>
              <a:t>02</a:t>
            </a:r>
          </a:p>
        </p:txBody>
      </p:sp>
      <p:sp>
        <p:nvSpPr>
          <p:cNvPr id="2" name="">
            <a:extLst xmlns:a="http://schemas.openxmlformats.org/drawingml/2006/main">
              <a:ext uri="{FF2B5EF4-FFF2-40B4-BE49-F238E27FC236}">
                <a16:creationId xmlns:a16="http://schemas.microsoft.com/office/drawing/2014/main" id="{213F6606-4457-4AF8-857D-46179D74DB7B}"/>
              </a:ext>
            </a:extLst>
          </p:cNvPr>
          <p:cNvSpPr>
            <a:spLocks xmlns:a="http://schemas.openxmlformats.org/drawingml/2006/main" noGrp="1"/>
          </p:cNvSpPr>
          <p:nvPr/>
        </p:nvSpPr>
        <p:spPr>
          <a:xfrm xmlns:a="http://schemas.openxmlformats.org/drawingml/2006/main">
            <a:off x="628650" y="514350"/>
            <a:ext cx="8001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400" b="1" i="0">
                <a:solidFill>
                  <a:srgbClr val="0B302A"/>
                </a:solidFill>
              </a:defRPr>
            </a:defPPr>
          </a:lstStyle>
          <a:p xmlns:a="http://schemas.openxmlformats.org/drawingml/2006/main">
            <a:pPr>
              <a:defRPr sz="2400" b="1" i="0">
                <a:solidFill>
                  <a:srgbClr val="0B302A"/>
                </a:solidFill>
              </a:defRPr>
            </a:pPr>
            <a:r>
              <a:rPr sz="2400" b="1" i="0">
                <a:solidFill>
                  <a:srgbClr val="0B302A"/>
                </a:solidFill>
              </a:rPr>
              <a:t>The gap between a break and a response</a:t>
            </a:r>
          </a:p>
        </p:txBody>
      </p:sp>
      <p:sp>
        <p:nvSpPr>
          <p:cNvPr id="3" name="">
            <a:extLst xmlns:a="http://schemas.openxmlformats.org/drawingml/2006/main">
              <a:ext uri="{FF2B5EF4-FFF2-40B4-BE49-F238E27FC236}">
                <a16:creationId xmlns:a16="http://schemas.microsoft.com/office/drawing/2014/main" id="{E918E57B-57E8-447C-9F37-F794791323BB}"/>
              </a:ext>
            </a:extLst>
          </p:cNvPr>
          <p:cNvSpPr>
            <a:spLocks xmlns:a="http://schemas.openxmlformats.org/drawingml/2006/main" noGrp="1"/>
          </p:cNvSpPr>
          <p:nvPr/>
        </p:nvSpPr>
        <p:spPr>
          <a:xfrm xmlns:a="http://schemas.openxmlformats.org/drawingml/2006/main">
            <a:off x="647700" y="1409700"/>
            <a:ext cx="5905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325" b="0" i="0">
                <a:solidFill>
                  <a:srgbClr val="0B302A"/>
                </a:solidFill>
              </a:defRPr>
            </a:defPPr>
          </a:lstStyle>
          <a:p xmlns:a="http://schemas.openxmlformats.org/drawingml/2006/main">
            <a:pPr>
              <a:defRPr sz="2325" b="0" i="0">
                <a:solidFill>
                  <a:srgbClr val="0B302A"/>
                </a:solidFill>
              </a:defRPr>
            </a:pPr>
            <a:r>
              <a:rPr sz="2325" b="0" i="0">
                <a:solidFill>
                  <a:srgbClr val="0B302A"/>
                </a:solidFill>
              </a:rPr>
              <a:t>A schedule protects time. It cannot show what changed during rest, whether the worker wants support, or how the team should cover the work.</a:t>
            </a:r>
          </a:p>
        </p:txBody>
      </p:sp>
      <p:sp>
        <p:nvSpPr>
          <p:cNvPr id="4" name="">
            <a:extLst xmlns:a="http://schemas.openxmlformats.org/drawingml/2006/main">
              <a:ext uri="{FF2B5EF4-FFF2-40B4-BE49-F238E27FC236}">
                <a16:creationId xmlns:a16="http://schemas.microsoft.com/office/drawing/2014/main" id="{71DAEDAA-B18D-4242-BF8F-FE4D2CBD50CB}"/>
              </a:ext>
            </a:extLst>
          </p:cNvPr>
          <p:cNvSpPr>
            <a:spLocks xmlns:a="http://schemas.openxmlformats.org/drawingml/2006/main" noGrp="1"/>
          </p:cNvSpPr>
          <p:nvPr/>
        </p:nvSpPr>
        <p:spPr>
          <a:xfrm xmlns:a="http://schemas.openxmlformats.org/drawingml/2006/main">
            <a:off x="666750" y="3333750"/>
            <a:ext cx="5143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00" b="0" i="0">
                <a:solidFill>
                  <a:srgbClr val="65786F"/>
                </a:solidFill>
              </a:defRPr>
            </a:defPPr>
          </a:lstStyle>
          <a:p xmlns:a="http://schemas.openxmlformats.org/drawingml/2006/main">
            <a:pPr>
              <a:defRPr sz="1500" b="0" i="0">
                <a:solidFill>
                  <a:srgbClr val="65786F"/>
                </a:solidFill>
              </a:defRPr>
            </a:pPr>
            <a:r>
              <a:rPr sz="1500" b="0" i="0">
                <a:solidFill>
                  <a:srgbClr val="65786F"/>
                </a:solidFill>
              </a:rPr>
              <a:t>SiteGuard links the worker’s request to a staffing decision without moving or shrinking the protected break.</a:t>
            </a:r>
          </a:p>
        </p:txBody>
      </p:sp>
      <p:pic>
        <p:nvPicPr>
          <p:cNvPr id="5" name="">
            <a:extLst xmlns:a="http://schemas.openxmlformats.org/drawingml/2006/main">
              <a:ext uri="{FF2B5EF4-FFF2-40B4-BE49-F238E27FC236}">
                <a16:creationId xmlns:a16="http://schemas.microsoft.com/office/drawing/2014/main" id="{59B82E68-D3DA-4579-896E-0FC9FB7A1EEC}"/>
              </a:ext>
            </a:extLst>
          </p:cNvPr>
          <p:cNvPicPr>
            <a:picLocks xmlns:a="http://schemas.openxmlformats.org/drawingml/2006/main" noChangeAspect="1"/>
          </p:cNvPicPr>
          <p:nvPr/>
        </p:nvPicPr>
        <p:blipFill>
          <a:blip xmlns:r="http://schemas.openxmlformats.org/officeDocument/2006/relationships" xmlns:a="http://schemas.openxmlformats.org/drawingml/2006/main" r:embed="R548af247bda14bc9"/>
          <a:srcRect xmlns:a="http://schemas.openxmlformats.org/drawingml/2006/main" l="11000" t="8000" r="2000" b="3000"/>
          <a:stretch xmlns:a="http://schemas.openxmlformats.org/drawingml/2006/main"/>
        </p:blipFill>
        <p:spPr>
          <a:xfrm xmlns:a="http://schemas.openxmlformats.org/drawingml/2006/main">
            <a:off x="6572250" y="1219200"/>
            <a:ext cx="4953000" cy="4686300"/>
          </a:xfrm>
          <a:prstGeom xmlns:a="http://schemas.openxmlformats.org/drawingml/2006/main" prst="roundRect">
            <a:avLst>
              <a:gd name="adj" fmla="val 4878"/>
            </a:avLst>
          </a:prstGeom>
        </p:spPr>
      </p:pic>
      <p:sp>
        <p:nvSpPr>
          <p:cNvPr id="6" name="">
            <a:extLst xmlns:a="http://schemas.openxmlformats.org/drawingml/2006/main">
              <a:ext uri="{FF2B5EF4-FFF2-40B4-BE49-F238E27FC236}">
                <a16:creationId xmlns:a16="http://schemas.microsoft.com/office/drawing/2014/main" id="{805D46E2-85CE-4662-B8F5-2E1520EBB09A}"/>
              </a:ext>
            </a:extLst>
          </p:cNvPr>
          <p:cNvSpPr>
            <a:spLocks xmlns:a="http://schemas.openxmlformats.org/drawingml/2006/main" noGrp="1"/>
          </p:cNvSpPr>
          <p:nvPr/>
        </p:nvSpPr>
        <p:spPr>
          <a:xfrm xmlns:a="http://schemas.openxmlformats.org/drawingml/2006/main">
            <a:off x="6496050" y="5753100"/>
            <a:ext cx="5105400" cy="66675"/>
          </a:xfrm>
          <a:prstGeom xmlns:a="http://schemas.openxmlformats.org/drawingml/2006/main" prst="roundRect">
            <a:avLst>
              <a:gd name="adj" fmla="val 42857"/>
            </a:avLst>
          </a:prstGeom>
          <a:solidFill xmlns:a="http://schemas.openxmlformats.org/drawingml/2006/main">
            <a:srgbClr val="C9FF65"/>
          </a:solidFill>
          <a:ln xmlns:a="http://schemas.openxmlformats.org/drawingml/2006/main" w="0">
            <a:noFill/>
            <a:prstDash val="solid"/>
          </a:ln>
        </p:spPr>
      </p:sp>
    </p:spTree>
    <p:extLst>
      <p:ext uri="{BB962C8B-B14F-4D97-AF65-F5344CB8AC3E}">
        <p14:creationId xmlns:p14="http://schemas.microsoft.com/office/powerpoint/2010/main" val="1422847248"/>
      </p:ext>
    </p:extLst>
  </p:cSld>
</p:sld>
</file>

<file path=ppt/slides/slide3.xml><?xml version="1.0" encoding="utf-8"?>
<p:sld xmlns:p="http://schemas.openxmlformats.org/presentationml/2006/main">
  <p:cSld>
    <p:bg>
      <p:bgPr>
        <a:solidFill xmlns:a="http://schemas.openxmlformats.org/drawingml/2006/main">
          <a:srgbClr val="0B302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503350C-E712-4B93-96E1-DBFB9DAC91D5}"/>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DDE9E4"/>
                </a:solidFill>
              </a:defRPr>
            </a:defPPr>
          </a:lstStyle>
          <a:p xmlns:a="http://schemas.openxmlformats.org/drawingml/2006/main">
            <a:pPr>
              <a:defRPr sz="825" b="1" i="0">
                <a:solidFill>
                  <a:srgbClr val="DDE9E4"/>
                </a:solidFill>
              </a:defRPr>
            </a:pPr>
            <a:r>
              <a:rPr sz="825" b="1" i="0">
                <a:solidFill>
                  <a:srgbClr val="DDE9E4"/>
                </a:solidFill>
              </a:rPr>
              <a:t>03</a:t>
            </a:r>
          </a:p>
        </p:txBody>
      </p:sp>
      <p:sp>
        <p:nvSpPr>
          <p:cNvPr id="2" name="">
            <a:extLst xmlns:a="http://schemas.openxmlformats.org/drawingml/2006/main">
              <a:ext uri="{FF2B5EF4-FFF2-40B4-BE49-F238E27FC236}">
                <a16:creationId xmlns:a16="http://schemas.microsoft.com/office/drawing/2014/main" id="{58C27B20-9410-41CC-A568-0FAA24DA5902}"/>
              </a:ext>
            </a:extLst>
          </p:cNvPr>
          <p:cNvSpPr>
            <a:spLocks xmlns:a="http://schemas.openxmlformats.org/drawingml/2006/main" noGrp="1"/>
          </p:cNvSpPr>
          <p:nvPr/>
        </p:nvSpPr>
        <p:spPr>
          <a:xfrm xmlns:a="http://schemas.openxmlformats.org/drawingml/2006/main">
            <a:off x="609600" y="4572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FFFFFF"/>
                </a:solidFill>
              </a:defRPr>
            </a:defPPr>
          </a:lstStyle>
          <a:p xmlns:a="http://schemas.openxmlformats.org/drawingml/2006/main">
            <a:pPr>
              <a:defRPr sz="2550" b="1" i="0">
                <a:solidFill>
                  <a:srgbClr val="FFFFFF"/>
                </a:solidFill>
              </a:defRPr>
            </a:pPr>
            <a:r>
              <a:rPr sz="2550" b="1" i="0">
                <a:solidFill>
                  <a:srgbClr val="FFFFFF"/>
                </a:solidFill>
              </a:rPr>
              <a:t>One connected safety loop</a:t>
            </a:r>
          </a:p>
        </p:txBody>
      </p:sp>
      <p:sp>
        <p:nvSpPr>
          <p:cNvPr id="3" name="">
            <a:extLst xmlns:a="http://schemas.openxmlformats.org/drawingml/2006/main">
              <a:ext uri="{FF2B5EF4-FFF2-40B4-BE49-F238E27FC236}">
                <a16:creationId xmlns:a16="http://schemas.microsoft.com/office/drawing/2014/main" id="{66F88C62-F1A9-48C3-B142-BE0674C7CD9F}"/>
              </a:ext>
            </a:extLst>
          </p:cNvPr>
          <p:cNvSpPr>
            <a:spLocks xmlns:a="http://schemas.openxmlformats.org/drawingml/2006/main" noGrp="1"/>
          </p:cNvSpPr>
          <p:nvPr/>
        </p:nvSpPr>
        <p:spPr>
          <a:xfrm xmlns:a="http://schemas.openxmlformats.org/drawingml/2006/main">
            <a:off x="628650" y="1047750"/>
            <a:ext cx="704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DDE9E4"/>
                </a:solidFill>
              </a:defRPr>
            </a:defPPr>
          </a:lstStyle>
          <a:p xmlns:a="http://schemas.openxmlformats.org/drawingml/2006/main">
            <a:pPr>
              <a:defRPr sz="1350" b="0" i="0">
                <a:solidFill>
                  <a:srgbClr val="DDE9E4"/>
                </a:solidFill>
              </a:defRPr>
            </a:pPr>
            <a:r>
              <a:rPr sz="1350" b="0" i="0">
                <a:solidFill>
                  <a:srgbClr val="DDE9E4"/>
                </a:solidFill>
              </a:rPr>
              <a:t>The technology earns its place by helping a person make the next decision.</a:t>
            </a:r>
          </a:p>
        </p:txBody>
      </p:sp>
      <p:sp>
        <p:nvSpPr>
          <p:cNvPr id="4" name="">
            <a:extLst xmlns:a="http://schemas.openxmlformats.org/drawingml/2006/main">
              <a:ext uri="{FF2B5EF4-FFF2-40B4-BE49-F238E27FC236}">
                <a16:creationId xmlns:a16="http://schemas.microsoft.com/office/drawing/2014/main" id="{6A165CF1-FE43-4FA3-BD48-A2611EEFE46D}"/>
              </a:ext>
            </a:extLst>
          </p:cNvPr>
          <p:cNvSpPr>
            <a:spLocks xmlns:a="http://schemas.openxmlformats.org/drawingml/2006/main" noGrp="1"/>
          </p:cNvSpPr>
          <p:nvPr/>
        </p:nvSpPr>
        <p:spPr>
          <a:xfrm xmlns:a="http://schemas.openxmlformats.org/drawingml/2006/main">
            <a:off x="609600" y="226695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OBSERVE</a:t>
            </a:r>
          </a:p>
        </p:txBody>
      </p:sp>
      <p:sp>
        <p:nvSpPr>
          <p:cNvPr id="5" name="">
            <a:extLst xmlns:a="http://schemas.openxmlformats.org/drawingml/2006/main">
              <a:ext uri="{FF2B5EF4-FFF2-40B4-BE49-F238E27FC236}">
                <a16:creationId xmlns:a16="http://schemas.microsoft.com/office/drawing/2014/main" id="{95ADB9DA-81E5-4E95-B615-27246CFD0E7A}"/>
              </a:ext>
            </a:extLst>
          </p:cNvPr>
          <p:cNvSpPr>
            <a:spLocks xmlns:a="http://schemas.openxmlformats.org/drawingml/2006/main" noGrp="1"/>
          </p:cNvSpPr>
          <p:nvPr/>
        </p:nvSpPr>
        <p:spPr>
          <a:xfrm xmlns:a="http://schemas.openxmlformats.org/drawingml/2006/main">
            <a:off x="609600" y="2667000"/>
            <a:ext cx="18478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1" i="0">
                <a:solidFill>
                  <a:srgbClr val="FFFFFF"/>
                </a:solidFill>
              </a:defRPr>
            </a:defPPr>
          </a:lstStyle>
          <a:p xmlns:a="http://schemas.openxmlformats.org/drawingml/2006/main">
            <a:pPr>
              <a:defRPr sz="1575" b="1" i="0">
                <a:solidFill>
                  <a:srgbClr val="FFFFFF"/>
                </a:solidFill>
              </a:defRPr>
            </a:pPr>
            <a:r>
              <a:rPr sz="1575" b="1" i="0">
                <a:solidFill>
                  <a:srgbClr val="FFFFFF"/>
                </a:solidFill>
              </a:rPr>
              <a:t>Pulse and breathing</a:t>
            </a:r>
          </a:p>
          <a:p xmlns:a="http://schemas.openxmlformats.org/drawingml/2006/main">
            <a:pPr>
              <a:defRPr sz="1575" b="1" i="0">
                <a:solidFill>
                  <a:srgbClr val="FFFFFF"/>
                </a:solidFill>
              </a:defRPr>
            </a:pPr>
            <a:r>
              <a:rPr sz="1575" b="1" i="0">
                <a:solidFill>
                  <a:srgbClr val="FFFFFF"/>
                </a:solidFill>
              </a:rPr>
              <a:t>from Presage</a:t>
            </a:r>
          </a:p>
        </p:txBody>
      </p:sp>
      <p:sp>
        <p:nvSpPr>
          <p:cNvPr id="6" name="">
            <a:extLst xmlns:a="http://schemas.openxmlformats.org/drawingml/2006/main">
              <a:ext uri="{FF2B5EF4-FFF2-40B4-BE49-F238E27FC236}">
                <a16:creationId xmlns:a16="http://schemas.microsoft.com/office/drawing/2014/main" id="{875A43F8-657D-4D06-ACD6-910F64625920}"/>
              </a:ext>
            </a:extLst>
          </p:cNvPr>
          <p:cNvSpPr>
            <a:spLocks xmlns:a="http://schemas.openxmlformats.org/drawingml/2006/main" noGrp="1"/>
          </p:cNvSpPr>
          <p:nvPr/>
        </p:nvSpPr>
        <p:spPr>
          <a:xfrm xmlns:a="http://schemas.openxmlformats.org/drawingml/2006/main">
            <a:off x="2476500" y="2781300"/>
            <a:ext cx="285750" cy="38100"/>
          </a:xfrm>
          <a:prstGeom xmlns:a="http://schemas.openxmlformats.org/drawingml/2006/main" prst="roundRect">
            <a:avLst>
              <a:gd name="adj" fmla="val 50000"/>
            </a:avLst>
          </a:prstGeom>
          <a:solidFill xmlns:a="http://schemas.openxmlformats.org/drawingml/2006/main">
            <a:srgbClr val="65786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6575B04-11FB-4E51-AB2D-792CCC4B98DE}"/>
              </a:ext>
            </a:extLst>
          </p:cNvPr>
          <p:cNvSpPr>
            <a:spLocks xmlns:a="http://schemas.openxmlformats.org/drawingml/2006/main" noGrp="1"/>
          </p:cNvSpPr>
          <p:nvPr/>
        </p:nvSpPr>
        <p:spPr>
          <a:xfrm xmlns:a="http://schemas.openxmlformats.org/drawingml/2006/main">
            <a:off x="2590800" y="2571750"/>
            <a:ext cx="22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00" b="1" i="0">
                <a:solidFill>
                  <a:srgbClr val="C9FF65"/>
                </a:solidFill>
              </a:defRPr>
            </a:defPPr>
          </a:lstStyle>
          <a:p xmlns:a="http://schemas.openxmlformats.org/drawingml/2006/main">
            <a:pPr>
              <a:defRPr sz="2100" b="1" i="0">
                <a:solidFill>
                  <a:srgbClr val="C9FF65"/>
                </a:solidFill>
              </a:defRPr>
            </a:pPr>
            <a:r>
              <a:rPr sz="2100" b="1" i="0">
                <a:solidFill>
                  <a:srgbClr val="C9FF65"/>
                </a:solidFill>
              </a:rPr>
              <a:t>›</a:t>
            </a:r>
          </a:p>
        </p:txBody>
      </p:sp>
      <p:sp>
        <p:nvSpPr>
          <p:cNvPr id="8" name="">
            <a:extLst xmlns:a="http://schemas.openxmlformats.org/drawingml/2006/main">
              <a:ext uri="{FF2B5EF4-FFF2-40B4-BE49-F238E27FC236}">
                <a16:creationId xmlns:a16="http://schemas.microsoft.com/office/drawing/2014/main" id="{983548FE-F757-4B04-9273-F3B81457067A}"/>
              </a:ext>
            </a:extLst>
          </p:cNvPr>
          <p:cNvSpPr>
            <a:spLocks xmlns:a="http://schemas.openxmlformats.org/drawingml/2006/main" noGrp="1"/>
          </p:cNvSpPr>
          <p:nvPr/>
        </p:nvSpPr>
        <p:spPr>
          <a:xfrm xmlns:a="http://schemas.openxmlformats.org/drawingml/2006/main">
            <a:off x="2895600" y="226695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REMEMBER</a:t>
            </a:r>
          </a:p>
        </p:txBody>
      </p:sp>
      <p:sp>
        <p:nvSpPr>
          <p:cNvPr id="9" name="">
            <a:extLst xmlns:a="http://schemas.openxmlformats.org/drawingml/2006/main">
              <a:ext uri="{FF2B5EF4-FFF2-40B4-BE49-F238E27FC236}">
                <a16:creationId xmlns:a16="http://schemas.microsoft.com/office/drawing/2014/main" id="{6ED2A8D5-8062-43B6-A065-9F1B82477B37}"/>
              </a:ext>
            </a:extLst>
          </p:cNvPr>
          <p:cNvSpPr>
            <a:spLocks xmlns:a="http://schemas.openxmlformats.org/drawingml/2006/main" noGrp="1"/>
          </p:cNvSpPr>
          <p:nvPr/>
        </p:nvSpPr>
        <p:spPr>
          <a:xfrm xmlns:a="http://schemas.openxmlformats.org/drawingml/2006/main">
            <a:off x="2895600" y="2667000"/>
            <a:ext cx="18478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1" i="0">
                <a:solidFill>
                  <a:srgbClr val="FFFFFF"/>
                </a:solidFill>
              </a:defRPr>
            </a:defPPr>
          </a:lstStyle>
          <a:p xmlns:a="http://schemas.openxmlformats.org/drawingml/2006/main">
            <a:pPr>
              <a:defRPr sz="1575" b="1" i="0">
                <a:solidFill>
                  <a:srgbClr val="FFFFFF"/>
                </a:solidFill>
              </a:defRPr>
            </a:pPr>
            <a:r>
              <a:rPr sz="1575" b="1" i="0">
                <a:solidFill>
                  <a:srgbClr val="FFFFFF"/>
                </a:solidFill>
              </a:rPr>
              <a:t>Worker history</a:t>
            </a:r>
          </a:p>
          <a:p xmlns:a="http://schemas.openxmlformats.org/drawingml/2006/main">
            <a:pPr>
              <a:defRPr sz="1575" b="1" i="0">
                <a:solidFill>
                  <a:srgbClr val="FFFFFF"/>
                </a:solidFill>
              </a:defRPr>
            </a:pPr>
            <a:r>
              <a:rPr sz="1575" b="1" i="0">
                <a:solidFill>
                  <a:srgbClr val="FFFFFF"/>
                </a:solidFill>
              </a:rPr>
              <a:t>in Tiger Data</a:t>
            </a:r>
          </a:p>
        </p:txBody>
      </p:sp>
      <p:sp>
        <p:nvSpPr>
          <p:cNvPr id="10" name="">
            <a:extLst xmlns:a="http://schemas.openxmlformats.org/drawingml/2006/main">
              <a:ext uri="{FF2B5EF4-FFF2-40B4-BE49-F238E27FC236}">
                <a16:creationId xmlns:a16="http://schemas.microsoft.com/office/drawing/2014/main" id="{3614E5B3-4605-4B6B-8FDD-138C8226E152}"/>
              </a:ext>
            </a:extLst>
          </p:cNvPr>
          <p:cNvSpPr>
            <a:spLocks xmlns:a="http://schemas.openxmlformats.org/drawingml/2006/main" noGrp="1"/>
          </p:cNvSpPr>
          <p:nvPr/>
        </p:nvSpPr>
        <p:spPr>
          <a:xfrm xmlns:a="http://schemas.openxmlformats.org/drawingml/2006/main">
            <a:off x="4762500" y="2781300"/>
            <a:ext cx="285750" cy="38100"/>
          </a:xfrm>
          <a:prstGeom xmlns:a="http://schemas.openxmlformats.org/drawingml/2006/main" prst="roundRect">
            <a:avLst>
              <a:gd name="adj" fmla="val 50000"/>
            </a:avLst>
          </a:prstGeom>
          <a:solidFill xmlns:a="http://schemas.openxmlformats.org/drawingml/2006/main">
            <a:srgbClr val="65786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D655F13-EAC9-4048-B6F3-298DCEE188D0}"/>
              </a:ext>
            </a:extLst>
          </p:cNvPr>
          <p:cNvSpPr>
            <a:spLocks xmlns:a="http://schemas.openxmlformats.org/drawingml/2006/main" noGrp="1"/>
          </p:cNvSpPr>
          <p:nvPr/>
        </p:nvSpPr>
        <p:spPr>
          <a:xfrm xmlns:a="http://schemas.openxmlformats.org/drawingml/2006/main">
            <a:off x="4876800" y="2571750"/>
            <a:ext cx="22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00" b="1" i="0">
                <a:solidFill>
                  <a:srgbClr val="C9FF65"/>
                </a:solidFill>
              </a:defRPr>
            </a:defPPr>
          </a:lstStyle>
          <a:p xmlns:a="http://schemas.openxmlformats.org/drawingml/2006/main">
            <a:pPr>
              <a:defRPr sz="2100" b="1" i="0">
                <a:solidFill>
                  <a:srgbClr val="C9FF65"/>
                </a:solidFill>
              </a:defRPr>
            </a:pPr>
            <a:r>
              <a:rPr sz="2100" b="1" i="0">
                <a:solidFill>
                  <a:srgbClr val="C9FF65"/>
                </a:solidFill>
              </a:rPr>
              <a:t>›</a:t>
            </a:r>
          </a:p>
        </p:txBody>
      </p:sp>
      <p:sp>
        <p:nvSpPr>
          <p:cNvPr id="12" name="">
            <a:extLst xmlns:a="http://schemas.openxmlformats.org/drawingml/2006/main">
              <a:ext uri="{FF2B5EF4-FFF2-40B4-BE49-F238E27FC236}">
                <a16:creationId xmlns:a16="http://schemas.microsoft.com/office/drawing/2014/main" id="{00C5D113-DD4F-4B07-9FDF-AC2CEE494481}"/>
              </a:ext>
            </a:extLst>
          </p:cNvPr>
          <p:cNvSpPr>
            <a:spLocks xmlns:a="http://schemas.openxmlformats.org/drawingml/2006/main" noGrp="1"/>
          </p:cNvSpPr>
          <p:nvPr/>
        </p:nvSpPr>
        <p:spPr>
          <a:xfrm xmlns:a="http://schemas.openxmlformats.org/drawingml/2006/main">
            <a:off x="5181600" y="226695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EXPLAIN</a:t>
            </a:r>
          </a:p>
        </p:txBody>
      </p:sp>
      <p:sp>
        <p:nvSpPr>
          <p:cNvPr id="13" name="">
            <a:extLst xmlns:a="http://schemas.openxmlformats.org/drawingml/2006/main">
              <a:ext uri="{FF2B5EF4-FFF2-40B4-BE49-F238E27FC236}">
                <a16:creationId xmlns:a16="http://schemas.microsoft.com/office/drawing/2014/main" id="{14237929-5015-47AB-B879-A5688C9E3E97}"/>
              </a:ext>
            </a:extLst>
          </p:cNvPr>
          <p:cNvSpPr>
            <a:spLocks xmlns:a="http://schemas.openxmlformats.org/drawingml/2006/main" noGrp="1"/>
          </p:cNvSpPr>
          <p:nvPr/>
        </p:nvSpPr>
        <p:spPr>
          <a:xfrm xmlns:a="http://schemas.openxmlformats.org/drawingml/2006/main">
            <a:off x="5181600" y="2667000"/>
            <a:ext cx="18478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1" i="0">
                <a:solidFill>
                  <a:srgbClr val="FFFFFF"/>
                </a:solidFill>
              </a:defRPr>
            </a:defPPr>
          </a:lstStyle>
          <a:p xmlns:a="http://schemas.openxmlformats.org/drawingml/2006/main">
            <a:pPr>
              <a:defRPr sz="1575" b="1" i="0">
                <a:solidFill>
                  <a:srgbClr val="FFFFFF"/>
                </a:solidFill>
              </a:defRPr>
            </a:pPr>
            <a:r>
              <a:rPr sz="1575" b="1" i="0">
                <a:solidFill>
                  <a:srgbClr val="FFFFFF"/>
                </a:solidFill>
              </a:rPr>
              <a:t>Approved facts</a:t>
            </a:r>
          </a:p>
          <a:p xmlns:a="http://schemas.openxmlformats.org/drawingml/2006/main">
            <a:pPr>
              <a:defRPr sz="1575" b="1" i="0">
                <a:solidFill>
                  <a:srgbClr val="FFFFFF"/>
                </a:solidFill>
              </a:defRPr>
            </a:pPr>
            <a:r>
              <a:rPr sz="1575" b="1" i="0">
                <a:solidFill>
                  <a:srgbClr val="FFFFFF"/>
                </a:solidFill>
              </a:rPr>
              <a:t>through Gemini</a:t>
            </a:r>
          </a:p>
        </p:txBody>
      </p:sp>
      <p:sp>
        <p:nvSpPr>
          <p:cNvPr id="14" name="">
            <a:extLst xmlns:a="http://schemas.openxmlformats.org/drawingml/2006/main">
              <a:ext uri="{FF2B5EF4-FFF2-40B4-BE49-F238E27FC236}">
                <a16:creationId xmlns:a16="http://schemas.microsoft.com/office/drawing/2014/main" id="{2ACAF4CE-0667-4057-9379-90B0CC9216F0}"/>
              </a:ext>
            </a:extLst>
          </p:cNvPr>
          <p:cNvSpPr>
            <a:spLocks xmlns:a="http://schemas.openxmlformats.org/drawingml/2006/main" noGrp="1"/>
          </p:cNvSpPr>
          <p:nvPr/>
        </p:nvSpPr>
        <p:spPr>
          <a:xfrm xmlns:a="http://schemas.openxmlformats.org/drawingml/2006/main">
            <a:off x="7048500" y="2781300"/>
            <a:ext cx="285750" cy="38100"/>
          </a:xfrm>
          <a:prstGeom xmlns:a="http://schemas.openxmlformats.org/drawingml/2006/main" prst="roundRect">
            <a:avLst>
              <a:gd name="adj" fmla="val 50000"/>
            </a:avLst>
          </a:prstGeom>
          <a:solidFill xmlns:a="http://schemas.openxmlformats.org/drawingml/2006/main">
            <a:srgbClr val="65786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650BE8C-636C-40FF-AA54-D490084CAF06}"/>
              </a:ext>
            </a:extLst>
          </p:cNvPr>
          <p:cNvSpPr>
            <a:spLocks xmlns:a="http://schemas.openxmlformats.org/drawingml/2006/main" noGrp="1"/>
          </p:cNvSpPr>
          <p:nvPr/>
        </p:nvSpPr>
        <p:spPr>
          <a:xfrm xmlns:a="http://schemas.openxmlformats.org/drawingml/2006/main">
            <a:off x="7162800" y="2571750"/>
            <a:ext cx="22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00" b="1" i="0">
                <a:solidFill>
                  <a:srgbClr val="C9FF65"/>
                </a:solidFill>
              </a:defRPr>
            </a:defPPr>
          </a:lstStyle>
          <a:p xmlns:a="http://schemas.openxmlformats.org/drawingml/2006/main">
            <a:pPr>
              <a:defRPr sz="2100" b="1" i="0">
                <a:solidFill>
                  <a:srgbClr val="C9FF65"/>
                </a:solidFill>
              </a:defRPr>
            </a:pPr>
            <a:r>
              <a:rPr sz="2100" b="1" i="0">
                <a:solidFill>
                  <a:srgbClr val="C9FF65"/>
                </a:solidFill>
              </a:rPr>
              <a:t>›</a:t>
            </a:r>
          </a:p>
        </p:txBody>
      </p:sp>
      <p:sp>
        <p:nvSpPr>
          <p:cNvPr id="16" name="">
            <a:extLst xmlns:a="http://schemas.openxmlformats.org/drawingml/2006/main">
              <a:ext uri="{FF2B5EF4-FFF2-40B4-BE49-F238E27FC236}">
                <a16:creationId xmlns:a16="http://schemas.microsoft.com/office/drawing/2014/main" id="{CECC855E-36D0-4B57-8291-97EADE5D3941}"/>
              </a:ext>
            </a:extLst>
          </p:cNvPr>
          <p:cNvSpPr>
            <a:spLocks xmlns:a="http://schemas.openxmlformats.org/drawingml/2006/main" noGrp="1"/>
          </p:cNvSpPr>
          <p:nvPr/>
        </p:nvSpPr>
        <p:spPr>
          <a:xfrm xmlns:a="http://schemas.openxmlformats.org/drawingml/2006/main">
            <a:off x="7467600" y="226695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FFCE73"/>
                </a:solidFill>
              </a:defRPr>
            </a:defPPr>
          </a:lstStyle>
          <a:p xmlns:a="http://schemas.openxmlformats.org/drawingml/2006/main">
            <a:pPr>
              <a:defRPr sz="1050" b="1" i="0">
                <a:solidFill>
                  <a:srgbClr val="FFCE73"/>
                </a:solidFill>
              </a:defRPr>
            </a:pPr>
            <a:r>
              <a:rPr sz="1050" b="1" i="0">
                <a:solidFill>
                  <a:srgbClr val="FFCE73"/>
                </a:solidFill>
              </a:rPr>
              <a:t>CHOOSE</a:t>
            </a:r>
          </a:p>
        </p:txBody>
      </p:sp>
      <p:sp>
        <p:nvSpPr>
          <p:cNvPr id="17" name="">
            <a:extLst xmlns:a="http://schemas.openxmlformats.org/drawingml/2006/main">
              <a:ext uri="{FF2B5EF4-FFF2-40B4-BE49-F238E27FC236}">
                <a16:creationId xmlns:a16="http://schemas.microsoft.com/office/drawing/2014/main" id="{C14F28E9-EFEC-4CFE-BB1E-36F390D21266}"/>
              </a:ext>
            </a:extLst>
          </p:cNvPr>
          <p:cNvSpPr>
            <a:spLocks xmlns:a="http://schemas.openxmlformats.org/drawingml/2006/main" noGrp="1"/>
          </p:cNvSpPr>
          <p:nvPr/>
        </p:nvSpPr>
        <p:spPr>
          <a:xfrm xmlns:a="http://schemas.openxmlformats.org/drawingml/2006/main">
            <a:off x="7467600" y="2667000"/>
            <a:ext cx="18478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1" i="0">
                <a:solidFill>
                  <a:srgbClr val="FFFFFF"/>
                </a:solidFill>
              </a:defRPr>
            </a:defPPr>
          </a:lstStyle>
          <a:p xmlns:a="http://schemas.openxmlformats.org/drawingml/2006/main">
            <a:pPr>
              <a:defRPr sz="1575" b="1" i="0">
                <a:solidFill>
                  <a:srgbClr val="FFFFFF"/>
                </a:solidFill>
              </a:defRPr>
            </a:pPr>
            <a:r>
              <a:rPr sz="1575" b="1" i="0">
                <a:solidFill>
                  <a:srgbClr val="FFFFFF"/>
                </a:solidFill>
              </a:rPr>
              <a:t>The worker requests</a:t>
            </a:r>
          </a:p>
          <a:p xmlns:a="http://schemas.openxmlformats.org/drawingml/2006/main">
            <a:pPr>
              <a:defRPr sz="1575" b="1" i="0">
                <a:solidFill>
                  <a:srgbClr val="FFFFFF"/>
                </a:solidFill>
              </a:defRPr>
            </a:pPr>
            <a:r>
              <a:rPr sz="1575" b="1" i="0">
                <a:solidFill>
                  <a:srgbClr val="FFFFFF"/>
                </a:solidFill>
              </a:rPr>
              <a:t>rest or assistance</a:t>
            </a:r>
          </a:p>
        </p:txBody>
      </p:sp>
      <p:sp>
        <p:nvSpPr>
          <p:cNvPr id="18" name="">
            <a:extLst xmlns:a="http://schemas.openxmlformats.org/drawingml/2006/main">
              <a:ext uri="{FF2B5EF4-FFF2-40B4-BE49-F238E27FC236}">
                <a16:creationId xmlns:a16="http://schemas.microsoft.com/office/drawing/2014/main" id="{FC339CFB-3A46-4085-921C-7A5744D6C4C5}"/>
              </a:ext>
            </a:extLst>
          </p:cNvPr>
          <p:cNvSpPr>
            <a:spLocks xmlns:a="http://schemas.openxmlformats.org/drawingml/2006/main" noGrp="1"/>
          </p:cNvSpPr>
          <p:nvPr/>
        </p:nvSpPr>
        <p:spPr>
          <a:xfrm xmlns:a="http://schemas.openxmlformats.org/drawingml/2006/main">
            <a:off x="9334500" y="2781300"/>
            <a:ext cx="285750" cy="38100"/>
          </a:xfrm>
          <a:prstGeom xmlns:a="http://schemas.openxmlformats.org/drawingml/2006/main" prst="roundRect">
            <a:avLst>
              <a:gd name="adj" fmla="val 50000"/>
            </a:avLst>
          </a:prstGeom>
          <a:solidFill xmlns:a="http://schemas.openxmlformats.org/drawingml/2006/main">
            <a:srgbClr val="65786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3E265DB-DA4B-431E-9F33-1F4BDB1A7B51}"/>
              </a:ext>
            </a:extLst>
          </p:cNvPr>
          <p:cNvSpPr>
            <a:spLocks xmlns:a="http://schemas.openxmlformats.org/drawingml/2006/main" noGrp="1"/>
          </p:cNvSpPr>
          <p:nvPr/>
        </p:nvSpPr>
        <p:spPr>
          <a:xfrm xmlns:a="http://schemas.openxmlformats.org/drawingml/2006/main">
            <a:off x="9448800" y="2571750"/>
            <a:ext cx="22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00" b="1" i="0">
                <a:solidFill>
                  <a:srgbClr val="C9FF65"/>
                </a:solidFill>
              </a:defRPr>
            </a:defPPr>
          </a:lstStyle>
          <a:p xmlns:a="http://schemas.openxmlformats.org/drawingml/2006/main">
            <a:pPr>
              <a:defRPr sz="2100" b="1" i="0">
                <a:solidFill>
                  <a:srgbClr val="C9FF65"/>
                </a:solidFill>
              </a:defRPr>
            </a:pPr>
            <a:r>
              <a:rPr sz="2100" b="1" i="0">
                <a:solidFill>
                  <a:srgbClr val="C9FF65"/>
                </a:solidFill>
              </a:rPr>
              <a:t>›</a:t>
            </a:r>
          </a:p>
        </p:txBody>
      </p:sp>
      <p:sp>
        <p:nvSpPr>
          <p:cNvPr id="20" name="">
            <a:extLst xmlns:a="http://schemas.openxmlformats.org/drawingml/2006/main">
              <a:ext uri="{FF2B5EF4-FFF2-40B4-BE49-F238E27FC236}">
                <a16:creationId xmlns:a16="http://schemas.microsoft.com/office/drawing/2014/main" id="{4CC61E1E-1B0D-4826-848B-2AB16196DFB9}"/>
              </a:ext>
            </a:extLst>
          </p:cNvPr>
          <p:cNvSpPr>
            <a:spLocks xmlns:a="http://schemas.openxmlformats.org/drawingml/2006/main" noGrp="1"/>
          </p:cNvSpPr>
          <p:nvPr/>
        </p:nvSpPr>
        <p:spPr>
          <a:xfrm xmlns:a="http://schemas.openxmlformats.org/drawingml/2006/main">
            <a:off x="9753600" y="226695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RESPOND</a:t>
            </a:r>
          </a:p>
        </p:txBody>
      </p:sp>
      <p:sp>
        <p:nvSpPr>
          <p:cNvPr id="21" name="">
            <a:extLst xmlns:a="http://schemas.openxmlformats.org/drawingml/2006/main">
              <a:ext uri="{FF2B5EF4-FFF2-40B4-BE49-F238E27FC236}">
                <a16:creationId xmlns:a16="http://schemas.microsoft.com/office/drawing/2014/main" id="{5D0D2BA5-1998-45B4-815B-F7A019E32A46}"/>
              </a:ext>
            </a:extLst>
          </p:cNvPr>
          <p:cNvSpPr>
            <a:spLocks xmlns:a="http://schemas.openxmlformats.org/drawingml/2006/main" noGrp="1"/>
          </p:cNvSpPr>
          <p:nvPr/>
        </p:nvSpPr>
        <p:spPr>
          <a:xfrm xmlns:a="http://schemas.openxmlformats.org/drawingml/2006/main">
            <a:off x="9753600" y="2667000"/>
            <a:ext cx="18478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1" i="0">
                <a:solidFill>
                  <a:srgbClr val="FFFFFF"/>
                </a:solidFill>
              </a:defRPr>
            </a:defPPr>
          </a:lstStyle>
          <a:p xmlns:a="http://schemas.openxmlformats.org/drawingml/2006/main">
            <a:pPr>
              <a:defRPr sz="1575" b="1" i="0">
                <a:solidFill>
                  <a:srgbClr val="FFFFFF"/>
                </a:solidFill>
              </a:defRPr>
            </a:pPr>
            <a:r>
              <a:rPr sz="1575" b="1" i="0">
                <a:solidFill>
                  <a:srgbClr val="FFFFFF"/>
                </a:solidFill>
              </a:rPr>
              <a:t>A human adjusts</a:t>
            </a:r>
          </a:p>
          <a:p xmlns:a="http://schemas.openxmlformats.org/drawingml/2006/main">
            <a:pPr>
              <a:defRPr sz="1575" b="1" i="0">
                <a:solidFill>
                  <a:srgbClr val="FFFFFF"/>
                </a:solidFill>
              </a:defRPr>
            </a:pPr>
            <a:r>
              <a:rPr sz="1575" b="1" i="0">
                <a:solidFill>
                  <a:srgbClr val="FFFFFF"/>
                </a:solidFill>
              </a:rPr>
              <a:t>coverage</a:t>
            </a:r>
          </a:p>
        </p:txBody>
      </p:sp>
      <p:sp>
        <p:nvSpPr>
          <p:cNvPr id="22" name="">
            <a:extLst xmlns:a="http://schemas.openxmlformats.org/drawingml/2006/main">
              <a:ext uri="{FF2B5EF4-FFF2-40B4-BE49-F238E27FC236}">
                <a16:creationId xmlns:a16="http://schemas.microsoft.com/office/drawing/2014/main" id="{919EF57D-5369-40BD-91BF-D6E41BDF9F0A}"/>
              </a:ext>
            </a:extLst>
          </p:cNvPr>
          <p:cNvSpPr>
            <a:spLocks xmlns:a="http://schemas.openxmlformats.org/drawingml/2006/main" noGrp="1"/>
          </p:cNvSpPr>
          <p:nvPr/>
        </p:nvSpPr>
        <p:spPr>
          <a:xfrm xmlns:a="http://schemas.openxmlformats.org/drawingml/2006/main">
            <a:off x="609600" y="4476750"/>
            <a:ext cx="10972800" cy="9525"/>
          </a:xfrm>
          <a:prstGeom xmlns:a="http://schemas.openxmlformats.org/drawingml/2006/main" prst="rect">
            <a:avLst/>
          </a:prstGeom>
          <a:solidFill xmlns:a="http://schemas.openxmlformats.org/drawingml/2006/main">
            <a:srgbClr val="41655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F79B313-BC20-461A-AD4F-AE29453878A5}"/>
              </a:ext>
            </a:extLst>
          </p:cNvPr>
          <p:cNvSpPr>
            <a:spLocks xmlns:a="http://schemas.openxmlformats.org/drawingml/2006/main" noGrp="1"/>
          </p:cNvSpPr>
          <p:nvPr/>
        </p:nvSpPr>
        <p:spPr>
          <a:xfrm xmlns:a="http://schemas.openxmlformats.org/drawingml/2006/main">
            <a:off x="609600" y="487680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025" b="1" i="0">
                <a:solidFill>
                  <a:srgbClr val="DDE9E4"/>
                </a:solidFill>
              </a:defRPr>
            </a:defPPr>
          </a:lstStyle>
          <a:p xmlns:a="http://schemas.openxmlformats.org/drawingml/2006/main">
            <a:pPr>
              <a:defRPr sz="2025" b="1" i="0">
                <a:solidFill>
                  <a:srgbClr val="DDE9E4"/>
                </a:solidFill>
              </a:defRPr>
            </a:pPr>
            <a:r>
              <a:rPr sz="2025" b="1" i="0">
                <a:solidFill>
                  <a:srgbClr val="DDE9E4"/>
                </a:solidFill>
              </a:rPr>
              <a:t>No diagnosis. No automatic clearance. The system surfaces evidence and preserves worker choice.</a:t>
            </a:r>
          </a:p>
        </p:txBody>
      </p:sp>
      <p:sp>
        <p:nvSpPr>
          <p:cNvPr id="24" name="">
            <a:extLst xmlns:a="http://schemas.openxmlformats.org/drawingml/2006/main">
              <a:ext uri="{FF2B5EF4-FFF2-40B4-BE49-F238E27FC236}">
                <a16:creationId xmlns:a16="http://schemas.microsoft.com/office/drawing/2014/main" id="{C4A022B1-2A0E-4B26-94CB-717A7E2763EA}"/>
              </a:ext>
            </a:extLst>
          </p:cNvPr>
          <p:cNvSpPr>
            <a:spLocks xmlns:a="http://schemas.openxmlformats.org/drawingml/2006/main" noGrp="1"/>
          </p:cNvSpPr>
          <p:nvPr/>
        </p:nvSpPr>
        <p:spPr>
          <a:xfrm xmlns:a="http://schemas.openxmlformats.org/drawingml/2006/main">
            <a:off x="628650" y="5829300"/>
            <a:ext cx="742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125" b="1" i="0">
                <a:solidFill>
                  <a:srgbClr val="C9FF65"/>
                </a:solidFill>
              </a:defRPr>
            </a:defPPr>
          </a:lstStyle>
          <a:p xmlns:a="http://schemas.openxmlformats.org/drawingml/2006/main">
            <a:pPr>
              <a:defRPr sz="1125" b="1" i="0">
                <a:solidFill>
                  <a:srgbClr val="C9FF65"/>
                </a:solidFill>
              </a:defRPr>
            </a:pPr>
            <a:r>
              <a:rPr sz="1125" b="1" i="0">
                <a:solidFill>
                  <a:srgbClr val="C9FF65"/>
                </a:solidFill>
              </a:rPr>
              <a:t>A worker request becomes an approved coverage adjustment.</a:t>
            </a:r>
          </a:p>
        </p:txBody>
      </p:sp>
    </p:spTree>
    <p:extLst>
      <p:ext uri="{BB962C8B-B14F-4D97-AF65-F5344CB8AC3E}">
        <p14:creationId xmlns:p14="http://schemas.microsoft.com/office/powerpoint/2010/main" val="601647167"/>
      </p:ext>
    </p:extLst>
  </p:cSld>
</p:sld>
</file>

<file path=ppt/slides/slide4.xml><?xml version="1.0" encoding="utf-8"?>
<p:sld xmlns:p="http://schemas.openxmlformats.org/presentationml/2006/main">
  <p:cSld>
    <p:bg>
      <p:bgPr>
        <a:solidFill xmlns:a="http://schemas.openxmlformats.org/drawingml/2006/main">
          <a:srgbClr val="F4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90197B6-B582-4B58-9EC8-76F0D1518E34}"/>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65786F"/>
                </a:solidFill>
              </a:defRPr>
            </a:defPPr>
          </a:lstStyle>
          <a:p xmlns:a="http://schemas.openxmlformats.org/drawingml/2006/main">
            <a:pPr>
              <a:defRPr sz="825" b="1" i="0">
                <a:solidFill>
                  <a:srgbClr val="65786F"/>
                </a:solidFill>
              </a:defRPr>
            </a:pPr>
            <a:r>
              <a:rPr sz="825" b="1" i="0">
                <a:solidFill>
                  <a:srgbClr val="65786F"/>
                </a:solidFill>
              </a:rPr>
              <a:t>04</a:t>
            </a:r>
          </a:p>
        </p:txBody>
      </p:sp>
      <p:sp>
        <p:nvSpPr>
          <p:cNvPr id="2" name="">
            <a:extLst xmlns:a="http://schemas.openxmlformats.org/drawingml/2006/main">
              <a:ext uri="{FF2B5EF4-FFF2-40B4-BE49-F238E27FC236}">
                <a16:creationId xmlns:a16="http://schemas.microsoft.com/office/drawing/2014/main" id="{2AA84411-9998-4930-B6AE-636A6D7C0F3E}"/>
              </a:ext>
            </a:extLst>
          </p:cNvPr>
          <p:cNvSpPr>
            <a:spLocks xmlns:a="http://schemas.openxmlformats.org/drawingml/2006/main" noGrp="1"/>
          </p:cNvSpPr>
          <p:nvPr/>
        </p:nvSpPr>
        <p:spPr>
          <a:xfrm xmlns:a="http://schemas.openxmlformats.org/drawingml/2006/main">
            <a:off x="609600" y="438150"/>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0B302A"/>
                </a:solidFill>
              </a:defRPr>
            </a:defPPr>
          </a:lstStyle>
          <a:p xmlns:a="http://schemas.openxmlformats.org/drawingml/2006/main">
            <a:pPr>
              <a:defRPr sz="2550" b="1" i="0">
                <a:solidFill>
                  <a:srgbClr val="0B302A"/>
                </a:solidFill>
              </a:defRPr>
            </a:pPr>
            <a:r>
              <a:rPr sz="2550" b="1" i="0">
                <a:solidFill>
                  <a:srgbClr val="0B302A"/>
                </a:solidFill>
              </a:rPr>
              <a:t>The worker controls the check-in</a:t>
            </a:r>
          </a:p>
        </p:txBody>
      </p:sp>
      <p:sp>
        <p:nvSpPr>
          <p:cNvPr id="3" name="">
            <a:extLst xmlns:a="http://schemas.openxmlformats.org/drawingml/2006/main">
              <a:ext uri="{FF2B5EF4-FFF2-40B4-BE49-F238E27FC236}">
                <a16:creationId xmlns:a16="http://schemas.microsoft.com/office/drawing/2014/main" id="{2BDDDB81-083E-43F1-A9F5-94101CFB63C8}"/>
              </a:ext>
            </a:extLst>
          </p:cNvPr>
          <p:cNvSpPr>
            <a:spLocks xmlns:a="http://schemas.openxmlformats.org/drawingml/2006/main" noGrp="1"/>
          </p:cNvSpPr>
          <p:nvPr/>
        </p:nvSpPr>
        <p:spPr>
          <a:xfrm xmlns:a="http://schemas.openxmlformats.org/drawingml/2006/main">
            <a:off x="628650" y="1028700"/>
            <a:ext cx="1000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65786F"/>
                </a:solidFill>
              </a:defRPr>
            </a:defPPr>
          </a:lstStyle>
          <a:p xmlns:a="http://schemas.openxmlformats.org/drawingml/2006/main">
            <a:pPr>
              <a:defRPr sz="1350" b="0" i="0">
                <a:solidFill>
                  <a:srgbClr val="65786F"/>
                </a:solidFill>
              </a:defRPr>
            </a:pPr>
            <a:r>
              <a:rPr sz="1350" b="0" i="0">
                <a:solidFill>
                  <a:srgbClr val="65786F"/>
                </a:solidFill>
              </a:rPr>
              <a:t>Fresh consent, source-labelled observations, and an explicit stop button keep the experience understandable.</a:t>
            </a:r>
          </a:p>
        </p:txBody>
      </p:sp>
      <p:sp>
        <p:nvSpPr>
          <p:cNvPr id="4" name="">
            <a:extLst xmlns:a="http://schemas.openxmlformats.org/drawingml/2006/main">
              <a:ext uri="{FF2B5EF4-FFF2-40B4-BE49-F238E27FC236}">
                <a16:creationId xmlns:a16="http://schemas.microsoft.com/office/drawing/2014/main" id="{EEDA79FA-EB9C-456E-AFFE-CEFE4C945952}"/>
              </a:ext>
            </a:extLst>
          </p:cNvPr>
          <p:cNvSpPr>
            <a:spLocks xmlns:a="http://schemas.openxmlformats.org/drawingml/2006/main" noGrp="1"/>
          </p:cNvSpPr>
          <p:nvPr/>
        </p:nvSpPr>
        <p:spPr>
          <a:xfrm xmlns:a="http://schemas.openxmlformats.org/drawingml/2006/main">
            <a:off x="628650" y="1409700"/>
            <a:ext cx="3333750" cy="266700"/>
          </a:xfrm>
          <a:prstGeom xmlns:a="http://schemas.openxmlformats.org/drawingml/2006/main" prst="roundRect">
            <a:avLst>
              <a:gd name="adj" fmla="val 50000"/>
            </a:avLst>
          </a:prstGeom>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C140D5F-3511-419A-9EB1-E91F711B420D}"/>
              </a:ext>
            </a:extLst>
          </p:cNvPr>
          <p:cNvSpPr>
            <a:spLocks xmlns:a="http://schemas.openxmlformats.org/drawingml/2006/main" noGrp="1"/>
          </p:cNvSpPr>
          <p:nvPr/>
        </p:nvSpPr>
        <p:spPr>
          <a:xfrm xmlns:a="http://schemas.openxmlformats.org/drawingml/2006/main">
            <a:off x="762000" y="1476375"/>
            <a:ext cx="3067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FFCE73"/>
                </a:solidFill>
              </a:defRPr>
            </a:defPPr>
          </a:lstStyle>
          <a:p xmlns:a="http://schemas.openxmlformats.org/drawingml/2006/main">
            <a:pPr>
              <a:defRPr sz="825" b="1" i="0">
                <a:solidFill>
                  <a:srgbClr val="FFCE73"/>
                </a:solidFill>
              </a:defRPr>
            </a:pPr>
            <a:r>
              <a:rPr sz="825" b="1" i="0">
                <a:solidFill>
                  <a:srgbClr val="FFCE73"/>
                </a:solidFill>
              </a:rPr>
              <a:t>SCREENSHOTS SHOW SYNTHETIC DEMO READINGS</a:t>
            </a:r>
          </a:p>
        </p:txBody>
      </p:sp>
      <p:pic>
        <p:nvPicPr>
          <p:cNvPr id="6" name="">
            <a:extLst xmlns:a="http://schemas.openxmlformats.org/drawingml/2006/main">
              <a:ext uri="{FF2B5EF4-FFF2-40B4-BE49-F238E27FC236}">
                <a16:creationId xmlns:a16="http://schemas.microsoft.com/office/drawing/2014/main" id="{2B38D543-E0C5-43F7-80C7-D6EBF76BDCE3}"/>
              </a:ext>
            </a:extLst>
          </p:cNvPr>
          <p:cNvPicPr>
            <a:picLocks xmlns:a="http://schemas.openxmlformats.org/drawingml/2006/main" noChangeAspect="1"/>
          </p:cNvPicPr>
          <p:nvPr/>
        </p:nvPicPr>
        <p:blipFill>
          <a:blip xmlns:r="http://schemas.openxmlformats.org/officeDocument/2006/relationships" xmlns:a="http://schemas.openxmlformats.org/drawingml/2006/main" r:embed="R80e29a3f9b664eb3"/>
          <a:srcRect xmlns:a="http://schemas.openxmlformats.org/drawingml/2006/main" l="6000" t="5000" r="6000" b="3000"/>
          <a:stretch xmlns:a="http://schemas.openxmlformats.org/drawingml/2006/main"/>
        </p:blipFill>
        <p:spPr>
          <a:xfrm xmlns:a="http://schemas.openxmlformats.org/drawingml/2006/main">
            <a:off x="609600" y="1714500"/>
            <a:ext cx="3333750" cy="4229100"/>
          </a:xfrm>
          <a:prstGeom xmlns:a="http://schemas.openxmlformats.org/drawingml/2006/main" prst="roundRect">
            <a:avLst>
              <a:gd name="adj" fmla="val 6857"/>
            </a:avLst>
          </a:prstGeom>
        </p:spPr>
      </p:pic>
      <p:pic>
        <p:nvPicPr>
          <p:cNvPr id="7" name="">
            <a:extLst xmlns:a="http://schemas.openxmlformats.org/drawingml/2006/main">
              <a:ext uri="{FF2B5EF4-FFF2-40B4-BE49-F238E27FC236}">
                <a16:creationId xmlns:a16="http://schemas.microsoft.com/office/drawing/2014/main" id="{29A49448-C1D1-40B9-9B84-A85FE1584FC2}"/>
              </a:ext>
            </a:extLst>
          </p:cNvPr>
          <p:cNvPicPr>
            <a:picLocks xmlns:a="http://schemas.openxmlformats.org/drawingml/2006/main" noChangeAspect="1"/>
          </p:cNvPicPr>
          <p:nvPr/>
        </p:nvPicPr>
        <p:blipFill>
          <a:blip xmlns:r="http://schemas.openxmlformats.org/officeDocument/2006/relationships" xmlns:a="http://schemas.openxmlformats.org/drawingml/2006/main" r:embed="Rf250351f53bc417c"/>
          <a:srcRect xmlns:a="http://schemas.openxmlformats.org/drawingml/2006/main" l="8000" t="3000" r="4000" b="5000"/>
          <a:stretch xmlns:a="http://schemas.openxmlformats.org/drawingml/2006/main"/>
        </p:blipFill>
        <p:spPr>
          <a:xfrm xmlns:a="http://schemas.openxmlformats.org/drawingml/2006/main">
            <a:off x="4286250" y="1714500"/>
            <a:ext cx="3333750" cy="4229100"/>
          </a:xfrm>
          <a:prstGeom xmlns:a="http://schemas.openxmlformats.org/drawingml/2006/main" prst="roundRect">
            <a:avLst>
              <a:gd name="adj" fmla="val 6857"/>
            </a:avLst>
          </a:prstGeom>
        </p:spPr>
      </p:pic>
      <p:pic>
        <p:nvPicPr>
          <p:cNvPr id="8" name="">
            <a:extLst xmlns:a="http://schemas.openxmlformats.org/drawingml/2006/main">
              <a:ext uri="{FF2B5EF4-FFF2-40B4-BE49-F238E27FC236}">
                <a16:creationId xmlns:a16="http://schemas.microsoft.com/office/drawing/2014/main" id="{693F55DA-936A-43CB-A61D-91A126597C83}"/>
              </a:ext>
            </a:extLst>
          </p:cNvPr>
          <p:cNvPicPr>
            <a:picLocks xmlns:a="http://schemas.openxmlformats.org/drawingml/2006/main" noChangeAspect="1"/>
          </p:cNvPicPr>
          <p:nvPr/>
        </p:nvPicPr>
        <p:blipFill>
          <a:blip xmlns:r="http://schemas.openxmlformats.org/officeDocument/2006/relationships" xmlns:a="http://schemas.openxmlformats.org/drawingml/2006/main" r:embed="R25e65d7f88154d86"/>
          <a:srcRect xmlns:a="http://schemas.openxmlformats.org/drawingml/2006/main" l="5000" t="3000" r="4000" b="5000"/>
          <a:stretch xmlns:a="http://schemas.openxmlformats.org/drawingml/2006/main"/>
        </p:blipFill>
        <p:spPr>
          <a:xfrm xmlns:a="http://schemas.openxmlformats.org/drawingml/2006/main">
            <a:off x="7962900" y="1714500"/>
            <a:ext cx="3619500" cy="4229100"/>
          </a:xfrm>
          <a:prstGeom xmlns:a="http://schemas.openxmlformats.org/drawingml/2006/main" prst="roundRect">
            <a:avLst>
              <a:gd name="adj" fmla="val 6316"/>
            </a:avLst>
          </a:prstGeom>
        </p:spPr>
      </p:pic>
      <p:sp>
        <p:nvSpPr>
          <p:cNvPr id="9" name="">
            <a:extLst xmlns:a="http://schemas.openxmlformats.org/drawingml/2006/main">
              <a:ext uri="{FF2B5EF4-FFF2-40B4-BE49-F238E27FC236}">
                <a16:creationId xmlns:a16="http://schemas.microsoft.com/office/drawing/2014/main" id="{2368EECB-3A1E-44BC-B738-B1A16A712D93}"/>
              </a:ext>
            </a:extLst>
          </p:cNvPr>
          <p:cNvSpPr>
            <a:spLocks xmlns:a="http://schemas.openxmlformats.org/drawingml/2006/main" noGrp="1"/>
          </p:cNvSpPr>
          <p:nvPr/>
        </p:nvSpPr>
        <p:spPr>
          <a:xfrm xmlns:a="http://schemas.openxmlformats.org/drawingml/2006/main">
            <a:off x="742950" y="61531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900" b="1" i="0">
                <a:solidFill>
                  <a:srgbClr val="174C3F"/>
                </a:solidFill>
              </a:defRPr>
            </a:defPPr>
          </a:lstStyle>
          <a:p xmlns:a="http://schemas.openxmlformats.org/drawingml/2006/main">
            <a:pPr>
              <a:defRPr sz="900" b="1" i="0">
                <a:solidFill>
                  <a:srgbClr val="174C3F"/>
                </a:solidFill>
              </a:defRPr>
            </a:pPr>
            <a:r>
              <a:rPr sz="900" b="1" i="0">
                <a:solidFill>
                  <a:srgbClr val="174C3F"/>
                </a:solidFill>
              </a:rPr>
              <a:t>CONSENT</a:t>
            </a:r>
          </a:p>
        </p:txBody>
      </p:sp>
      <p:sp>
        <p:nvSpPr>
          <p:cNvPr id="10" name="">
            <a:extLst xmlns:a="http://schemas.openxmlformats.org/drawingml/2006/main">
              <a:ext uri="{FF2B5EF4-FFF2-40B4-BE49-F238E27FC236}">
                <a16:creationId xmlns:a16="http://schemas.microsoft.com/office/drawing/2014/main" id="{DF17AF54-A556-4780-81A5-D088786613BE}"/>
              </a:ext>
            </a:extLst>
          </p:cNvPr>
          <p:cNvSpPr>
            <a:spLocks xmlns:a="http://schemas.openxmlformats.org/drawingml/2006/main" noGrp="1"/>
          </p:cNvSpPr>
          <p:nvPr/>
        </p:nvSpPr>
        <p:spPr>
          <a:xfrm xmlns:a="http://schemas.openxmlformats.org/drawingml/2006/main">
            <a:off x="4419600" y="6153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900" b="1" i="0">
                <a:solidFill>
                  <a:srgbClr val="174C3F"/>
                </a:solidFill>
              </a:defRPr>
            </a:defPPr>
          </a:lstStyle>
          <a:p xmlns:a="http://schemas.openxmlformats.org/drawingml/2006/main">
            <a:pPr>
              <a:defRPr sz="900" b="1" i="0">
                <a:solidFill>
                  <a:srgbClr val="174C3F"/>
                </a:solidFill>
              </a:defRPr>
            </a:pPr>
            <a:r>
              <a:rPr sz="900" b="1" i="0">
                <a:solidFill>
                  <a:srgbClr val="174C3F"/>
                </a:solidFill>
              </a:rPr>
              <a:t>OBSERVATIONS</a:t>
            </a:r>
          </a:p>
        </p:txBody>
      </p:sp>
      <p:sp>
        <p:nvSpPr>
          <p:cNvPr id="11" name="">
            <a:extLst xmlns:a="http://schemas.openxmlformats.org/drawingml/2006/main">
              <a:ext uri="{FF2B5EF4-FFF2-40B4-BE49-F238E27FC236}">
                <a16:creationId xmlns:a16="http://schemas.microsoft.com/office/drawing/2014/main" id="{DE87605D-5D9B-4DCC-8E3F-B92DD03C2364}"/>
              </a:ext>
            </a:extLst>
          </p:cNvPr>
          <p:cNvSpPr>
            <a:spLocks xmlns:a="http://schemas.openxmlformats.org/drawingml/2006/main" noGrp="1"/>
          </p:cNvSpPr>
          <p:nvPr/>
        </p:nvSpPr>
        <p:spPr>
          <a:xfrm xmlns:a="http://schemas.openxmlformats.org/drawingml/2006/main">
            <a:off x="8096250" y="61531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900" b="1" i="0">
                <a:solidFill>
                  <a:srgbClr val="174C3F"/>
                </a:solidFill>
              </a:defRPr>
            </a:defPPr>
          </a:lstStyle>
          <a:p xmlns:a="http://schemas.openxmlformats.org/drawingml/2006/main">
            <a:pPr>
              <a:defRPr sz="900" b="1" i="0">
                <a:solidFill>
                  <a:srgbClr val="174C3F"/>
                </a:solidFill>
              </a:defRPr>
            </a:pPr>
            <a:r>
              <a:rPr sz="900" b="1" i="0">
                <a:solidFill>
                  <a:srgbClr val="174C3F"/>
                </a:solidFill>
              </a:rPr>
              <a:t>CONTEXT</a:t>
            </a:r>
          </a:p>
        </p:txBody>
      </p:sp>
    </p:spTree>
    <p:extLst>
      <p:ext uri="{BB962C8B-B14F-4D97-AF65-F5344CB8AC3E}">
        <p14:creationId xmlns:p14="http://schemas.microsoft.com/office/powerpoint/2010/main" val="17863219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584FA5B-0A18-42F0-A059-D9EB5C2E4A83}"/>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65786F"/>
                </a:solidFill>
              </a:defRPr>
            </a:defPPr>
          </a:lstStyle>
          <a:p xmlns:a="http://schemas.openxmlformats.org/drawingml/2006/main">
            <a:pPr>
              <a:defRPr sz="825" b="1" i="0">
                <a:solidFill>
                  <a:srgbClr val="65786F"/>
                </a:solidFill>
              </a:defRPr>
            </a:pPr>
            <a:r>
              <a:rPr sz="825" b="1" i="0">
                <a:solidFill>
                  <a:srgbClr val="65786F"/>
                </a:solidFill>
              </a:rPr>
              <a:t>05</a:t>
            </a:r>
          </a:p>
        </p:txBody>
      </p:sp>
      <p:sp>
        <p:nvSpPr>
          <p:cNvPr id="2" name="">
            <a:extLst xmlns:a="http://schemas.openxmlformats.org/drawingml/2006/main">
              <a:ext uri="{FF2B5EF4-FFF2-40B4-BE49-F238E27FC236}">
                <a16:creationId xmlns:a16="http://schemas.microsoft.com/office/drawing/2014/main" id="{48AF6254-02C2-46FB-BB15-ECA99BF0BBE0}"/>
              </a:ext>
            </a:extLst>
          </p:cNvPr>
          <p:cNvSpPr>
            <a:spLocks xmlns:a="http://schemas.openxmlformats.org/drawingml/2006/main" noGrp="1"/>
          </p:cNvSpPr>
          <p:nvPr/>
        </p:nvSpPr>
        <p:spPr>
          <a:xfrm xmlns:a="http://schemas.openxmlformats.org/drawingml/2006/main">
            <a:off x="609600" y="4572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0B302A"/>
                </a:solidFill>
              </a:defRPr>
            </a:defPPr>
          </a:lstStyle>
          <a:p xmlns:a="http://schemas.openxmlformats.org/drawingml/2006/main">
            <a:pPr>
              <a:defRPr sz="2550" b="1" i="0">
                <a:solidFill>
                  <a:srgbClr val="0B302A"/>
                </a:solidFill>
              </a:defRPr>
            </a:pPr>
            <a:r>
              <a:rPr sz="2550" b="1" i="0">
                <a:solidFill>
                  <a:srgbClr val="0B302A"/>
                </a:solidFill>
              </a:rPr>
              <a:t>A rest request becomes coordinated action</a:t>
            </a:r>
          </a:p>
        </p:txBody>
      </p:sp>
      <p:sp>
        <p:nvSpPr>
          <p:cNvPr id="3" name="">
            <a:extLst xmlns:a="http://schemas.openxmlformats.org/drawingml/2006/main">
              <a:ext uri="{FF2B5EF4-FFF2-40B4-BE49-F238E27FC236}">
                <a16:creationId xmlns:a16="http://schemas.microsoft.com/office/drawing/2014/main" id="{D445080A-FE2B-4BA9-8B02-88FB7EB27344}"/>
              </a:ext>
            </a:extLst>
          </p:cNvPr>
          <p:cNvSpPr>
            <a:spLocks xmlns:a="http://schemas.openxmlformats.org/drawingml/2006/main" noGrp="1"/>
          </p:cNvSpPr>
          <p:nvPr/>
        </p:nvSpPr>
        <p:spPr>
          <a:xfrm xmlns:a="http://schemas.openxmlformats.org/drawingml/2006/main">
            <a:off x="628650" y="1047750"/>
            <a:ext cx="8763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425" b="0" i="0">
                <a:solidFill>
                  <a:srgbClr val="65786F"/>
                </a:solidFill>
              </a:defRPr>
            </a:defPPr>
          </a:lstStyle>
          <a:p xmlns:a="http://schemas.openxmlformats.org/drawingml/2006/main">
            <a:pPr>
              <a:defRPr sz="1425" b="0" i="0">
                <a:solidFill>
                  <a:srgbClr val="65786F"/>
                </a:solidFill>
              </a:defRPr>
            </a:pPr>
            <a:r>
              <a:rPr sz="1425" b="0" i="0">
                <a:solidFill>
                  <a:srgbClr val="65786F"/>
                </a:solidFill>
              </a:rPr>
              <a:t>The protected break remains fixed. Additional rest becomes a separate request that a supervisor can review and staff around.</a:t>
            </a:r>
          </a:p>
        </p:txBody>
      </p:sp>
      <p:sp>
        <p:nvSpPr>
          <p:cNvPr id="4" name="">
            <a:extLst xmlns:a="http://schemas.openxmlformats.org/drawingml/2006/main">
              <a:ext uri="{FF2B5EF4-FFF2-40B4-BE49-F238E27FC236}">
                <a16:creationId xmlns:a16="http://schemas.microsoft.com/office/drawing/2014/main" id="{4A062DDF-51E7-446A-B76E-46C232186130}"/>
              </a:ext>
            </a:extLst>
          </p:cNvPr>
          <p:cNvSpPr>
            <a:spLocks xmlns:a="http://schemas.openxmlformats.org/drawingml/2006/main" noGrp="1"/>
          </p:cNvSpPr>
          <p:nvPr/>
        </p:nvSpPr>
        <p:spPr>
          <a:xfrm xmlns:a="http://schemas.openxmlformats.org/drawingml/2006/main">
            <a:off x="685800" y="213360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00" b="1" i="0">
                <a:solidFill>
                  <a:srgbClr val="0B302A"/>
                </a:solidFill>
              </a:defRPr>
            </a:defPPr>
          </a:lstStyle>
          <a:p xmlns:a="http://schemas.openxmlformats.org/drawingml/2006/main">
            <a:pPr>
              <a:defRPr sz="1200" b="1" i="0">
                <a:solidFill>
                  <a:srgbClr val="0B302A"/>
                </a:solidFill>
              </a:defRPr>
            </a:pPr>
            <a:r>
              <a:rPr sz="1200" b="1" i="0">
                <a:solidFill>
                  <a:srgbClr val="0B302A"/>
                </a:solidFill>
              </a:rPr>
              <a:t>01</a:t>
            </a:r>
          </a:p>
        </p:txBody>
      </p:sp>
      <p:sp>
        <p:nvSpPr>
          <p:cNvPr id="5" name="">
            <a:extLst xmlns:a="http://schemas.openxmlformats.org/drawingml/2006/main">
              <a:ext uri="{FF2B5EF4-FFF2-40B4-BE49-F238E27FC236}">
                <a16:creationId xmlns:a16="http://schemas.microsoft.com/office/drawing/2014/main" id="{062EE422-5A86-4227-9318-307D1ED4ACF2}"/>
              </a:ext>
            </a:extLst>
          </p:cNvPr>
          <p:cNvSpPr>
            <a:spLocks xmlns:a="http://schemas.openxmlformats.org/drawingml/2006/main" noGrp="1"/>
          </p:cNvSpPr>
          <p:nvPr/>
        </p:nvSpPr>
        <p:spPr>
          <a:xfrm xmlns:a="http://schemas.openxmlformats.org/drawingml/2006/main">
            <a:off x="685800" y="2533650"/>
            <a:ext cx="1352550" cy="47625"/>
          </a:xfrm>
          <a:prstGeom xmlns:a="http://schemas.openxmlformats.org/drawingml/2006/main" prst="roundRect">
            <a:avLst>
              <a:gd name="adj" fmla="val 40000"/>
            </a:avLst>
          </a:prstGeom>
          <a:solidFill xmlns:a="http://schemas.openxmlformats.org/drawingml/2006/main">
            <a:srgbClr val="C9FF6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E2207B-7CBB-4AA0-92B5-A8F126580E0B}"/>
              </a:ext>
            </a:extLst>
          </p:cNvPr>
          <p:cNvSpPr>
            <a:spLocks xmlns:a="http://schemas.openxmlformats.org/drawingml/2006/main" noGrp="1"/>
          </p:cNvSpPr>
          <p:nvPr/>
        </p:nvSpPr>
        <p:spPr>
          <a:xfrm xmlns:a="http://schemas.openxmlformats.org/drawingml/2006/main">
            <a:off x="685800" y="2781300"/>
            <a:ext cx="152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1" i="0">
                <a:solidFill>
                  <a:srgbClr val="0B302A"/>
                </a:solidFill>
              </a:defRPr>
            </a:defPPr>
          </a:lstStyle>
          <a:p xmlns:a="http://schemas.openxmlformats.org/drawingml/2006/main">
            <a:pPr>
              <a:defRPr sz="1650" b="1" i="0">
                <a:solidFill>
                  <a:srgbClr val="0B302A"/>
                </a:solidFill>
              </a:defRPr>
            </a:pPr>
            <a:r>
              <a:rPr sz="1650" b="1" i="0">
                <a:solidFill>
                  <a:srgbClr val="0B302A"/>
                </a:solidFill>
              </a:rPr>
              <a:t>Worker asks</a:t>
            </a:r>
          </a:p>
        </p:txBody>
      </p:sp>
      <p:sp>
        <p:nvSpPr>
          <p:cNvPr id="7" name="">
            <a:extLst xmlns:a="http://schemas.openxmlformats.org/drawingml/2006/main">
              <a:ext uri="{FF2B5EF4-FFF2-40B4-BE49-F238E27FC236}">
                <a16:creationId xmlns:a16="http://schemas.microsoft.com/office/drawing/2014/main" id="{3E1A957E-63DF-4E30-9404-8C93AAEFECCE}"/>
              </a:ext>
            </a:extLst>
          </p:cNvPr>
          <p:cNvSpPr>
            <a:spLocks xmlns:a="http://schemas.openxmlformats.org/drawingml/2006/main" noGrp="1"/>
          </p:cNvSpPr>
          <p:nvPr/>
        </p:nvSpPr>
        <p:spPr>
          <a:xfrm xmlns:a="http://schemas.openxmlformats.org/drawingml/2006/main">
            <a:off x="2495550" y="213360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00" b="1" i="0">
                <a:solidFill>
                  <a:srgbClr val="0B302A"/>
                </a:solidFill>
              </a:defRPr>
            </a:defPPr>
          </a:lstStyle>
          <a:p xmlns:a="http://schemas.openxmlformats.org/drawingml/2006/main">
            <a:pPr>
              <a:defRPr sz="1200" b="1" i="0">
                <a:solidFill>
                  <a:srgbClr val="0B302A"/>
                </a:solidFill>
              </a:defRPr>
            </a:pPr>
            <a:r>
              <a:rPr sz="1200" b="1" i="0">
                <a:solidFill>
                  <a:srgbClr val="0B302A"/>
                </a:solidFill>
              </a:rPr>
              <a:t>02</a:t>
            </a:r>
          </a:p>
        </p:txBody>
      </p:sp>
      <p:sp>
        <p:nvSpPr>
          <p:cNvPr id="8" name="">
            <a:extLst xmlns:a="http://schemas.openxmlformats.org/drawingml/2006/main">
              <a:ext uri="{FF2B5EF4-FFF2-40B4-BE49-F238E27FC236}">
                <a16:creationId xmlns:a16="http://schemas.microsoft.com/office/drawing/2014/main" id="{31AF8698-21F5-4A06-B295-33FDC57B1EAC}"/>
              </a:ext>
            </a:extLst>
          </p:cNvPr>
          <p:cNvSpPr>
            <a:spLocks xmlns:a="http://schemas.openxmlformats.org/drawingml/2006/main" noGrp="1"/>
          </p:cNvSpPr>
          <p:nvPr/>
        </p:nvSpPr>
        <p:spPr>
          <a:xfrm xmlns:a="http://schemas.openxmlformats.org/drawingml/2006/main">
            <a:off x="2495550" y="2533650"/>
            <a:ext cx="1352550" cy="47625"/>
          </a:xfrm>
          <a:prstGeom xmlns:a="http://schemas.openxmlformats.org/drawingml/2006/main" prst="roundRect">
            <a:avLst>
              <a:gd name="adj" fmla="val 40000"/>
            </a:avLst>
          </a:prstGeom>
          <a:solidFill xmlns:a="http://schemas.openxmlformats.org/drawingml/2006/main">
            <a:srgbClr val="FFCE7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9B59D19-31C8-42FE-B911-C0DC4AA8EA87}"/>
              </a:ext>
            </a:extLst>
          </p:cNvPr>
          <p:cNvSpPr>
            <a:spLocks xmlns:a="http://schemas.openxmlformats.org/drawingml/2006/main" noGrp="1"/>
          </p:cNvSpPr>
          <p:nvPr/>
        </p:nvSpPr>
        <p:spPr>
          <a:xfrm xmlns:a="http://schemas.openxmlformats.org/drawingml/2006/main">
            <a:off x="2495550" y="2781300"/>
            <a:ext cx="152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1" i="0">
                <a:solidFill>
                  <a:srgbClr val="0B302A"/>
                </a:solidFill>
              </a:defRPr>
            </a:defPPr>
          </a:lstStyle>
          <a:p xmlns:a="http://schemas.openxmlformats.org/drawingml/2006/main">
            <a:pPr>
              <a:defRPr sz="1650" b="1" i="0">
                <a:solidFill>
                  <a:srgbClr val="0B302A"/>
                </a:solidFill>
              </a:defRPr>
            </a:pPr>
            <a:r>
              <a:rPr sz="1650" b="1" i="0">
                <a:solidFill>
                  <a:srgbClr val="0B302A"/>
                </a:solidFill>
              </a:rPr>
              <a:t>Supervisor approves</a:t>
            </a:r>
          </a:p>
        </p:txBody>
      </p:sp>
      <p:sp>
        <p:nvSpPr>
          <p:cNvPr id="10" name="">
            <a:extLst xmlns:a="http://schemas.openxmlformats.org/drawingml/2006/main">
              <a:ext uri="{FF2B5EF4-FFF2-40B4-BE49-F238E27FC236}">
                <a16:creationId xmlns:a16="http://schemas.microsoft.com/office/drawing/2014/main" id="{ACE6425B-A3AF-4AAA-A20C-FA9BF68A436B}"/>
              </a:ext>
            </a:extLst>
          </p:cNvPr>
          <p:cNvSpPr>
            <a:spLocks xmlns:a="http://schemas.openxmlformats.org/drawingml/2006/main" noGrp="1"/>
          </p:cNvSpPr>
          <p:nvPr/>
        </p:nvSpPr>
        <p:spPr>
          <a:xfrm xmlns:a="http://schemas.openxmlformats.org/drawingml/2006/main">
            <a:off x="4305300" y="213360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00" b="1" i="0">
                <a:solidFill>
                  <a:srgbClr val="0B302A"/>
                </a:solidFill>
              </a:defRPr>
            </a:defPPr>
          </a:lstStyle>
          <a:p xmlns:a="http://schemas.openxmlformats.org/drawingml/2006/main">
            <a:pPr>
              <a:defRPr sz="1200" b="1" i="0">
                <a:solidFill>
                  <a:srgbClr val="0B302A"/>
                </a:solidFill>
              </a:defRPr>
            </a:pPr>
            <a:r>
              <a:rPr sz="1200" b="1" i="0">
                <a:solidFill>
                  <a:srgbClr val="0B302A"/>
                </a:solidFill>
              </a:rPr>
              <a:t>03</a:t>
            </a:r>
          </a:p>
        </p:txBody>
      </p:sp>
      <p:sp>
        <p:nvSpPr>
          <p:cNvPr id="11" name="">
            <a:extLst xmlns:a="http://schemas.openxmlformats.org/drawingml/2006/main">
              <a:ext uri="{FF2B5EF4-FFF2-40B4-BE49-F238E27FC236}">
                <a16:creationId xmlns:a16="http://schemas.microsoft.com/office/drawing/2014/main" id="{8FD188E6-53C6-4D09-9DE2-90A6C7CD23C3}"/>
              </a:ext>
            </a:extLst>
          </p:cNvPr>
          <p:cNvSpPr>
            <a:spLocks xmlns:a="http://schemas.openxmlformats.org/drawingml/2006/main" noGrp="1"/>
          </p:cNvSpPr>
          <p:nvPr/>
        </p:nvSpPr>
        <p:spPr>
          <a:xfrm xmlns:a="http://schemas.openxmlformats.org/drawingml/2006/main">
            <a:off x="4305300" y="2533650"/>
            <a:ext cx="1352550" cy="47625"/>
          </a:xfrm>
          <a:prstGeom xmlns:a="http://schemas.openxmlformats.org/drawingml/2006/main" prst="roundRect">
            <a:avLst>
              <a:gd name="adj" fmla="val 40000"/>
            </a:avLst>
          </a:prstGeom>
          <a:solidFill xmlns:a="http://schemas.openxmlformats.org/drawingml/2006/main">
            <a:srgbClr val="C9FF6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6345142-13D3-4016-9B6C-A26DD014E767}"/>
              </a:ext>
            </a:extLst>
          </p:cNvPr>
          <p:cNvSpPr>
            <a:spLocks xmlns:a="http://schemas.openxmlformats.org/drawingml/2006/main" noGrp="1"/>
          </p:cNvSpPr>
          <p:nvPr/>
        </p:nvSpPr>
        <p:spPr>
          <a:xfrm xmlns:a="http://schemas.openxmlformats.org/drawingml/2006/main">
            <a:off x="4305300" y="2781300"/>
            <a:ext cx="152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1" i="0">
                <a:solidFill>
                  <a:srgbClr val="0B302A"/>
                </a:solidFill>
              </a:defRPr>
            </a:defPPr>
          </a:lstStyle>
          <a:p xmlns:a="http://schemas.openxmlformats.org/drawingml/2006/main">
            <a:pPr>
              <a:defRPr sz="1650" b="1" i="0">
                <a:solidFill>
                  <a:srgbClr val="0B302A"/>
                </a:solidFill>
              </a:defRPr>
            </a:pPr>
            <a:r>
              <a:rPr sz="1650" b="1" i="0">
                <a:solidFill>
                  <a:srgbClr val="0B302A"/>
                </a:solidFill>
              </a:rPr>
              <a:t>Coverage updates</a:t>
            </a:r>
          </a:p>
        </p:txBody>
      </p:sp>
      <p:sp>
        <p:nvSpPr>
          <p:cNvPr id="13" name="">
            <a:extLst xmlns:a="http://schemas.openxmlformats.org/drawingml/2006/main">
              <a:ext uri="{FF2B5EF4-FFF2-40B4-BE49-F238E27FC236}">
                <a16:creationId xmlns:a16="http://schemas.microsoft.com/office/drawing/2014/main" id="{A82E4E99-A8AB-44C7-8381-089C200692AE}"/>
              </a:ext>
            </a:extLst>
          </p:cNvPr>
          <p:cNvSpPr>
            <a:spLocks xmlns:a="http://schemas.openxmlformats.org/drawingml/2006/main" noGrp="1"/>
          </p:cNvSpPr>
          <p:nvPr/>
        </p:nvSpPr>
        <p:spPr>
          <a:xfrm xmlns:a="http://schemas.openxmlformats.org/drawingml/2006/main">
            <a:off x="685800" y="44767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75" b="1" i="0">
                <a:solidFill>
                  <a:srgbClr val="0B302A"/>
                </a:solidFill>
              </a:defRPr>
            </a:defPPr>
          </a:lstStyle>
          <a:p xmlns:a="http://schemas.openxmlformats.org/drawingml/2006/main">
            <a:pPr>
              <a:defRPr sz="2175" b="1" i="0">
                <a:solidFill>
                  <a:srgbClr val="0B302A"/>
                </a:solidFill>
              </a:defRPr>
            </a:pPr>
            <a:r>
              <a:rPr sz="2175" b="1" i="0">
                <a:solidFill>
                  <a:srgbClr val="0B302A"/>
                </a:solidFill>
              </a:rPr>
              <a:t>Protected time is a constraint, not a suggestion.</a:t>
            </a:r>
          </a:p>
        </p:txBody>
      </p:sp>
      <p:pic>
        <p:nvPicPr>
          <p:cNvPr id="14" name="">
            <a:extLst xmlns:a="http://schemas.openxmlformats.org/drawingml/2006/main">
              <a:ext uri="{FF2B5EF4-FFF2-40B4-BE49-F238E27FC236}">
                <a16:creationId xmlns:a16="http://schemas.microsoft.com/office/drawing/2014/main" id="{7177CA9E-0491-4285-9CB6-F8F9F435B3EF}"/>
              </a:ext>
            </a:extLst>
          </p:cNvPr>
          <p:cNvPicPr>
            <a:picLocks xmlns:a="http://schemas.openxmlformats.org/drawingml/2006/main" noChangeAspect="1"/>
          </p:cNvPicPr>
          <p:nvPr/>
        </p:nvPicPr>
        <p:blipFill>
          <a:blip xmlns:r="http://schemas.openxmlformats.org/officeDocument/2006/relationships" xmlns:a="http://schemas.openxmlformats.org/drawingml/2006/main" r:embed="Rd133106b111c402b"/>
          <a:srcRect xmlns:a="http://schemas.openxmlformats.org/drawingml/2006/main" l="10000" t="8000" r="2000" b="2000"/>
          <a:stretch xmlns:a="http://schemas.openxmlformats.org/drawingml/2006/main"/>
        </p:blipFill>
        <p:spPr>
          <a:xfrm xmlns:a="http://schemas.openxmlformats.org/drawingml/2006/main">
            <a:off x="6191250" y="1790700"/>
            <a:ext cx="5391150" cy="4267200"/>
          </a:xfrm>
          <a:prstGeom xmlns:a="http://schemas.openxmlformats.org/drawingml/2006/main" prst="roundRect">
            <a:avLst>
              <a:gd name="adj" fmla="val 5357"/>
            </a:avLst>
          </a:prstGeom>
        </p:spPr>
      </p:pic>
    </p:spTree>
    <p:extLst>
      <p:ext uri="{BB962C8B-B14F-4D97-AF65-F5344CB8AC3E}">
        <p14:creationId xmlns:p14="http://schemas.microsoft.com/office/powerpoint/2010/main" val="2096713321"/>
      </p:ext>
    </p:extLst>
  </p:cSld>
</p:sld>
</file>

<file path=ppt/slides/slide6.xml><?xml version="1.0" encoding="utf-8"?>
<p:sld xmlns:p="http://schemas.openxmlformats.org/presentationml/2006/main">
  <p:cSld>
    <p:bg>
      <p:bgPr>
        <a:solidFill xmlns:a="http://schemas.openxmlformats.org/drawingml/2006/main">
          <a:srgbClr val="0B302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3C8B912-3E1E-41BD-9415-25AB45129434}"/>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DDE9E4"/>
                </a:solidFill>
              </a:defRPr>
            </a:defPPr>
          </a:lstStyle>
          <a:p xmlns:a="http://schemas.openxmlformats.org/drawingml/2006/main">
            <a:pPr>
              <a:defRPr sz="825" b="1" i="0">
                <a:solidFill>
                  <a:srgbClr val="DDE9E4"/>
                </a:solidFill>
              </a:defRPr>
            </a:pPr>
            <a:r>
              <a:rPr sz="825" b="1" i="0">
                <a:solidFill>
                  <a:srgbClr val="DDE9E4"/>
                </a:solidFill>
              </a:rPr>
              <a:t>06</a:t>
            </a:r>
          </a:p>
        </p:txBody>
      </p:sp>
      <p:sp>
        <p:nvSpPr>
          <p:cNvPr id="2" name="">
            <a:extLst xmlns:a="http://schemas.openxmlformats.org/drawingml/2006/main">
              <a:ext uri="{FF2B5EF4-FFF2-40B4-BE49-F238E27FC236}">
                <a16:creationId xmlns:a16="http://schemas.microsoft.com/office/drawing/2014/main" id="{2E3CEA5F-92F7-43D4-BCF4-184256F60043}"/>
              </a:ext>
            </a:extLst>
          </p:cNvPr>
          <p:cNvSpPr>
            <a:spLocks xmlns:a="http://schemas.openxmlformats.org/drawingml/2006/main" noGrp="1"/>
          </p:cNvSpPr>
          <p:nvPr/>
        </p:nvSpPr>
        <p:spPr>
          <a:xfrm xmlns:a="http://schemas.openxmlformats.org/drawingml/2006/main">
            <a:off x="609600" y="457200"/>
            <a:ext cx="8096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FFFFFF"/>
                </a:solidFill>
              </a:defRPr>
            </a:defPPr>
          </a:lstStyle>
          <a:p xmlns:a="http://schemas.openxmlformats.org/drawingml/2006/main">
            <a:pPr>
              <a:defRPr sz="2550" b="1" i="0">
                <a:solidFill>
                  <a:srgbClr val="FFFFFF"/>
                </a:solidFill>
              </a:defRPr>
            </a:pPr>
            <a:r>
              <a:rPr sz="2550" b="1" i="0">
                <a:solidFill>
                  <a:srgbClr val="FFFFFF"/>
                </a:solidFill>
              </a:rPr>
              <a:t>Every integration has one clear job</a:t>
            </a:r>
          </a:p>
        </p:txBody>
      </p:sp>
      <p:sp>
        <p:nvSpPr>
          <p:cNvPr id="3" name="">
            <a:extLst xmlns:a="http://schemas.openxmlformats.org/drawingml/2006/main">
              <a:ext uri="{FF2B5EF4-FFF2-40B4-BE49-F238E27FC236}">
                <a16:creationId xmlns:a16="http://schemas.microsoft.com/office/drawing/2014/main" id="{6A1B03C1-09D6-409B-9891-34453FCF101D}"/>
              </a:ext>
            </a:extLst>
          </p:cNvPr>
          <p:cNvSpPr>
            <a:spLocks xmlns:a="http://schemas.openxmlformats.org/drawingml/2006/main" noGrp="1"/>
          </p:cNvSpPr>
          <p:nvPr/>
        </p:nvSpPr>
        <p:spPr>
          <a:xfrm xmlns:a="http://schemas.openxmlformats.org/drawingml/2006/main">
            <a:off x="628650" y="106680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DDE9E4"/>
                </a:solidFill>
              </a:defRPr>
            </a:defPPr>
          </a:lstStyle>
          <a:p xmlns:a="http://schemas.openxmlformats.org/drawingml/2006/main">
            <a:pPr>
              <a:defRPr sz="1350" b="0" i="0">
                <a:solidFill>
                  <a:srgbClr val="DDE9E4"/>
                </a:solidFill>
              </a:defRPr>
            </a:pPr>
            <a:r>
              <a:rPr sz="1350" b="0" i="0">
                <a:solidFill>
                  <a:srgbClr val="DDE9E4"/>
                </a:solidFill>
              </a:rPr>
              <a:t>A traceable path from camera observations to a human decision</a:t>
            </a:r>
          </a:p>
        </p:txBody>
      </p:sp>
      <p:sp>
        <p:nvSpPr>
          <p:cNvPr id="4" name="">
            <a:extLst xmlns:a="http://schemas.openxmlformats.org/drawingml/2006/main">
              <a:ext uri="{FF2B5EF4-FFF2-40B4-BE49-F238E27FC236}">
                <a16:creationId xmlns:a16="http://schemas.microsoft.com/office/drawing/2014/main" id="{C2659F8F-49D7-4C46-AB27-26075972B32F}"/>
              </a:ext>
            </a:extLst>
          </p:cNvPr>
          <p:cNvSpPr>
            <a:spLocks xmlns:a="http://schemas.openxmlformats.org/drawingml/2006/main" noGrp="1"/>
          </p:cNvSpPr>
          <p:nvPr/>
        </p:nvSpPr>
        <p:spPr>
          <a:xfrm xmlns:a="http://schemas.openxmlformats.org/drawingml/2006/main">
            <a:off x="571500" y="2266950"/>
            <a:ext cx="1962150" cy="2190750"/>
          </a:xfrm>
          <a:prstGeom xmlns:a="http://schemas.openxmlformats.org/drawingml/2006/main" prst="roundRect">
            <a:avLst>
              <a:gd name="adj" fmla="val 10680"/>
            </a:avLst>
          </a:prstGeom>
          <a:solidFill xmlns:a="http://schemas.openxmlformats.org/drawingml/2006/main">
            <a:srgbClr val="174C3F"/>
          </a:solidFill>
          <a:ln xmlns:a="http://schemas.openxmlformats.org/drawingml/2006/main" w="9525">
            <a:solidFill>
              <a:srgbClr val="41655D"/>
            </a:solidFill>
            <a:prstDash val="solid"/>
          </a:ln>
        </p:spPr>
      </p:sp>
      <p:sp>
        <p:nvSpPr>
          <p:cNvPr id="5" name="">
            <a:extLst xmlns:a="http://schemas.openxmlformats.org/drawingml/2006/main">
              <a:ext uri="{FF2B5EF4-FFF2-40B4-BE49-F238E27FC236}">
                <a16:creationId xmlns:a16="http://schemas.microsoft.com/office/drawing/2014/main" id="{867B9385-F086-4E71-BF87-951CCCCACCD6}"/>
              </a:ext>
            </a:extLst>
          </p:cNvPr>
          <p:cNvSpPr>
            <a:spLocks xmlns:a="http://schemas.openxmlformats.org/drawingml/2006/main" noGrp="1"/>
          </p:cNvSpPr>
          <p:nvPr/>
        </p:nvSpPr>
        <p:spPr>
          <a:xfrm xmlns:a="http://schemas.openxmlformats.org/drawingml/2006/main">
            <a:off x="742950" y="25908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PRESAGE</a:t>
            </a:r>
          </a:p>
        </p:txBody>
      </p:sp>
      <p:sp>
        <p:nvSpPr>
          <p:cNvPr id="6" name="">
            <a:extLst xmlns:a="http://schemas.openxmlformats.org/drawingml/2006/main">
              <a:ext uri="{FF2B5EF4-FFF2-40B4-BE49-F238E27FC236}">
                <a16:creationId xmlns:a16="http://schemas.microsoft.com/office/drawing/2014/main" id="{8FC3372B-5025-4EB0-8669-830ACD5B190F}"/>
              </a:ext>
            </a:extLst>
          </p:cNvPr>
          <p:cNvSpPr>
            <a:spLocks xmlns:a="http://schemas.openxmlformats.org/drawingml/2006/main" noGrp="1"/>
          </p:cNvSpPr>
          <p:nvPr/>
        </p:nvSpPr>
        <p:spPr>
          <a:xfrm xmlns:a="http://schemas.openxmlformats.org/drawingml/2006/main">
            <a:off x="762000" y="3162300"/>
            <a:ext cx="1581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FFFFFF"/>
                </a:solidFill>
              </a:defRPr>
            </a:defPPr>
          </a:lstStyle>
          <a:p xmlns:a="http://schemas.openxmlformats.org/drawingml/2006/main">
            <a:pPr>
              <a:defRPr sz="1725" b="1" i="0">
                <a:solidFill>
                  <a:srgbClr val="FFFFFF"/>
                </a:solidFill>
              </a:defRPr>
            </a:pPr>
            <a:r>
              <a:rPr sz="1725" b="1" i="0">
                <a:solidFill>
                  <a:srgbClr val="FFFFFF"/>
                </a:solidFill>
              </a:rPr>
              <a:t>Contactless</a:t>
            </a:r>
          </a:p>
          <a:p xmlns:a="http://schemas.openxmlformats.org/drawingml/2006/main">
            <a:pPr>
              <a:defRPr sz="1725" b="1" i="0">
                <a:solidFill>
                  <a:srgbClr val="FFFFFF"/>
                </a:solidFill>
              </a:defRPr>
            </a:pPr>
            <a:r>
              <a:rPr sz="1725" b="1" i="0">
                <a:solidFill>
                  <a:srgbClr val="FFFFFF"/>
                </a:solidFill>
              </a:rPr>
              <a:t>observations</a:t>
            </a:r>
          </a:p>
        </p:txBody>
      </p:sp>
      <p:sp>
        <p:nvSpPr>
          <p:cNvPr id="7" name="">
            <a:extLst xmlns:a="http://schemas.openxmlformats.org/drawingml/2006/main">
              <a:ext uri="{FF2B5EF4-FFF2-40B4-BE49-F238E27FC236}">
                <a16:creationId xmlns:a16="http://schemas.microsoft.com/office/drawing/2014/main" id="{AF91C5F6-851D-46B4-81CE-895324D2AF3D}"/>
              </a:ext>
            </a:extLst>
          </p:cNvPr>
          <p:cNvSpPr>
            <a:spLocks xmlns:a="http://schemas.openxmlformats.org/drawingml/2006/main" noGrp="1"/>
          </p:cNvSpPr>
          <p:nvPr/>
        </p:nvSpPr>
        <p:spPr>
          <a:xfrm xmlns:a="http://schemas.openxmlformats.org/drawingml/2006/main">
            <a:off x="2543175" y="304800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400" b="1" i="0">
                <a:solidFill>
                  <a:srgbClr val="FFCE73"/>
                </a:solidFill>
              </a:defRPr>
            </a:defPPr>
          </a:lstStyle>
          <a:p xmlns:a="http://schemas.openxmlformats.org/drawingml/2006/main">
            <a:pPr>
              <a:defRPr sz="2400" b="1" i="0">
                <a:solidFill>
                  <a:srgbClr val="FFCE73"/>
                </a:solidFill>
              </a:defRPr>
            </a:pPr>
            <a:r>
              <a:rPr sz="2400" b="1" i="0">
                <a:solidFill>
                  <a:srgbClr val="FFCE73"/>
                </a:solidFill>
              </a:rPr>
              <a:t>›</a:t>
            </a:r>
          </a:p>
        </p:txBody>
      </p:sp>
      <p:sp>
        <p:nvSpPr>
          <p:cNvPr id="8" name="">
            <a:extLst xmlns:a="http://schemas.openxmlformats.org/drawingml/2006/main">
              <a:ext uri="{FF2B5EF4-FFF2-40B4-BE49-F238E27FC236}">
                <a16:creationId xmlns:a16="http://schemas.microsoft.com/office/drawing/2014/main" id="{D1504988-A296-4984-BE5B-28EAB82F9A36}"/>
              </a:ext>
            </a:extLst>
          </p:cNvPr>
          <p:cNvSpPr>
            <a:spLocks xmlns:a="http://schemas.openxmlformats.org/drawingml/2006/main" noGrp="1"/>
          </p:cNvSpPr>
          <p:nvPr/>
        </p:nvSpPr>
        <p:spPr>
          <a:xfrm xmlns:a="http://schemas.openxmlformats.org/drawingml/2006/main">
            <a:off x="2895600" y="2266950"/>
            <a:ext cx="1962150" cy="2190750"/>
          </a:xfrm>
          <a:prstGeom xmlns:a="http://schemas.openxmlformats.org/drawingml/2006/main" prst="roundRect">
            <a:avLst>
              <a:gd name="adj" fmla="val 10680"/>
            </a:avLst>
          </a:prstGeom>
          <a:solidFill xmlns:a="http://schemas.openxmlformats.org/drawingml/2006/main">
            <a:srgbClr val="174C3F"/>
          </a:solidFill>
          <a:ln xmlns:a="http://schemas.openxmlformats.org/drawingml/2006/main" w="9525">
            <a:solidFill>
              <a:srgbClr val="41655D"/>
            </a:solidFill>
            <a:prstDash val="solid"/>
          </a:ln>
        </p:spPr>
      </p:sp>
      <p:sp>
        <p:nvSpPr>
          <p:cNvPr id="9" name="">
            <a:extLst xmlns:a="http://schemas.openxmlformats.org/drawingml/2006/main">
              <a:ext uri="{FF2B5EF4-FFF2-40B4-BE49-F238E27FC236}">
                <a16:creationId xmlns:a16="http://schemas.microsoft.com/office/drawing/2014/main" id="{6E688A48-FAC4-4FB8-9ABD-BC6E04F800FE}"/>
              </a:ext>
            </a:extLst>
          </p:cNvPr>
          <p:cNvSpPr>
            <a:spLocks xmlns:a="http://schemas.openxmlformats.org/drawingml/2006/main" noGrp="1"/>
          </p:cNvSpPr>
          <p:nvPr/>
        </p:nvSpPr>
        <p:spPr>
          <a:xfrm xmlns:a="http://schemas.openxmlformats.org/drawingml/2006/main">
            <a:off x="3067050" y="25908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FASTIFY</a:t>
            </a:r>
          </a:p>
        </p:txBody>
      </p:sp>
      <p:sp>
        <p:nvSpPr>
          <p:cNvPr id="10" name="">
            <a:extLst xmlns:a="http://schemas.openxmlformats.org/drawingml/2006/main">
              <a:ext uri="{FF2B5EF4-FFF2-40B4-BE49-F238E27FC236}">
                <a16:creationId xmlns:a16="http://schemas.microsoft.com/office/drawing/2014/main" id="{CC333F2B-F8D1-470E-ADAA-12387D7AA274}"/>
              </a:ext>
            </a:extLst>
          </p:cNvPr>
          <p:cNvSpPr>
            <a:spLocks xmlns:a="http://schemas.openxmlformats.org/drawingml/2006/main" noGrp="1"/>
          </p:cNvSpPr>
          <p:nvPr/>
        </p:nvSpPr>
        <p:spPr>
          <a:xfrm xmlns:a="http://schemas.openxmlformats.org/drawingml/2006/main">
            <a:off x="3086100" y="3162300"/>
            <a:ext cx="1581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FFFFFF"/>
                </a:solidFill>
              </a:defRPr>
            </a:defPPr>
          </a:lstStyle>
          <a:p xmlns:a="http://schemas.openxmlformats.org/drawingml/2006/main">
            <a:pPr>
              <a:defRPr sz="1725" b="1" i="0">
                <a:solidFill>
                  <a:srgbClr val="FFFFFF"/>
                </a:solidFill>
              </a:defRPr>
            </a:pPr>
            <a:r>
              <a:rPr sz="1725" b="1" i="0">
                <a:solidFill>
                  <a:srgbClr val="FFFFFF"/>
                </a:solidFill>
              </a:rPr>
              <a:t>Validated</a:t>
            </a:r>
          </a:p>
          <a:p xmlns:a="http://schemas.openxmlformats.org/drawingml/2006/main">
            <a:pPr>
              <a:defRPr sz="1725" b="1" i="0">
                <a:solidFill>
                  <a:srgbClr val="FFFFFF"/>
                </a:solidFill>
              </a:defRPr>
            </a:pPr>
            <a:r>
              <a:rPr sz="1725" b="1" i="0">
                <a:solidFill>
                  <a:srgbClr val="FFFFFF"/>
                </a:solidFill>
              </a:rPr>
              <a:t>API contracts</a:t>
            </a:r>
          </a:p>
        </p:txBody>
      </p:sp>
      <p:sp>
        <p:nvSpPr>
          <p:cNvPr id="11" name="">
            <a:extLst xmlns:a="http://schemas.openxmlformats.org/drawingml/2006/main">
              <a:ext uri="{FF2B5EF4-FFF2-40B4-BE49-F238E27FC236}">
                <a16:creationId xmlns:a16="http://schemas.microsoft.com/office/drawing/2014/main" id="{23EC8378-DDC8-488F-A430-FC20FE794654}"/>
              </a:ext>
            </a:extLst>
          </p:cNvPr>
          <p:cNvSpPr>
            <a:spLocks xmlns:a="http://schemas.openxmlformats.org/drawingml/2006/main" noGrp="1"/>
          </p:cNvSpPr>
          <p:nvPr/>
        </p:nvSpPr>
        <p:spPr>
          <a:xfrm xmlns:a="http://schemas.openxmlformats.org/drawingml/2006/main">
            <a:off x="4867275" y="304800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400" b="1" i="0">
                <a:solidFill>
                  <a:srgbClr val="FFCE73"/>
                </a:solidFill>
              </a:defRPr>
            </a:defPPr>
          </a:lstStyle>
          <a:p xmlns:a="http://schemas.openxmlformats.org/drawingml/2006/main">
            <a:pPr>
              <a:defRPr sz="2400" b="1" i="0">
                <a:solidFill>
                  <a:srgbClr val="FFCE73"/>
                </a:solidFill>
              </a:defRPr>
            </a:pPr>
            <a:r>
              <a:rPr sz="2400" b="1" i="0">
                <a:solidFill>
                  <a:srgbClr val="FFCE73"/>
                </a:solidFill>
              </a:rPr>
              <a:t>›</a:t>
            </a:r>
          </a:p>
        </p:txBody>
      </p:sp>
      <p:sp>
        <p:nvSpPr>
          <p:cNvPr id="12" name="">
            <a:extLst xmlns:a="http://schemas.openxmlformats.org/drawingml/2006/main">
              <a:ext uri="{FF2B5EF4-FFF2-40B4-BE49-F238E27FC236}">
                <a16:creationId xmlns:a16="http://schemas.microsoft.com/office/drawing/2014/main" id="{211204AF-348A-4255-A3A3-9514C958CB02}"/>
              </a:ext>
            </a:extLst>
          </p:cNvPr>
          <p:cNvSpPr>
            <a:spLocks xmlns:a="http://schemas.openxmlformats.org/drawingml/2006/main" noGrp="1"/>
          </p:cNvSpPr>
          <p:nvPr/>
        </p:nvSpPr>
        <p:spPr>
          <a:xfrm xmlns:a="http://schemas.openxmlformats.org/drawingml/2006/main">
            <a:off x="5219700" y="2266950"/>
            <a:ext cx="1962150" cy="2190750"/>
          </a:xfrm>
          <a:prstGeom xmlns:a="http://schemas.openxmlformats.org/drawingml/2006/main" prst="roundRect">
            <a:avLst>
              <a:gd name="adj" fmla="val 10680"/>
            </a:avLst>
          </a:prstGeom>
          <a:solidFill xmlns:a="http://schemas.openxmlformats.org/drawingml/2006/main">
            <a:srgbClr val="174C3F"/>
          </a:solidFill>
          <a:ln xmlns:a="http://schemas.openxmlformats.org/drawingml/2006/main" w="9525">
            <a:solidFill>
              <a:srgbClr val="41655D"/>
            </a:solidFill>
            <a:prstDash val="solid"/>
          </a:ln>
        </p:spPr>
      </p:sp>
      <p:sp>
        <p:nvSpPr>
          <p:cNvPr id="13" name="">
            <a:extLst xmlns:a="http://schemas.openxmlformats.org/drawingml/2006/main">
              <a:ext uri="{FF2B5EF4-FFF2-40B4-BE49-F238E27FC236}">
                <a16:creationId xmlns:a16="http://schemas.microsoft.com/office/drawing/2014/main" id="{451C15C7-41CD-4BB7-9D3C-F03F27B30626}"/>
              </a:ext>
            </a:extLst>
          </p:cNvPr>
          <p:cNvSpPr>
            <a:spLocks xmlns:a="http://schemas.openxmlformats.org/drawingml/2006/main" noGrp="1"/>
          </p:cNvSpPr>
          <p:nvPr/>
        </p:nvSpPr>
        <p:spPr>
          <a:xfrm xmlns:a="http://schemas.openxmlformats.org/drawingml/2006/main">
            <a:off x="5391150" y="25908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TIGER DATA</a:t>
            </a:r>
          </a:p>
        </p:txBody>
      </p:sp>
      <p:sp>
        <p:nvSpPr>
          <p:cNvPr id="14" name="">
            <a:extLst xmlns:a="http://schemas.openxmlformats.org/drawingml/2006/main">
              <a:ext uri="{FF2B5EF4-FFF2-40B4-BE49-F238E27FC236}">
                <a16:creationId xmlns:a16="http://schemas.microsoft.com/office/drawing/2014/main" id="{EC335706-D91D-4664-A61D-8647622DA003}"/>
              </a:ext>
            </a:extLst>
          </p:cNvPr>
          <p:cNvSpPr>
            <a:spLocks xmlns:a="http://schemas.openxmlformats.org/drawingml/2006/main" noGrp="1"/>
          </p:cNvSpPr>
          <p:nvPr/>
        </p:nvSpPr>
        <p:spPr>
          <a:xfrm xmlns:a="http://schemas.openxmlformats.org/drawingml/2006/main">
            <a:off x="5410200" y="3162300"/>
            <a:ext cx="1581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FFFFFF"/>
                </a:solidFill>
              </a:defRPr>
            </a:defPPr>
          </a:lstStyle>
          <a:p xmlns:a="http://schemas.openxmlformats.org/drawingml/2006/main">
            <a:pPr>
              <a:defRPr sz="1725" b="1" i="0">
                <a:solidFill>
                  <a:srgbClr val="FFFFFF"/>
                </a:solidFill>
              </a:defRPr>
            </a:pPr>
            <a:r>
              <a:rPr sz="1725" b="1" i="0">
                <a:solidFill>
                  <a:srgbClr val="FFFFFF"/>
                </a:solidFill>
              </a:rPr>
              <a:t>Time-series</a:t>
            </a:r>
          </a:p>
          <a:p xmlns:a="http://schemas.openxmlformats.org/drawingml/2006/main">
            <a:pPr>
              <a:defRPr sz="1725" b="1" i="0">
                <a:solidFill>
                  <a:srgbClr val="FFFFFF"/>
                </a:solidFill>
              </a:defRPr>
            </a:pPr>
            <a:r>
              <a:rPr sz="1725" b="1" i="0">
                <a:solidFill>
                  <a:srgbClr val="FFFFFF"/>
                </a:solidFill>
              </a:rPr>
              <a:t>history</a:t>
            </a:r>
          </a:p>
        </p:txBody>
      </p:sp>
      <p:sp>
        <p:nvSpPr>
          <p:cNvPr id="15" name="">
            <a:extLst xmlns:a="http://schemas.openxmlformats.org/drawingml/2006/main">
              <a:ext uri="{FF2B5EF4-FFF2-40B4-BE49-F238E27FC236}">
                <a16:creationId xmlns:a16="http://schemas.microsoft.com/office/drawing/2014/main" id="{65107C66-5D03-4E99-9EC7-2FF20CF7BF75}"/>
              </a:ext>
            </a:extLst>
          </p:cNvPr>
          <p:cNvSpPr>
            <a:spLocks xmlns:a="http://schemas.openxmlformats.org/drawingml/2006/main" noGrp="1"/>
          </p:cNvSpPr>
          <p:nvPr/>
        </p:nvSpPr>
        <p:spPr>
          <a:xfrm xmlns:a="http://schemas.openxmlformats.org/drawingml/2006/main">
            <a:off x="7191375" y="304800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400" b="1" i="0">
                <a:solidFill>
                  <a:srgbClr val="FFCE73"/>
                </a:solidFill>
              </a:defRPr>
            </a:defPPr>
          </a:lstStyle>
          <a:p xmlns:a="http://schemas.openxmlformats.org/drawingml/2006/main">
            <a:pPr>
              <a:defRPr sz="2400" b="1" i="0">
                <a:solidFill>
                  <a:srgbClr val="FFCE73"/>
                </a:solidFill>
              </a:defRPr>
            </a:pPr>
            <a:r>
              <a:rPr sz="2400" b="1" i="0">
                <a:solidFill>
                  <a:srgbClr val="FFCE73"/>
                </a:solidFill>
              </a:rPr>
              <a:t>›</a:t>
            </a:r>
          </a:p>
        </p:txBody>
      </p:sp>
      <p:sp>
        <p:nvSpPr>
          <p:cNvPr id="16" name="">
            <a:extLst xmlns:a="http://schemas.openxmlformats.org/drawingml/2006/main">
              <a:ext uri="{FF2B5EF4-FFF2-40B4-BE49-F238E27FC236}">
                <a16:creationId xmlns:a16="http://schemas.microsoft.com/office/drawing/2014/main" id="{9D8D7EDF-6136-46AB-94CB-44221A73541A}"/>
              </a:ext>
            </a:extLst>
          </p:cNvPr>
          <p:cNvSpPr>
            <a:spLocks xmlns:a="http://schemas.openxmlformats.org/drawingml/2006/main" noGrp="1"/>
          </p:cNvSpPr>
          <p:nvPr/>
        </p:nvSpPr>
        <p:spPr>
          <a:xfrm xmlns:a="http://schemas.openxmlformats.org/drawingml/2006/main">
            <a:off x="7543800" y="2266950"/>
            <a:ext cx="1962150" cy="2190750"/>
          </a:xfrm>
          <a:prstGeom xmlns:a="http://schemas.openxmlformats.org/drawingml/2006/main" prst="roundRect">
            <a:avLst>
              <a:gd name="adj" fmla="val 10680"/>
            </a:avLst>
          </a:prstGeom>
          <a:solidFill xmlns:a="http://schemas.openxmlformats.org/drawingml/2006/main">
            <a:srgbClr val="174C3F"/>
          </a:solidFill>
          <a:ln xmlns:a="http://schemas.openxmlformats.org/drawingml/2006/main" w="9525">
            <a:solidFill>
              <a:srgbClr val="41655D"/>
            </a:solidFill>
            <a:prstDash val="solid"/>
          </a:ln>
        </p:spPr>
      </p:sp>
      <p:sp>
        <p:nvSpPr>
          <p:cNvPr id="17" name="">
            <a:extLst xmlns:a="http://schemas.openxmlformats.org/drawingml/2006/main">
              <a:ext uri="{FF2B5EF4-FFF2-40B4-BE49-F238E27FC236}">
                <a16:creationId xmlns:a16="http://schemas.microsoft.com/office/drawing/2014/main" id="{B396961C-966A-40A7-9726-A48F8D73BFE5}"/>
              </a:ext>
            </a:extLst>
          </p:cNvPr>
          <p:cNvSpPr>
            <a:spLocks xmlns:a="http://schemas.openxmlformats.org/drawingml/2006/main" noGrp="1"/>
          </p:cNvSpPr>
          <p:nvPr/>
        </p:nvSpPr>
        <p:spPr>
          <a:xfrm xmlns:a="http://schemas.openxmlformats.org/drawingml/2006/main">
            <a:off x="7715250" y="25908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GEMINI</a:t>
            </a:r>
          </a:p>
        </p:txBody>
      </p:sp>
      <p:sp>
        <p:nvSpPr>
          <p:cNvPr id="18" name="">
            <a:extLst xmlns:a="http://schemas.openxmlformats.org/drawingml/2006/main">
              <a:ext uri="{FF2B5EF4-FFF2-40B4-BE49-F238E27FC236}">
                <a16:creationId xmlns:a16="http://schemas.microsoft.com/office/drawing/2014/main" id="{A1EFBFC9-68E0-45C2-B56D-55B671DDEBA4}"/>
              </a:ext>
            </a:extLst>
          </p:cNvPr>
          <p:cNvSpPr>
            <a:spLocks xmlns:a="http://schemas.openxmlformats.org/drawingml/2006/main" noGrp="1"/>
          </p:cNvSpPr>
          <p:nvPr/>
        </p:nvSpPr>
        <p:spPr>
          <a:xfrm xmlns:a="http://schemas.openxmlformats.org/drawingml/2006/main">
            <a:off x="7734300" y="3162300"/>
            <a:ext cx="1581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FFFFFF"/>
                </a:solidFill>
              </a:defRPr>
            </a:defPPr>
          </a:lstStyle>
          <a:p xmlns:a="http://schemas.openxmlformats.org/drawingml/2006/main">
            <a:pPr>
              <a:defRPr sz="1725" b="1" i="0">
                <a:solidFill>
                  <a:srgbClr val="FFFFFF"/>
                </a:solidFill>
              </a:defRPr>
            </a:pPr>
            <a:r>
              <a:rPr sz="1725" b="1" i="0">
                <a:solidFill>
                  <a:srgbClr val="FFFFFF"/>
                </a:solidFill>
              </a:rPr>
              <a:t>Approved facts</a:t>
            </a:r>
          </a:p>
          <a:p xmlns:a="http://schemas.openxmlformats.org/drawingml/2006/main">
            <a:pPr>
              <a:defRPr sz="1725" b="1" i="0">
                <a:solidFill>
                  <a:srgbClr val="FFFFFF"/>
                </a:solidFill>
              </a:defRPr>
            </a:pPr>
            <a:r>
              <a:rPr sz="1725" b="1" i="0">
                <a:solidFill>
                  <a:srgbClr val="FFFFFF"/>
                </a:solidFill>
              </a:rPr>
              <a:t>explained clearly</a:t>
            </a:r>
          </a:p>
        </p:txBody>
      </p:sp>
      <p:sp>
        <p:nvSpPr>
          <p:cNvPr id="19" name="">
            <a:extLst xmlns:a="http://schemas.openxmlformats.org/drawingml/2006/main">
              <a:ext uri="{FF2B5EF4-FFF2-40B4-BE49-F238E27FC236}">
                <a16:creationId xmlns:a16="http://schemas.microsoft.com/office/drawing/2014/main" id="{3B8A43DE-C351-433A-A444-F50276E64D84}"/>
              </a:ext>
            </a:extLst>
          </p:cNvPr>
          <p:cNvSpPr>
            <a:spLocks xmlns:a="http://schemas.openxmlformats.org/drawingml/2006/main" noGrp="1"/>
          </p:cNvSpPr>
          <p:nvPr/>
        </p:nvSpPr>
        <p:spPr>
          <a:xfrm xmlns:a="http://schemas.openxmlformats.org/drawingml/2006/main">
            <a:off x="9515475" y="304800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400" b="1" i="0">
                <a:solidFill>
                  <a:srgbClr val="FFCE73"/>
                </a:solidFill>
              </a:defRPr>
            </a:defPPr>
          </a:lstStyle>
          <a:p xmlns:a="http://schemas.openxmlformats.org/drawingml/2006/main">
            <a:pPr>
              <a:defRPr sz="2400" b="1" i="0">
                <a:solidFill>
                  <a:srgbClr val="FFCE73"/>
                </a:solidFill>
              </a:defRPr>
            </a:pPr>
            <a:r>
              <a:rPr sz="2400" b="1" i="0">
                <a:solidFill>
                  <a:srgbClr val="FFCE73"/>
                </a:solidFill>
              </a:rPr>
              <a:t>›</a:t>
            </a:r>
          </a:p>
        </p:txBody>
      </p:sp>
      <p:sp>
        <p:nvSpPr>
          <p:cNvPr id="20" name="">
            <a:extLst xmlns:a="http://schemas.openxmlformats.org/drawingml/2006/main">
              <a:ext uri="{FF2B5EF4-FFF2-40B4-BE49-F238E27FC236}">
                <a16:creationId xmlns:a16="http://schemas.microsoft.com/office/drawing/2014/main" id="{74A1A78C-E7C2-405B-8509-6946AE556978}"/>
              </a:ext>
            </a:extLst>
          </p:cNvPr>
          <p:cNvSpPr>
            <a:spLocks xmlns:a="http://schemas.openxmlformats.org/drawingml/2006/main" noGrp="1"/>
          </p:cNvSpPr>
          <p:nvPr/>
        </p:nvSpPr>
        <p:spPr>
          <a:xfrm xmlns:a="http://schemas.openxmlformats.org/drawingml/2006/main">
            <a:off x="9867900" y="2266950"/>
            <a:ext cx="1962150" cy="2190750"/>
          </a:xfrm>
          <a:prstGeom xmlns:a="http://schemas.openxmlformats.org/drawingml/2006/main" prst="roundRect">
            <a:avLst>
              <a:gd name="adj" fmla="val 10680"/>
            </a:avLst>
          </a:prstGeom>
          <a:solidFill xmlns:a="http://schemas.openxmlformats.org/drawingml/2006/main">
            <a:srgbClr val="C9FF6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B0CFF12-BB25-4BE9-9851-176C5B291FC5}"/>
              </a:ext>
            </a:extLst>
          </p:cNvPr>
          <p:cNvSpPr>
            <a:spLocks xmlns:a="http://schemas.openxmlformats.org/drawingml/2006/main" noGrp="1"/>
          </p:cNvSpPr>
          <p:nvPr/>
        </p:nvSpPr>
        <p:spPr>
          <a:xfrm xmlns:a="http://schemas.openxmlformats.org/drawingml/2006/main">
            <a:off x="10039350" y="25908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0B302A"/>
                </a:solidFill>
              </a:defRPr>
            </a:defPPr>
          </a:lstStyle>
          <a:p xmlns:a="http://schemas.openxmlformats.org/drawingml/2006/main">
            <a:pPr>
              <a:defRPr sz="1050" b="1" i="0">
                <a:solidFill>
                  <a:srgbClr val="0B302A"/>
                </a:solidFill>
              </a:defRPr>
            </a:pPr>
            <a:r>
              <a:rPr sz="1050" b="1" i="0">
                <a:solidFill>
                  <a:srgbClr val="0B302A"/>
                </a:solidFill>
              </a:rPr>
              <a:t>HUMAN</a:t>
            </a:r>
          </a:p>
        </p:txBody>
      </p:sp>
      <p:sp>
        <p:nvSpPr>
          <p:cNvPr id="22" name="">
            <a:extLst xmlns:a="http://schemas.openxmlformats.org/drawingml/2006/main">
              <a:ext uri="{FF2B5EF4-FFF2-40B4-BE49-F238E27FC236}">
                <a16:creationId xmlns:a16="http://schemas.microsoft.com/office/drawing/2014/main" id="{E0A38D72-5E51-40D1-AC06-EAF1891B38B7}"/>
              </a:ext>
            </a:extLst>
          </p:cNvPr>
          <p:cNvSpPr>
            <a:spLocks xmlns:a="http://schemas.openxmlformats.org/drawingml/2006/main" noGrp="1"/>
          </p:cNvSpPr>
          <p:nvPr/>
        </p:nvSpPr>
        <p:spPr>
          <a:xfrm xmlns:a="http://schemas.openxmlformats.org/drawingml/2006/main">
            <a:off x="10058400" y="3162300"/>
            <a:ext cx="1581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0B302A"/>
                </a:solidFill>
              </a:defRPr>
            </a:defPPr>
          </a:lstStyle>
          <a:p xmlns:a="http://schemas.openxmlformats.org/drawingml/2006/main">
            <a:pPr>
              <a:defRPr sz="1725" b="1" i="0">
                <a:solidFill>
                  <a:srgbClr val="0B302A"/>
                </a:solidFill>
              </a:defRPr>
            </a:pPr>
            <a:r>
              <a:rPr sz="1725" b="1" i="0">
                <a:solidFill>
                  <a:srgbClr val="0B302A"/>
                </a:solidFill>
              </a:rPr>
              <a:t>Worker choice</a:t>
            </a:r>
          </a:p>
          <a:p xmlns:a="http://schemas.openxmlformats.org/drawingml/2006/main">
            <a:pPr>
              <a:defRPr sz="1725" b="1" i="0">
                <a:solidFill>
                  <a:srgbClr val="0B302A"/>
                </a:solidFill>
              </a:defRPr>
            </a:pPr>
            <a:r>
              <a:rPr sz="1725" b="1" i="0">
                <a:solidFill>
                  <a:srgbClr val="0B302A"/>
                </a:solidFill>
              </a:rPr>
              <a:t>human response</a:t>
            </a:r>
          </a:p>
        </p:txBody>
      </p:sp>
      <p:sp>
        <p:nvSpPr>
          <p:cNvPr id="23" name="">
            <a:extLst xmlns:a="http://schemas.openxmlformats.org/drawingml/2006/main">
              <a:ext uri="{FF2B5EF4-FFF2-40B4-BE49-F238E27FC236}">
                <a16:creationId xmlns:a16="http://schemas.microsoft.com/office/drawing/2014/main" id="{DC1CD5CF-544B-4FCB-A073-B6A505FC5142}"/>
              </a:ext>
            </a:extLst>
          </p:cNvPr>
          <p:cNvSpPr>
            <a:spLocks xmlns:a="http://schemas.openxmlformats.org/drawingml/2006/main" noGrp="1"/>
          </p:cNvSpPr>
          <p:nvPr/>
        </p:nvSpPr>
        <p:spPr>
          <a:xfrm xmlns:a="http://schemas.openxmlformats.org/drawingml/2006/main">
            <a:off x="609600" y="52578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00" b="0" i="0">
                <a:solidFill>
                  <a:srgbClr val="DDE9E4"/>
                </a:solidFill>
              </a:defRPr>
            </a:defPPr>
          </a:lstStyle>
          <a:p xmlns:a="http://schemas.openxmlformats.org/drawingml/2006/main">
            <a:pPr>
              <a:defRPr sz="1500" b="0" i="0">
                <a:solidFill>
                  <a:srgbClr val="DDE9E4"/>
                </a:solidFill>
              </a:defRPr>
            </a:pPr>
            <a:r>
              <a:rPr sz="1500" b="0" i="0">
                <a:solidFill>
                  <a:srgbClr val="DDE9E4"/>
                </a:solidFill>
              </a:rPr>
              <a:t>Supabase provides role-scoped authentication. Synthetic and Presage sessions stay separated.</a:t>
            </a:r>
          </a:p>
        </p:txBody>
      </p:sp>
      <p:sp>
        <p:nvSpPr>
          <p:cNvPr id="24" name="">
            <a:extLst xmlns:a="http://schemas.openxmlformats.org/drawingml/2006/main">
              <a:ext uri="{FF2B5EF4-FFF2-40B4-BE49-F238E27FC236}">
                <a16:creationId xmlns:a16="http://schemas.microsoft.com/office/drawing/2014/main" id="{5533A360-773E-4D53-AE31-37EFF49B8712}"/>
              </a:ext>
            </a:extLst>
          </p:cNvPr>
          <p:cNvSpPr>
            <a:spLocks xmlns:a="http://schemas.openxmlformats.org/drawingml/2006/main" noGrp="1"/>
          </p:cNvSpPr>
          <p:nvPr/>
        </p:nvSpPr>
        <p:spPr>
          <a:xfrm xmlns:a="http://schemas.openxmlformats.org/drawingml/2006/main">
            <a:off x="609600" y="59817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00" b="1" i="0">
                <a:solidFill>
                  <a:srgbClr val="C9FF65"/>
                </a:solidFill>
              </a:defRPr>
            </a:defPPr>
          </a:lstStyle>
          <a:p xmlns:a="http://schemas.openxmlformats.org/drawingml/2006/main">
            <a:pPr>
              <a:defRPr sz="1500" b="1" i="0">
                <a:solidFill>
                  <a:srgbClr val="C9FF65"/>
                </a:solidFill>
              </a:defRPr>
            </a:pPr>
            <a:r>
              <a:rPr sz="1500" b="1" i="0">
                <a:solidFill>
                  <a:srgbClr val="C9FF65"/>
                </a:solidFill>
              </a:rPr>
              <a:t>Models provide context. People make the decision.</a:t>
            </a:r>
          </a:p>
        </p:txBody>
      </p:sp>
    </p:spTree>
    <p:extLst>
      <p:ext uri="{BB962C8B-B14F-4D97-AF65-F5344CB8AC3E}">
        <p14:creationId xmlns:p14="http://schemas.microsoft.com/office/powerpoint/2010/main" val="24211247"/>
      </p:ext>
    </p:extLst>
  </p:cSld>
</p:sld>
</file>

<file path=ppt/slides/slide7.xml><?xml version="1.0" encoding="utf-8"?>
<p:sld xmlns:p="http://schemas.openxmlformats.org/presentationml/2006/main">
  <p:cSld>
    <p:bg>
      <p:bgPr>
        <a:solidFill xmlns:a="http://schemas.openxmlformats.org/drawingml/2006/main">
          <a:srgbClr val="F4F7F2"/>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41F8496-59CB-493F-82CC-5AF35E2CC9E1}"/>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65786F"/>
                </a:solidFill>
              </a:defRPr>
            </a:defPPr>
          </a:lstStyle>
          <a:p xmlns:a="http://schemas.openxmlformats.org/drawingml/2006/main">
            <a:pPr>
              <a:defRPr sz="825" b="1" i="0">
                <a:solidFill>
                  <a:srgbClr val="65786F"/>
                </a:solidFill>
              </a:defRPr>
            </a:pPr>
            <a:r>
              <a:rPr sz="825" b="1" i="0">
                <a:solidFill>
                  <a:srgbClr val="65786F"/>
                </a:solidFill>
              </a:rPr>
              <a:t>07</a:t>
            </a:r>
          </a:p>
        </p:txBody>
      </p:sp>
      <p:sp>
        <p:nvSpPr>
          <p:cNvPr id="2" name="">
            <a:extLst xmlns:a="http://schemas.openxmlformats.org/drawingml/2006/main">
              <a:ext uri="{FF2B5EF4-FFF2-40B4-BE49-F238E27FC236}">
                <a16:creationId xmlns:a16="http://schemas.microsoft.com/office/drawing/2014/main" id="{25D35595-A86C-4879-A919-E82DC1E16562}"/>
              </a:ext>
            </a:extLst>
          </p:cNvPr>
          <p:cNvSpPr>
            <a:spLocks xmlns:a="http://schemas.openxmlformats.org/drawingml/2006/main" noGrp="1"/>
          </p:cNvSpPr>
          <p:nvPr/>
        </p:nvSpPr>
        <p:spPr>
          <a:xfrm xmlns:a="http://schemas.openxmlformats.org/drawingml/2006/main">
            <a:off x="609600" y="457200"/>
            <a:ext cx="723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0B302A"/>
                </a:solidFill>
              </a:defRPr>
            </a:defPPr>
          </a:lstStyle>
          <a:p xmlns:a="http://schemas.openxmlformats.org/drawingml/2006/main">
            <a:pPr>
              <a:defRPr sz="2550" b="1" i="0">
                <a:solidFill>
                  <a:srgbClr val="0B302A"/>
                </a:solidFill>
              </a:defRPr>
            </a:pPr>
            <a:r>
              <a:rPr sz="2550" b="1" i="0">
                <a:solidFill>
                  <a:srgbClr val="0B302A"/>
                </a:solidFill>
              </a:rPr>
              <a:t>Trust is part of the product</a:t>
            </a:r>
          </a:p>
        </p:txBody>
      </p:sp>
      <p:sp>
        <p:nvSpPr>
          <p:cNvPr id="3" name="">
            <a:extLst xmlns:a="http://schemas.openxmlformats.org/drawingml/2006/main">
              <a:ext uri="{FF2B5EF4-FFF2-40B4-BE49-F238E27FC236}">
                <a16:creationId xmlns:a16="http://schemas.microsoft.com/office/drawing/2014/main" id="{7CDBBEB5-36BA-4D43-AAEE-E442A632D8AE}"/>
              </a:ext>
            </a:extLst>
          </p:cNvPr>
          <p:cNvSpPr>
            <a:spLocks xmlns:a="http://schemas.openxmlformats.org/drawingml/2006/main" noGrp="1"/>
          </p:cNvSpPr>
          <p:nvPr/>
        </p:nvSpPr>
        <p:spPr>
          <a:xfrm xmlns:a="http://schemas.openxmlformats.org/drawingml/2006/main">
            <a:off x="628650" y="10477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65786F"/>
                </a:solidFill>
              </a:defRPr>
            </a:defPPr>
          </a:lstStyle>
          <a:p xmlns:a="http://schemas.openxmlformats.org/drawingml/2006/main">
            <a:pPr>
              <a:defRPr sz="1350" b="0" i="0">
                <a:solidFill>
                  <a:srgbClr val="65786F"/>
                </a:solidFill>
              </a:defRPr>
            </a:pPr>
            <a:r>
              <a:rPr sz="1350" b="0" i="0">
                <a:solidFill>
                  <a:srgbClr val="65786F"/>
                </a:solidFill>
              </a:rPr>
              <a:t>The product earns trust through specific controls rather than broad privacy claims.</a:t>
            </a:r>
          </a:p>
        </p:txBody>
      </p:sp>
      <p:sp>
        <p:nvSpPr>
          <p:cNvPr id="4" name="">
            <a:extLst xmlns:a="http://schemas.openxmlformats.org/drawingml/2006/main">
              <a:ext uri="{FF2B5EF4-FFF2-40B4-BE49-F238E27FC236}">
                <a16:creationId xmlns:a16="http://schemas.microsoft.com/office/drawing/2014/main" id="{429BD757-68A8-4B9A-A153-B6D4691C9586}"/>
              </a:ext>
            </a:extLst>
          </p:cNvPr>
          <p:cNvSpPr>
            <a:spLocks xmlns:a="http://schemas.openxmlformats.org/drawingml/2006/main" noGrp="1"/>
          </p:cNvSpPr>
          <p:nvPr/>
        </p:nvSpPr>
        <p:spPr>
          <a:xfrm xmlns:a="http://schemas.openxmlformats.org/drawingml/2006/main">
            <a:off x="685800" y="180975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65786F"/>
                </a:solidFill>
              </a:defRPr>
            </a:defPPr>
          </a:lstStyle>
          <a:p xmlns:a="http://schemas.openxmlformats.org/drawingml/2006/main">
            <a:pPr>
              <a:defRPr sz="1050" b="1" i="0">
                <a:solidFill>
                  <a:srgbClr val="65786F"/>
                </a:solidFill>
              </a:defRPr>
            </a:pPr>
            <a:r>
              <a:rPr sz="1050" b="1" i="0">
                <a:solidFill>
                  <a:srgbClr val="65786F"/>
                </a:solidFill>
              </a:rPr>
              <a:t>01</a:t>
            </a:r>
          </a:p>
        </p:txBody>
      </p:sp>
      <p:sp>
        <p:nvSpPr>
          <p:cNvPr id="5" name="">
            <a:extLst xmlns:a="http://schemas.openxmlformats.org/drawingml/2006/main">
              <a:ext uri="{FF2B5EF4-FFF2-40B4-BE49-F238E27FC236}">
                <a16:creationId xmlns:a16="http://schemas.microsoft.com/office/drawing/2014/main" id="{55E16227-DF11-4E1A-A8B1-9B0F7D10FA76}"/>
              </a:ext>
            </a:extLst>
          </p:cNvPr>
          <p:cNvSpPr>
            <a:spLocks xmlns:a="http://schemas.openxmlformats.org/drawingml/2006/main" noGrp="1"/>
          </p:cNvSpPr>
          <p:nvPr/>
        </p:nvSpPr>
        <p:spPr>
          <a:xfrm xmlns:a="http://schemas.openxmlformats.org/drawingml/2006/main">
            <a:off x="1257300" y="17716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i="0">
                <a:solidFill>
                  <a:srgbClr val="0B302A"/>
                </a:solidFill>
              </a:defRPr>
            </a:defPPr>
          </a:lstStyle>
          <a:p xmlns:a="http://schemas.openxmlformats.org/drawingml/2006/main">
            <a:pPr>
              <a:defRPr sz="1875" b="1" i="0">
                <a:solidFill>
                  <a:srgbClr val="0B302A"/>
                </a:solidFill>
              </a:defRPr>
            </a:pPr>
            <a:r>
              <a:rPr sz="1875" b="1" i="0">
                <a:solidFill>
                  <a:srgbClr val="0B302A"/>
                </a:solidFill>
              </a:rPr>
              <a:t>Check-ins are optional</a:t>
            </a:r>
          </a:p>
        </p:txBody>
      </p:sp>
      <p:sp>
        <p:nvSpPr>
          <p:cNvPr id="6" name="">
            <a:extLst xmlns:a="http://schemas.openxmlformats.org/drawingml/2006/main">
              <a:ext uri="{FF2B5EF4-FFF2-40B4-BE49-F238E27FC236}">
                <a16:creationId xmlns:a16="http://schemas.microsoft.com/office/drawing/2014/main" id="{EA188463-E39F-4EA9-A353-6D1BE4270707}"/>
              </a:ext>
            </a:extLst>
          </p:cNvPr>
          <p:cNvSpPr>
            <a:spLocks xmlns:a="http://schemas.openxmlformats.org/drawingml/2006/main" noGrp="1"/>
          </p:cNvSpPr>
          <p:nvPr/>
        </p:nvSpPr>
        <p:spPr>
          <a:xfrm xmlns:a="http://schemas.openxmlformats.org/drawingml/2006/main">
            <a:off x="685800" y="2286000"/>
            <a:ext cx="5334000" cy="9525"/>
          </a:xfrm>
          <a:prstGeom xmlns:a="http://schemas.openxmlformats.org/drawingml/2006/main" prst="rect">
            <a:avLst/>
          </a:prstGeom>
          <a:solidFill xmlns:a="http://schemas.openxmlformats.org/drawingml/2006/main">
            <a:srgbClr val="CCD9D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1473DA1-2CF9-4D25-AE2D-F6D15DECE1CD}"/>
              </a:ext>
            </a:extLst>
          </p:cNvPr>
          <p:cNvSpPr>
            <a:spLocks xmlns:a="http://schemas.openxmlformats.org/drawingml/2006/main" noGrp="1"/>
          </p:cNvSpPr>
          <p:nvPr/>
        </p:nvSpPr>
        <p:spPr>
          <a:xfrm xmlns:a="http://schemas.openxmlformats.org/drawingml/2006/main">
            <a:off x="685800" y="264795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65786F"/>
                </a:solidFill>
              </a:defRPr>
            </a:defPPr>
          </a:lstStyle>
          <a:p xmlns:a="http://schemas.openxmlformats.org/drawingml/2006/main">
            <a:pPr>
              <a:defRPr sz="1050" b="1" i="0">
                <a:solidFill>
                  <a:srgbClr val="65786F"/>
                </a:solidFill>
              </a:defRPr>
            </a:pPr>
            <a:r>
              <a:rPr sz="1050" b="1" i="0">
                <a:solidFill>
                  <a:srgbClr val="65786F"/>
                </a:solidFill>
              </a:rPr>
              <a:t>02</a:t>
            </a:r>
          </a:p>
        </p:txBody>
      </p:sp>
      <p:sp>
        <p:nvSpPr>
          <p:cNvPr id="8" name="">
            <a:extLst xmlns:a="http://schemas.openxmlformats.org/drawingml/2006/main">
              <a:ext uri="{FF2B5EF4-FFF2-40B4-BE49-F238E27FC236}">
                <a16:creationId xmlns:a16="http://schemas.microsoft.com/office/drawing/2014/main" id="{0C4BDAEA-DD8C-4482-8E5D-05A5CEAA7575}"/>
              </a:ext>
            </a:extLst>
          </p:cNvPr>
          <p:cNvSpPr>
            <a:spLocks xmlns:a="http://schemas.openxmlformats.org/drawingml/2006/main" noGrp="1"/>
          </p:cNvSpPr>
          <p:nvPr/>
        </p:nvSpPr>
        <p:spPr>
          <a:xfrm xmlns:a="http://schemas.openxmlformats.org/drawingml/2006/main">
            <a:off x="1257300" y="26098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i="0">
                <a:solidFill>
                  <a:srgbClr val="0B302A"/>
                </a:solidFill>
              </a:defRPr>
            </a:defPPr>
          </a:lstStyle>
          <a:p xmlns:a="http://schemas.openxmlformats.org/drawingml/2006/main">
            <a:pPr>
              <a:defRPr sz="1875" b="1" i="0">
                <a:solidFill>
                  <a:srgbClr val="0B302A"/>
                </a:solidFill>
              </a:defRPr>
            </a:pPr>
            <a:r>
              <a:rPr sz="1875" b="1" i="0">
                <a:solidFill>
                  <a:srgbClr val="0B302A"/>
                </a:solidFill>
              </a:rPr>
              <a:t>Sharing is off by default</a:t>
            </a:r>
          </a:p>
        </p:txBody>
      </p:sp>
      <p:sp>
        <p:nvSpPr>
          <p:cNvPr id="9" name="">
            <a:extLst xmlns:a="http://schemas.openxmlformats.org/drawingml/2006/main">
              <a:ext uri="{FF2B5EF4-FFF2-40B4-BE49-F238E27FC236}">
                <a16:creationId xmlns:a16="http://schemas.microsoft.com/office/drawing/2014/main" id="{B8CFA9FE-5CFE-4A9E-92C8-F5D31EA3CA52}"/>
              </a:ext>
            </a:extLst>
          </p:cNvPr>
          <p:cNvSpPr>
            <a:spLocks xmlns:a="http://schemas.openxmlformats.org/drawingml/2006/main" noGrp="1"/>
          </p:cNvSpPr>
          <p:nvPr/>
        </p:nvSpPr>
        <p:spPr>
          <a:xfrm xmlns:a="http://schemas.openxmlformats.org/drawingml/2006/main">
            <a:off x="685800" y="3124200"/>
            <a:ext cx="5334000" cy="9525"/>
          </a:xfrm>
          <a:prstGeom xmlns:a="http://schemas.openxmlformats.org/drawingml/2006/main" prst="rect">
            <a:avLst/>
          </a:prstGeom>
          <a:solidFill xmlns:a="http://schemas.openxmlformats.org/drawingml/2006/main">
            <a:srgbClr val="CCD9D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3F7A30-7187-4DAF-BD08-274810DFC9A2}"/>
              </a:ext>
            </a:extLst>
          </p:cNvPr>
          <p:cNvSpPr>
            <a:spLocks xmlns:a="http://schemas.openxmlformats.org/drawingml/2006/main" noGrp="1"/>
          </p:cNvSpPr>
          <p:nvPr/>
        </p:nvSpPr>
        <p:spPr>
          <a:xfrm xmlns:a="http://schemas.openxmlformats.org/drawingml/2006/main">
            <a:off x="685800" y="348615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65786F"/>
                </a:solidFill>
              </a:defRPr>
            </a:defPPr>
          </a:lstStyle>
          <a:p xmlns:a="http://schemas.openxmlformats.org/drawingml/2006/main">
            <a:pPr>
              <a:defRPr sz="1050" b="1" i="0">
                <a:solidFill>
                  <a:srgbClr val="65786F"/>
                </a:solidFill>
              </a:defRPr>
            </a:pPr>
            <a:r>
              <a:rPr sz="1050" b="1" i="0">
                <a:solidFill>
                  <a:srgbClr val="65786F"/>
                </a:solidFill>
              </a:rPr>
              <a:t>03</a:t>
            </a:r>
          </a:p>
        </p:txBody>
      </p:sp>
      <p:sp>
        <p:nvSpPr>
          <p:cNvPr id="11" name="">
            <a:extLst xmlns:a="http://schemas.openxmlformats.org/drawingml/2006/main">
              <a:ext uri="{FF2B5EF4-FFF2-40B4-BE49-F238E27FC236}">
                <a16:creationId xmlns:a16="http://schemas.microsoft.com/office/drawing/2014/main" id="{1564FDE3-A89D-4455-95E3-27BFB2F03D93}"/>
              </a:ext>
            </a:extLst>
          </p:cNvPr>
          <p:cNvSpPr>
            <a:spLocks xmlns:a="http://schemas.openxmlformats.org/drawingml/2006/main" noGrp="1"/>
          </p:cNvSpPr>
          <p:nvPr/>
        </p:nvSpPr>
        <p:spPr>
          <a:xfrm xmlns:a="http://schemas.openxmlformats.org/drawingml/2006/main">
            <a:off x="1257300" y="34480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i="0">
                <a:solidFill>
                  <a:srgbClr val="0B302A"/>
                </a:solidFill>
              </a:defRPr>
            </a:defPPr>
          </a:lstStyle>
          <a:p xmlns:a="http://schemas.openxmlformats.org/drawingml/2006/main">
            <a:pPr>
              <a:defRPr sz="1875" b="1" i="0">
                <a:solidFill>
                  <a:srgbClr val="0B302A"/>
                </a:solidFill>
              </a:defRPr>
            </a:pPr>
            <a:r>
              <a:rPr sz="1875" b="1" i="0">
                <a:solidFill>
                  <a:srgbClr val="0B302A"/>
                </a:solidFill>
              </a:rPr>
              <a:t>No footage stored; consented frames are processed transiently</a:t>
            </a:r>
          </a:p>
        </p:txBody>
      </p:sp>
      <p:sp>
        <p:nvSpPr>
          <p:cNvPr id="12" name="">
            <a:extLst xmlns:a="http://schemas.openxmlformats.org/drawingml/2006/main">
              <a:ext uri="{FF2B5EF4-FFF2-40B4-BE49-F238E27FC236}">
                <a16:creationId xmlns:a16="http://schemas.microsoft.com/office/drawing/2014/main" id="{67632668-1BC2-432B-80D8-2765F313B78D}"/>
              </a:ext>
            </a:extLst>
          </p:cNvPr>
          <p:cNvSpPr>
            <a:spLocks xmlns:a="http://schemas.openxmlformats.org/drawingml/2006/main" noGrp="1"/>
          </p:cNvSpPr>
          <p:nvPr/>
        </p:nvSpPr>
        <p:spPr>
          <a:xfrm xmlns:a="http://schemas.openxmlformats.org/drawingml/2006/main">
            <a:off x="685800" y="3962400"/>
            <a:ext cx="5334000" cy="9525"/>
          </a:xfrm>
          <a:prstGeom xmlns:a="http://schemas.openxmlformats.org/drawingml/2006/main" prst="rect">
            <a:avLst/>
          </a:prstGeom>
          <a:solidFill xmlns:a="http://schemas.openxmlformats.org/drawingml/2006/main">
            <a:srgbClr val="CCD9D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38BBCA9-6430-4D07-90D2-C21189C60A91}"/>
              </a:ext>
            </a:extLst>
          </p:cNvPr>
          <p:cNvSpPr>
            <a:spLocks xmlns:a="http://schemas.openxmlformats.org/drawingml/2006/main" noGrp="1"/>
          </p:cNvSpPr>
          <p:nvPr/>
        </p:nvSpPr>
        <p:spPr>
          <a:xfrm xmlns:a="http://schemas.openxmlformats.org/drawingml/2006/main">
            <a:off x="685800" y="432435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65786F"/>
                </a:solidFill>
              </a:defRPr>
            </a:defPPr>
          </a:lstStyle>
          <a:p xmlns:a="http://schemas.openxmlformats.org/drawingml/2006/main">
            <a:pPr>
              <a:defRPr sz="1050" b="1" i="0">
                <a:solidFill>
                  <a:srgbClr val="65786F"/>
                </a:solidFill>
              </a:defRPr>
            </a:pPr>
            <a:r>
              <a:rPr sz="1050" b="1" i="0">
                <a:solidFill>
                  <a:srgbClr val="65786F"/>
                </a:solidFill>
              </a:rPr>
              <a:t>04</a:t>
            </a:r>
          </a:p>
        </p:txBody>
      </p:sp>
      <p:sp>
        <p:nvSpPr>
          <p:cNvPr id="14" name="">
            <a:extLst xmlns:a="http://schemas.openxmlformats.org/drawingml/2006/main">
              <a:ext uri="{FF2B5EF4-FFF2-40B4-BE49-F238E27FC236}">
                <a16:creationId xmlns:a16="http://schemas.microsoft.com/office/drawing/2014/main" id="{6419952D-D70A-43FD-8F02-844F0E39BD63}"/>
              </a:ext>
            </a:extLst>
          </p:cNvPr>
          <p:cNvSpPr>
            <a:spLocks xmlns:a="http://schemas.openxmlformats.org/drawingml/2006/main" noGrp="1"/>
          </p:cNvSpPr>
          <p:nvPr/>
        </p:nvSpPr>
        <p:spPr>
          <a:xfrm xmlns:a="http://schemas.openxmlformats.org/drawingml/2006/main">
            <a:off x="1257300" y="42862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i="0">
                <a:solidFill>
                  <a:srgbClr val="0B302A"/>
                </a:solidFill>
              </a:defRPr>
            </a:defPPr>
          </a:lstStyle>
          <a:p xmlns:a="http://schemas.openxmlformats.org/drawingml/2006/main">
            <a:pPr>
              <a:defRPr sz="1875" b="1" i="0">
                <a:solidFill>
                  <a:srgbClr val="0B302A"/>
                </a:solidFill>
              </a:defRPr>
            </a:pPr>
            <a:r>
              <a:rPr sz="1875" b="1" i="0">
                <a:solidFill>
                  <a:srgbClr val="0B302A"/>
                </a:solidFill>
              </a:rPr>
              <a:t>Support does not require a measurement</a:t>
            </a:r>
          </a:p>
        </p:txBody>
      </p:sp>
      <p:sp>
        <p:nvSpPr>
          <p:cNvPr id="15" name="">
            <a:extLst xmlns:a="http://schemas.openxmlformats.org/drawingml/2006/main">
              <a:ext uri="{FF2B5EF4-FFF2-40B4-BE49-F238E27FC236}">
                <a16:creationId xmlns:a16="http://schemas.microsoft.com/office/drawing/2014/main" id="{FADA499C-F959-4352-B2EC-93A0F295AF37}"/>
              </a:ext>
            </a:extLst>
          </p:cNvPr>
          <p:cNvSpPr>
            <a:spLocks xmlns:a="http://schemas.openxmlformats.org/drawingml/2006/main" noGrp="1"/>
          </p:cNvSpPr>
          <p:nvPr/>
        </p:nvSpPr>
        <p:spPr>
          <a:xfrm xmlns:a="http://schemas.openxmlformats.org/drawingml/2006/main">
            <a:off x="685800" y="4800600"/>
            <a:ext cx="5334000" cy="9525"/>
          </a:xfrm>
          <a:prstGeom xmlns:a="http://schemas.openxmlformats.org/drawingml/2006/main" prst="rect">
            <a:avLst/>
          </a:prstGeom>
          <a:solidFill xmlns:a="http://schemas.openxmlformats.org/drawingml/2006/main">
            <a:srgbClr val="CCD9D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7691DBE-7F7C-4BBB-8CA1-73C1ADB01F76}"/>
              </a:ext>
            </a:extLst>
          </p:cNvPr>
          <p:cNvSpPr>
            <a:spLocks xmlns:a="http://schemas.openxmlformats.org/drawingml/2006/main" noGrp="1"/>
          </p:cNvSpPr>
          <p:nvPr/>
        </p:nvSpPr>
        <p:spPr>
          <a:xfrm xmlns:a="http://schemas.openxmlformats.org/drawingml/2006/main">
            <a:off x="685800" y="516255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65786F"/>
                </a:solidFill>
              </a:defRPr>
            </a:defPPr>
          </a:lstStyle>
          <a:p xmlns:a="http://schemas.openxmlformats.org/drawingml/2006/main">
            <a:pPr>
              <a:defRPr sz="1050" b="1" i="0">
                <a:solidFill>
                  <a:srgbClr val="65786F"/>
                </a:solidFill>
              </a:defRPr>
            </a:pPr>
            <a:r>
              <a:rPr sz="1050" b="1" i="0">
                <a:solidFill>
                  <a:srgbClr val="65786F"/>
                </a:solidFill>
              </a:rPr>
              <a:t>05</a:t>
            </a:r>
          </a:p>
        </p:txBody>
      </p:sp>
      <p:sp>
        <p:nvSpPr>
          <p:cNvPr id="17" name="">
            <a:extLst xmlns:a="http://schemas.openxmlformats.org/drawingml/2006/main">
              <a:ext uri="{FF2B5EF4-FFF2-40B4-BE49-F238E27FC236}">
                <a16:creationId xmlns:a16="http://schemas.microsoft.com/office/drawing/2014/main" id="{0F59A7A8-697C-4750-9E5E-3CF3E1FAC616}"/>
              </a:ext>
            </a:extLst>
          </p:cNvPr>
          <p:cNvSpPr>
            <a:spLocks xmlns:a="http://schemas.openxmlformats.org/drawingml/2006/main" noGrp="1"/>
          </p:cNvSpPr>
          <p:nvPr/>
        </p:nvSpPr>
        <p:spPr>
          <a:xfrm xmlns:a="http://schemas.openxmlformats.org/drawingml/2006/main">
            <a:off x="1257300" y="51244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i="0">
                <a:solidFill>
                  <a:srgbClr val="0B302A"/>
                </a:solidFill>
              </a:defRPr>
            </a:defPPr>
          </a:lstStyle>
          <a:p xmlns:a="http://schemas.openxmlformats.org/drawingml/2006/main">
            <a:pPr>
              <a:defRPr sz="1875" b="1" i="0">
                <a:solidFill>
                  <a:srgbClr val="0B302A"/>
                </a:solidFill>
              </a:defRPr>
            </a:pPr>
            <a:r>
              <a:rPr sz="1875" b="1" i="0">
                <a:solidFill>
                  <a:srgbClr val="0B302A"/>
                </a:solidFill>
              </a:rPr>
              <a:t>Insufficient data stays insufficient</a:t>
            </a:r>
          </a:p>
        </p:txBody>
      </p:sp>
      <p:sp>
        <p:nvSpPr>
          <p:cNvPr id="18" name="">
            <a:extLst xmlns:a="http://schemas.openxmlformats.org/drawingml/2006/main">
              <a:ext uri="{FF2B5EF4-FFF2-40B4-BE49-F238E27FC236}">
                <a16:creationId xmlns:a16="http://schemas.microsoft.com/office/drawing/2014/main" id="{D127BA89-87B6-43CB-95AC-49CD76E35132}"/>
              </a:ext>
            </a:extLst>
          </p:cNvPr>
          <p:cNvSpPr>
            <a:spLocks xmlns:a="http://schemas.openxmlformats.org/drawingml/2006/main" noGrp="1"/>
          </p:cNvSpPr>
          <p:nvPr/>
        </p:nvSpPr>
        <p:spPr>
          <a:xfrm xmlns:a="http://schemas.openxmlformats.org/drawingml/2006/main">
            <a:off x="685800" y="5638800"/>
            <a:ext cx="5334000" cy="9525"/>
          </a:xfrm>
          <a:prstGeom xmlns:a="http://schemas.openxmlformats.org/drawingml/2006/main" prst="rect">
            <a:avLst/>
          </a:prstGeom>
          <a:solidFill xmlns:a="http://schemas.openxmlformats.org/drawingml/2006/main">
            <a:srgbClr val="CCD9D3"/>
          </a:solidFill>
          <a:ln xmlns:a="http://schemas.openxmlformats.org/drawingml/2006/main" w="0">
            <a:noFill/>
            <a:prstDash val="solid"/>
          </a:ln>
        </p:spPr>
      </p:sp>
      <p:pic>
        <p:nvPicPr>
          <p:cNvPr id="19" name="">
            <a:extLst xmlns:a="http://schemas.openxmlformats.org/drawingml/2006/main">
              <a:ext uri="{FF2B5EF4-FFF2-40B4-BE49-F238E27FC236}">
                <a16:creationId xmlns:a16="http://schemas.microsoft.com/office/drawing/2014/main" id="{1921D3FE-3E34-4207-8AFD-3A7632144CDC}"/>
              </a:ext>
            </a:extLst>
          </p:cNvPr>
          <p:cNvPicPr>
            <a:picLocks xmlns:a="http://schemas.openxmlformats.org/drawingml/2006/main" noChangeAspect="1"/>
          </p:cNvPicPr>
          <p:nvPr/>
        </p:nvPicPr>
        <p:blipFill>
          <a:blip xmlns:r="http://schemas.openxmlformats.org/officeDocument/2006/relationships" xmlns:a="http://schemas.openxmlformats.org/drawingml/2006/main" r:embed="R8fa3f0f09670431a"/>
          <a:srcRect xmlns:a="http://schemas.openxmlformats.org/drawingml/2006/main" l="2000" t="2000" r="4000" b="4000"/>
          <a:stretch xmlns:a="http://schemas.openxmlformats.org/drawingml/2006/main"/>
        </p:blipFill>
        <p:spPr>
          <a:xfrm xmlns:a="http://schemas.openxmlformats.org/drawingml/2006/main">
            <a:off x="6858000" y="1657350"/>
            <a:ext cx="4724400" cy="4343400"/>
          </a:xfrm>
          <a:prstGeom xmlns:a="http://schemas.openxmlformats.org/drawingml/2006/main" prst="roundRect">
            <a:avLst>
              <a:gd name="adj" fmla="val 5263"/>
            </a:avLst>
          </a:prstGeom>
        </p:spPr>
      </p:pic>
    </p:spTree>
    <p:extLst>
      <p:ext uri="{BB962C8B-B14F-4D97-AF65-F5344CB8AC3E}">
        <p14:creationId xmlns:p14="http://schemas.microsoft.com/office/powerpoint/2010/main" val="762845857"/>
      </p:ext>
    </p:extLst>
  </p:cSld>
</p:sld>
</file>

<file path=ppt/slides/slide8.xml><?xml version="1.0" encoding="utf-8"?>
<p:sld xmlns:p="http://schemas.openxmlformats.org/presentationml/2006/main">
  <p:cSld>
    <p:bg>
      <p:bgPr>
        <a:solidFill xmlns:a="http://schemas.openxmlformats.org/drawingml/2006/main">
          <a:srgbClr val="0B302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F09ED6-E123-4F9B-8352-BCBD8A628577}"/>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DDE9E4"/>
                </a:solidFill>
              </a:defRPr>
            </a:defPPr>
          </a:lstStyle>
          <a:p xmlns:a="http://schemas.openxmlformats.org/drawingml/2006/main">
            <a:pPr>
              <a:defRPr sz="825" b="1" i="0">
                <a:solidFill>
                  <a:srgbClr val="DDE9E4"/>
                </a:solidFill>
              </a:defRPr>
            </a:pPr>
            <a:r>
              <a:rPr sz="825" b="1" i="0">
                <a:solidFill>
                  <a:srgbClr val="DDE9E4"/>
                </a:solidFill>
              </a:rPr>
              <a:t>08</a:t>
            </a:r>
          </a:p>
        </p:txBody>
      </p:sp>
      <p:sp>
        <p:nvSpPr>
          <p:cNvPr id="2" name="">
            <a:extLst xmlns:a="http://schemas.openxmlformats.org/drawingml/2006/main">
              <a:ext uri="{FF2B5EF4-FFF2-40B4-BE49-F238E27FC236}">
                <a16:creationId xmlns:a16="http://schemas.microsoft.com/office/drawing/2014/main" id="{F4E7CA26-A17E-4388-949A-A234CA6A3E55}"/>
              </a:ext>
            </a:extLst>
          </p:cNvPr>
          <p:cNvSpPr>
            <a:spLocks xmlns:a="http://schemas.openxmlformats.org/drawingml/2006/main" noGrp="1"/>
          </p:cNvSpPr>
          <p:nvPr/>
        </p:nvSpPr>
        <p:spPr>
          <a:xfrm xmlns:a="http://schemas.openxmlformats.org/drawingml/2006/main">
            <a:off x="609600" y="438150"/>
            <a:ext cx="990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FFFFFF"/>
                </a:solidFill>
              </a:defRPr>
            </a:defPPr>
          </a:lstStyle>
          <a:p xmlns:a="http://schemas.openxmlformats.org/drawingml/2006/main">
            <a:pPr>
              <a:defRPr sz="2550" b="1" i="0">
                <a:solidFill>
                  <a:srgbClr val="FFFFFF"/>
                </a:solidFill>
              </a:defRPr>
            </a:pPr>
            <a:r>
              <a:rPr sz="2550" b="1" i="0">
                <a:solidFill>
                  <a:srgbClr val="FFFFFF"/>
                </a:solidFill>
              </a:rPr>
              <a:t>A possible person-down event reaches a human</a:t>
            </a:r>
          </a:p>
        </p:txBody>
      </p:sp>
      <p:sp>
        <p:nvSpPr>
          <p:cNvPr id="3" name="">
            <a:extLst xmlns:a="http://schemas.openxmlformats.org/drawingml/2006/main">
              <a:ext uri="{FF2B5EF4-FFF2-40B4-BE49-F238E27FC236}">
                <a16:creationId xmlns:a16="http://schemas.microsoft.com/office/drawing/2014/main" id="{6C150961-D39D-455E-93E7-412F15FAB35E}"/>
              </a:ext>
            </a:extLst>
          </p:cNvPr>
          <p:cNvSpPr>
            <a:spLocks xmlns:a="http://schemas.openxmlformats.org/drawingml/2006/main" noGrp="1"/>
          </p:cNvSpPr>
          <p:nvPr/>
        </p:nvSpPr>
        <p:spPr>
          <a:xfrm xmlns:a="http://schemas.openxmlformats.org/drawingml/2006/main">
            <a:off x="628650" y="102870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DDE9E4"/>
                </a:solidFill>
              </a:defRPr>
            </a:defPPr>
          </a:lstStyle>
          <a:p xmlns:a="http://schemas.openxmlformats.org/drawingml/2006/main">
            <a:pPr>
              <a:defRPr sz="1350" b="0" i="0">
                <a:solidFill>
                  <a:srgbClr val="DDE9E4"/>
                </a:solidFill>
              </a:defRPr>
            </a:pPr>
            <a:r>
              <a:rPr sz="1350" b="0" i="0">
                <a:solidFill>
                  <a:srgbClr val="DDE9E4"/>
                </a:solidFill>
              </a:rPr>
              <a:t>The vision prototype surfaces the scene for acknowledgement, investigation, and documented resolution.</a:t>
            </a:r>
          </a:p>
        </p:txBody>
      </p:sp>
      <p:pic>
        <p:nvPicPr>
          <p:cNvPr id="4" name="">
            <a:extLst xmlns:a="http://schemas.openxmlformats.org/drawingml/2006/main">
              <a:ext uri="{FF2B5EF4-FFF2-40B4-BE49-F238E27FC236}">
                <a16:creationId xmlns:a16="http://schemas.microsoft.com/office/drawing/2014/main" id="{8188DBDD-497D-460E-AF1F-819B927FE553}"/>
              </a:ext>
            </a:extLst>
          </p:cNvPr>
          <p:cNvPicPr>
            <a:picLocks xmlns:a="http://schemas.openxmlformats.org/drawingml/2006/main" noChangeAspect="1"/>
          </p:cNvPicPr>
          <p:nvPr/>
        </p:nvPicPr>
        <p:blipFill>
          <a:blip xmlns:r="http://schemas.openxmlformats.org/officeDocument/2006/relationships" xmlns:a="http://schemas.openxmlformats.org/drawingml/2006/main" r:embed="R360f428fed874f82"/>
          <a:srcRect xmlns:a="http://schemas.openxmlformats.org/drawingml/2006/main" l="2000" t="2000" r="2000" b="2000"/>
          <a:stretch xmlns:a="http://schemas.openxmlformats.org/drawingml/2006/main"/>
        </p:blipFill>
        <p:spPr>
          <a:xfrm xmlns:a="http://schemas.openxmlformats.org/drawingml/2006/main">
            <a:off x="609600" y="1714500"/>
            <a:ext cx="6858000" cy="4324350"/>
          </a:xfrm>
          <a:prstGeom xmlns:a="http://schemas.openxmlformats.org/drawingml/2006/main" prst="roundRect">
            <a:avLst>
              <a:gd name="adj" fmla="val 5286"/>
            </a:avLst>
          </a:prstGeom>
        </p:spPr>
      </p:pic>
      <p:pic>
        <p:nvPicPr>
          <p:cNvPr id="5" name="">
            <a:extLst xmlns:a="http://schemas.openxmlformats.org/drawingml/2006/main">
              <a:ext uri="{FF2B5EF4-FFF2-40B4-BE49-F238E27FC236}">
                <a16:creationId xmlns:a16="http://schemas.microsoft.com/office/drawing/2014/main" id="{749AED53-6320-47D2-B7B4-C403E5AA545B}"/>
              </a:ext>
            </a:extLst>
          </p:cNvPr>
          <p:cNvPicPr>
            <a:picLocks xmlns:a="http://schemas.openxmlformats.org/drawingml/2006/main" noChangeAspect="1"/>
          </p:cNvPicPr>
          <p:nvPr/>
        </p:nvPicPr>
        <p:blipFill>
          <a:blip xmlns:r="http://schemas.openxmlformats.org/officeDocument/2006/relationships" xmlns:a="http://schemas.openxmlformats.org/drawingml/2006/main" r:embed="Rba89ceaea74240ce"/>
          <a:srcRect xmlns:a="http://schemas.openxmlformats.org/drawingml/2006/main" l="8000" t="5000" r="4000" b="5000"/>
          <a:stretch xmlns:a="http://schemas.openxmlformats.org/drawingml/2006/main"/>
        </p:blipFill>
        <p:spPr>
          <a:xfrm xmlns:a="http://schemas.openxmlformats.org/drawingml/2006/main">
            <a:off x="7810500" y="1714500"/>
            <a:ext cx="3771900" cy="2857500"/>
          </a:xfrm>
          <a:prstGeom xmlns:a="http://schemas.openxmlformats.org/drawingml/2006/main" prst="roundRect">
            <a:avLst>
              <a:gd name="adj" fmla="val 8000"/>
            </a:avLst>
          </a:prstGeom>
        </p:spPr>
      </p:pic>
      <p:sp>
        <p:nvSpPr>
          <p:cNvPr id="6" name="">
            <a:extLst xmlns:a="http://schemas.openxmlformats.org/drawingml/2006/main">
              <a:ext uri="{FF2B5EF4-FFF2-40B4-BE49-F238E27FC236}">
                <a16:creationId xmlns:a16="http://schemas.microsoft.com/office/drawing/2014/main" id="{B017A869-D4AC-4F52-B6B4-4FA5A45E3A76}"/>
              </a:ext>
            </a:extLst>
          </p:cNvPr>
          <p:cNvSpPr>
            <a:spLocks xmlns:a="http://schemas.openxmlformats.org/drawingml/2006/main" noGrp="1"/>
          </p:cNvSpPr>
          <p:nvPr/>
        </p:nvSpPr>
        <p:spPr>
          <a:xfrm xmlns:a="http://schemas.openxmlformats.org/drawingml/2006/main">
            <a:off x="7886700" y="491490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975" b="1" i="0">
                <a:solidFill>
                  <a:srgbClr val="FFCE73"/>
                </a:solidFill>
              </a:defRPr>
            </a:defPPr>
          </a:lstStyle>
          <a:p xmlns:a="http://schemas.openxmlformats.org/drawingml/2006/main">
            <a:pPr>
              <a:defRPr sz="975" b="1" i="0">
                <a:solidFill>
                  <a:srgbClr val="FFCE73"/>
                </a:solidFill>
              </a:defRPr>
            </a:pPr>
            <a:r>
              <a:rPr sz="975" b="1" i="0">
                <a:solidFill>
                  <a:srgbClr val="FFCE73"/>
                </a:solidFill>
              </a:rPr>
              <a:t>POSSIBLE EVENT</a:t>
            </a:r>
          </a:p>
        </p:txBody>
      </p:sp>
      <p:sp>
        <p:nvSpPr>
          <p:cNvPr id="7" name="">
            <a:extLst xmlns:a="http://schemas.openxmlformats.org/drawingml/2006/main">
              <a:ext uri="{FF2B5EF4-FFF2-40B4-BE49-F238E27FC236}">
                <a16:creationId xmlns:a16="http://schemas.microsoft.com/office/drawing/2014/main" id="{D7A775C5-D4EB-45D3-9C85-2565CCF9D60E}"/>
              </a:ext>
            </a:extLst>
          </p:cNvPr>
          <p:cNvSpPr>
            <a:spLocks xmlns:a="http://schemas.openxmlformats.org/drawingml/2006/main" noGrp="1"/>
          </p:cNvSpPr>
          <p:nvPr/>
        </p:nvSpPr>
        <p:spPr>
          <a:xfrm xmlns:a="http://schemas.openxmlformats.org/drawingml/2006/main">
            <a:off x="7886700" y="5257800"/>
            <a:ext cx="342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00" b="1" i="0">
                <a:solidFill>
                  <a:srgbClr val="FFFFFF"/>
                </a:solidFill>
              </a:defRPr>
            </a:defPPr>
          </a:lstStyle>
          <a:p xmlns:a="http://schemas.openxmlformats.org/drawingml/2006/main">
            <a:pPr>
              <a:defRPr sz="1800" b="1" i="0">
                <a:solidFill>
                  <a:srgbClr val="FFFFFF"/>
                </a:solidFill>
              </a:defRPr>
            </a:pPr>
            <a:r>
              <a:rPr sz="1800" b="1" i="0">
                <a:solidFill>
                  <a:srgbClr val="FFFFFF"/>
                </a:solidFill>
              </a:rPr>
              <a:t>A heuristic raises the review. A person closes it.</a:t>
            </a:r>
          </a:p>
        </p:txBody>
      </p:sp>
    </p:spTree>
    <p:extLst>
      <p:ext uri="{BB962C8B-B14F-4D97-AF65-F5344CB8AC3E}">
        <p14:creationId xmlns:p14="http://schemas.microsoft.com/office/powerpoint/2010/main" val="20708525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344F813-FE82-4FF6-9480-F66261BC1B03}"/>
              </a:ext>
            </a:extLst>
          </p:cNvPr>
          <p:cNvSpPr>
            <a:spLocks xmlns:a="http://schemas.openxmlformats.org/drawingml/2006/main" noGrp="1"/>
          </p:cNvSpPr>
          <p:nvPr/>
        </p:nvSpPr>
        <p:spPr>
          <a:xfrm xmlns:a="http://schemas.openxmlformats.org/drawingml/2006/main">
            <a:off x="11334750" y="266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i="0">
                <a:solidFill>
                  <a:srgbClr val="65786F"/>
                </a:solidFill>
              </a:defRPr>
            </a:defPPr>
          </a:lstStyle>
          <a:p xmlns:a="http://schemas.openxmlformats.org/drawingml/2006/main">
            <a:pPr>
              <a:defRPr sz="825" b="1" i="0">
                <a:solidFill>
                  <a:srgbClr val="65786F"/>
                </a:solidFill>
              </a:defRPr>
            </a:pPr>
            <a:r>
              <a:rPr sz="825" b="1" i="0">
                <a:solidFill>
                  <a:srgbClr val="65786F"/>
                </a:solidFill>
              </a:rPr>
              <a:t>09</a:t>
            </a:r>
          </a:p>
        </p:txBody>
      </p:sp>
      <p:sp>
        <p:nvSpPr>
          <p:cNvPr id="2" name="">
            <a:extLst xmlns:a="http://schemas.openxmlformats.org/drawingml/2006/main">
              <a:ext uri="{FF2B5EF4-FFF2-40B4-BE49-F238E27FC236}">
                <a16:creationId xmlns:a16="http://schemas.microsoft.com/office/drawing/2014/main" id="{AAF0F99E-D9A9-442E-B44C-A1CC86655F7F}"/>
              </a:ext>
            </a:extLst>
          </p:cNvPr>
          <p:cNvSpPr>
            <a:spLocks xmlns:a="http://schemas.openxmlformats.org/drawingml/2006/main" noGrp="1"/>
          </p:cNvSpPr>
          <p:nvPr/>
        </p:nvSpPr>
        <p:spPr>
          <a:xfrm xmlns:a="http://schemas.openxmlformats.org/drawingml/2006/main">
            <a:off x="609600" y="457200"/>
            <a:ext cx="723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i="0">
                <a:solidFill>
                  <a:srgbClr val="0B302A"/>
                </a:solidFill>
              </a:defRPr>
            </a:defPPr>
          </a:lstStyle>
          <a:p xmlns:a="http://schemas.openxmlformats.org/drawingml/2006/main">
            <a:pPr>
              <a:defRPr sz="2550" b="1" i="0">
                <a:solidFill>
                  <a:srgbClr val="0B302A"/>
                </a:solidFill>
              </a:defRPr>
            </a:pPr>
            <a:r>
              <a:rPr sz="2550" b="1" i="0">
                <a:solidFill>
                  <a:srgbClr val="0B302A"/>
                </a:solidFill>
              </a:rPr>
              <a:t>What the team proved</a:t>
            </a:r>
          </a:p>
        </p:txBody>
      </p:sp>
      <p:sp>
        <p:nvSpPr>
          <p:cNvPr id="3" name="">
            <a:extLst xmlns:a="http://schemas.openxmlformats.org/drawingml/2006/main">
              <a:ext uri="{FF2B5EF4-FFF2-40B4-BE49-F238E27FC236}">
                <a16:creationId xmlns:a16="http://schemas.microsoft.com/office/drawing/2014/main" id="{93220C02-C8B0-4E3C-8764-4618EA9EEE1B}"/>
              </a:ext>
            </a:extLst>
          </p:cNvPr>
          <p:cNvSpPr>
            <a:spLocks xmlns:a="http://schemas.openxmlformats.org/drawingml/2006/main" noGrp="1"/>
          </p:cNvSpPr>
          <p:nvPr/>
        </p:nvSpPr>
        <p:spPr>
          <a:xfrm xmlns:a="http://schemas.openxmlformats.org/drawingml/2006/main">
            <a:off x="628650" y="1028700"/>
            <a:ext cx="723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350" b="0" i="0">
                <a:solidFill>
                  <a:srgbClr val="65786F"/>
                </a:solidFill>
              </a:defRPr>
            </a:defPPr>
          </a:lstStyle>
          <a:p xmlns:a="http://schemas.openxmlformats.org/drawingml/2006/main">
            <a:pPr>
              <a:defRPr sz="1350" b="0" i="0">
                <a:solidFill>
                  <a:srgbClr val="65786F"/>
                </a:solidFill>
              </a:defRPr>
            </a:pPr>
            <a:r>
              <a:rPr sz="1350" b="0" i="0">
                <a:solidFill>
                  <a:srgbClr val="65786F"/>
                </a:solidFill>
              </a:rPr>
              <a:t>Evidence from the repository and recorded rehearsal</a:t>
            </a:r>
          </a:p>
        </p:txBody>
      </p:sp>
      <p:sp>
        <p:nvSpPr>
          <p:cNvPr id="4" name="">
            <a:extLst xmlns:a="http://schemas.openxmlformats.org/drawingml/2006/main">
              <a:ext uri="{FF2B5EF4-FFF2-40B4-BE49-F238E27FC236}">
                <a16:creationId xmlns:a16="http://schemas.microsoft.com/office/drawing/2014/main" id="{D0D71DBB-5A1B-4A12-93BA-05702FD400D7}"/>
              </a:ext>
            </a:extLst>
          </p:cNvPr>
          <p:cNvSpPr>
            <a:spLocks xmlns:a="http://schemas.openxmlformats.org/drawingml/2006/main" noGrp="1"/>
          </p:cNvSpPr>
          <p:nvPr/>
        </p:nvSpPr>
        <p:spPr>
          <a:xfrm xmlns:a="http://schemas.openxmlformats.org/drawingml/2006/main">
            <a:off x="704850" y="1828800"/>
            <a:ext cx="2000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850" b="1" i="0">
                <a:solidFill>
                  <a:srgbClr val="0B302A"/>
                </a:solidFill>
              </a:defRPr>
            </a:defPPr>
          </a:lstStyle>
          <a:p xmlns:a="http://schemas.openxmlformats.org/drawingml/2006/main">
            <a:pPr>
              <a:defRPr sz="2850" b="1" i="0">
                <a:solidFill>
                  <a:srgbClr val="0B302A"/>
                </a:solidFill>
              </a:defRPr>
            </a:pPr>
            <a:r>
              <a:rPr sz="2850" b="1" i="0">
                <a:solidFill>
                  <a:srgbClr val="0B302A"/>
                </a:solidFill>
              </a:rPr>
              <a:t>11 / 11</a:t>
            </a:r>
          </a:p>
        </p:txBody>
      </p:sp>
      <p:sp>
        <p:nvSpPr>
          <p:cNvPr id="5" name="">
            <a:extLst xmlns:a="http://schemas.openxmlformats.org/drawingml/2006/main">
              <a:ext uri="{FF2B5EF4-FFF2-40B4-BE49-F238E27FC236}">
                <a16:creationId xmlns:a16="http://schemas.microsoft.com/office/drawing/2014/main" id="{E1FFF429-0AE5-47D1-8C26-58AFFF478594}"/>
              </a:ext>
            </a:extLst>
          </p:cNvPr>
          <p:cNvSpPr>
            <a:spLocks xmlns:a="http://schemas.openxmlformats.org/drawingml/2006/main" noGrp="1"/>
          </p:cNvSpPr>
          <p:nvPr/>
        </p:nvSpPr>
        <p:spPr>
          <a:xfrm xmlns:a="http://schemas.openxmlformats.org/drawingml/2006/main">
            <a:off x="2857500" y="18478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00" b="1" i="0">
                <a:solidFill>
                  <a:srgbClr val="0B302A"/>
                </a:solidFill>
              </a:defRPr>
            </a:defPPr>
          </a:lstStyle>
          <a:p xmlns:a="http://schemas.openxmlformats.org/drawingml/2006/main">
            <a:pPr>
              <a:defRPr sz="1800" b="1" i="0">
                <a:solidFill>
                  <a:srgbClr val="0B302A"/>
                </a:solidFill>
              </a:defRPr>
            </a:pPr>
            <a:r>
              <a:rPr sz="1800" b="1" i="0">
                <a:solidFill>
                  <a:srgbClr val="0B302A"/>
                </a:solidFill>
              </a:rPr>
              <a:t>Core rehearsal beats passed</a:t>
            </a:r>
          </a:p>
        </p:txBody>
      </p:sp>
      <p:sp>
        <p:nvSpPr>
          <p:cNvPr id="6" name="">
            <a:extLst xmlns:a="http://schemas.openxmlformats.org/drawingml/2006/main">
              <a:ext uri="{FF2B5EF4-FFF2-40B4-BE49-F238E27FC236}">
                <a16:creationId xmlns:a16="http://schemas.microsoft.com/office/drawing/2014/main" id="{0954D593-6729-4873-AD41-13FEF6B74123}"/>
              </a:ext>
            </a:extLst>
          </p:cNvPr>
          <p:cNvSpPr>
            <a:spLocks xmlns:a="http://schemas.openxmlformats.org/drawingml/2006/main" noGrp="1"/>
          </p:cNvSpPr>
          <p:nvPr/>
        </p:nvSpPr>
        <p:spPr>
          <a:xfrm xmlns:a="http://schemas.openxmlformats.org/drawingml/2006/main">
            <a:off x="2857500" y="224790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75" b="0" i="0">
                <a:solidFill>
                  <a:srgbClr val="65786F"/>
                </a:solidFill>
              </a:defRPr>
            </a:defPPr>
          </a:lstStyle>
          <a:p xmlns:a="http://schemas.openxmlformats.org/drawingml/2006/main">
            <a:pPr>
              <a:defRPr sz="1275" b="0" i="0">
                <a:solidFill>
                  <a:srgbClr val="65786F"/>
                </a:solidFill>
              </a:defRPr>
            </a:pPr>
            <a:r>
              <a:rPr sz="1275" b="0" i="0">
                <a:solidFill>
                  <a:srgbClr val="65786F"/>
                </a:solidFill>
              </a:rPr>
              <a:t>Real browser, production build, synthetic data</a:t>
            </a:r>
          </a:p>
        </p:txBody>
      </p:sp>
      <p:sp>
        <p:nvSpPr>
          <p:cNvPr id="7" name="">
            <a:extLst xmlns:a="http://schemas.openxmlformats.org/drawingml/2006/main">
              <a:ext uri="{FF2B5EF4-FFF2-40B4-BE49-F238E27FC236}">
                <a16:creationId xmlns:a16="http://schemas.microsoft.com/office/drawing/2014/main" id="{DC3F5862-206E-418D-ACC9-6216AA8101AA}"/>
              </a:ext>
            </a:extLst>
          </p:cNvPr>
          <p:cNvSpPr>
            <a:spLocks xmlns:a="http://schemas.openxmlformats.org/drawingml/2006/main" noGrp="1"/>
          </p:cNvSpPr>
          <p:nvPr/>
        </p:nvSpPr>
        <p:spPr>
          <a:xfrm xmlns:a="http://schemas.openxmlformats.org/drawingml/2006/main">
            <a:off x="685800" y="2762250"/>
            <a:ext cx="10572750" cy="9525"/>
          </a:xfrm>
          <a:prstGeom xmlns:a="http://schemas.openxmlformats.org/drawingml/2006/main" prst="rect">
            <a:avLst/>
          </a:prstGeom>
          <a:solidFill xmlns:a="http://schemas.openxmlformats.org/drawingml/2006/main">
            <a:srgbClr val="D6E0D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36FC94A-5898-43DD-B9C5-47C51702A6C9}"/>
              </a:ext>
            </a:extLst>
          </p:cNvPr>
          <p:cNvSpPr>
            <a:spLocks xmlns:a="http://schemas.openxmlformats.org/drawingml/2006/main" noGrp="1"/>
          </p:cNvSpPr>
          <p:nvPr/>
        </p:nvSpPr>
        <p:spPr>
          <a:xfrm xmlns:a="http://schemas.openxmlformats.org/drawingml/2006/main">
            <a:off x="704850" y="3124200"/>
            <a:ext cx="2000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850" b="1" i="0">
                <a:solidFill>
                  <a:srgbClr val="174C3F"/>
                </a:solidFill>
              </a:defRPr>
            </a:defPPr>
          </a:lstStyle>
          <a:p xmlns:a="http://schemas.openxmlformats.org/drawingml/2006/main">
            <a:pPr>
              <a:defRPr sz="2850" b="1" i="0">
                <a:solidFill>
                  <a:srgbClr val="174C3F"/>
                </a:solidFill>
              </a:defRPr>
            </a:pPr>
            <a:r>
              <a:rPr sz="2850" b="1" i="0">
                <a:solidFill>
                  <a:srgbClr val="174C3F"/>
                </a:solidFill>
              </a:rPr>
              <a:t>PASS</a:t>
            </a:r>
          </a:p>
        </p:txBody>
      </p:sp>
      <p:sp>
        <p:nvSpPr>
          <p:cNvPr id="9" name="">
            <a:extLst xmlns:a="http://schemas.openxmlformats.org/drawingml/2006/main">
              <a:ext uri="{FF2B5EF4-FFF2-40B4-BE49-F238E27FC236}">
                <a16:creationId xmlns:a16="http://schemas.microsoft.com/office/drawing/2014/main" id="{315DA15C-426A-44A5-8834-8C0F39A2289A}"/>
              </a:ext>
            </a:extLst>
          </p:cNvPr>
          <p:cNvSpPr>
            <a:spLocks xmlns:a="http://schemas.openxmlformats.org/drawingml/2006/main" noGrp="1"/>
          </p:cNvSpPr>
          <p:nvPr/>
        </p:nvSpPr>
        <p:spPr>
          <a:xfrm xmlns:a="http://schemas.openxmlformats.org/drawingml/2006/main">
            <a:off x="2857500" y="31432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00" b="1" i="0">
                <a:solidFill>
                  <a:srgbClr val="0B302A"/>
                </a:solidFill>
              </a:defRPr>
            </a:defPPr>
          </a:lstStyle>
          <a:p xmlns:a="http://schemas.openxmlformats.org/drawingml/2006/main">
            <a:pPr>
              <a:defRPr sz="1800" b="1" i="0">
                <a:solidFill>
                  <a:srgbClr val="0B302A"/>
                </a:solidFill>
              </a:defRPr>
            </a:pPr>
            <a:r>
              <a:rPr sz="1800" b="1" i="0">
                <a:solidFill>
                  <a:srgbClr val="0B302A"/>
                </a:solidFill>
              </a:rPr>
              <a:t>Tiger Data verification</a:t>
            </a:r>
          </a:p>
        </p:txBody>
      </p:sp>
      <p:sp>
        <p:nvSpPr>
          <p:cNvPr id="10" name="">
            <a:extLst xmlns:a="http://schemas.openxmlformats.org/drawingml/2006/main">
              <a:ext uri="{FF2B5EF4-FFF2-40B4-BE49-F238E27FC236}">
                <a16:creationId xmlns:a16="http://schemas.microsoft.com/office/drawing/2014/main" id="{55332F07-E46C-43AF-92E1-4C4D6656CF8D}"/>
              </a:ext>
            </a:extLst>
          </p:cNvPr>
          <p:cNvSpPr>
            <a:spLocks xmlns:a="http://schemas.openxmlformats.org/drawingml/2006/main" noGrp="1"/>
          </p:cNvSpPr>
          <p:nvPr/>
        </p:nvSpPr>
        <p:spPr>
          <a:xfrm xmlns:a="http://schemas.openxmlformats.org/drawingml/2006/main">
            <a:off x="2857500" y="354330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75" b="0" i="0">
                <a:solidFill>
                  <a:srgbClr val="65786F"/>
                </a:solidFill>
              </a:defRPr>
            </a:defPPr>
          </a:lstStyle>
          <a:p xmlns:a="http://schemas.openxmlformats.org/drawingml/2006/main">
            <a:pPr>
              <a:defRPr sz="1275" b="0" i="0">
                <a:solidFill>
                  <a:srgbClr val="65786F"/>
                </a:solidFill>
              </a:defRPr>
            </a:pPr>
            <a:r>
              <a:rPr sz="1275" b="0" i="0">
                <a:solidFill>
                  <a:srgbClr val="65786F"/>
                </a:solidFill>
              </a:rPr>
              <a:t>PostgreSQL 18.6, TLS 1.3, TimescaleDB 2.30.2</a:t>
            </a:r>
          </a:p>
        </p:txBody>
      </p:sp>
      <p:sp>
        <p:nvSpPr>
          <p:cNvPr id="11" name="">
            <a:extLst xmlns:a="http://schemas.openxmlformats.org/drawingml/2006/main">
              <a:ext uri="{FF2B5EF4-FFF2-40B4-BE49-F238E27FC236}">
                <a16:creationId xmlns:a16="http://schemas.microsoft.com/office/drawing/2014/main" id="{BDE4BC32-ACCE-4A2D-AE3B-D50C769A159F}"/>
              </a:ext>
            </a:extLst>
          </p:cNvPr>
          <p:cNvSpPr>
            <a:spLocks xmlns:a="http://schemas.openxmlformats.org/drawingml/2006/main" noGrp="1"/>
          </p:cNvSpPr>
          <p:nvPr/>
        </p:nvSpPr>
        <p:spPr>
          <a:xfrm xmlns:a="http://schemas.openxmlformats.org/drawingml/2006/main">
            <a:off x="685800" y="4057650"/>
            <a:ext cx="10572750" cy="9525"/>
          </a:xfrm>
          <a:prstGeom xmlns:a="http://schemas.openxmlformats.org/drawingml/2006/main" prst="rect">
            <a:avLst/>
          </a:prstGeom>
          <a:solidFill xmlns:a="http://schemas.openxmlformats.org/drawingml/2006/main">
            <a:srgbClr val="D6E0D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0466FE-E00D-4F41-9493-DBE8A1FA0DF1}"/>
              </a:ext>
            </a:extLst>
          </p:cNvPr>
          <p:cNvSpPr>
            <a:spLocks xmlns:a="http://schemas.openxmlformats.org/drawingml/2006/main" noGrp="1"/>
          </p:cNvSpPr>
          <p:nvPr/>
        </p:nvSpPr>
        <p:spPr>
          <a:xfrm xmlns:a="http://schemas.openxmlformats.org/drawingml/2006/main">
            <a:off x="704850" y="4419600"/>
            <a:ext cx="2000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850" b="1" i="0">
                <a:solidFill>
                  <a:srgbClr val="0B302A"/>
                </a:solidFill>
              </a:defRPr>
            </a:defPPr>
          </a:lstStyle>
          <a:p xmlns:a="http://schemas.openxmlformats.org/drawingml/2006/main">
            <a:pPr>
              <a:defRPr sz="2850" b="1" i="0">
                <a:solidFill>
                  <a:srgbClr val="0B302A"/>
                </a:solidFill>
              </a:defRPr>
            </a:pPr>
            <a:r>
              <a:rPr sz="2850" b="1" i="0">
                <a:solidFill>
                  <a:srgbClr val="0B302A"/>
                </a:solidFill>
              </a:rPr>
              <a:t>36</a:t>
            </a:r>
          </a:p>
        </p:txBody>
      </p:sp>
      <p:sp>
        <p:nvSpPr>
          <p:cNvPr id="13" name="">
            <a:extLst xmlns:a="http://schemas.openxmlformats.org/drawingml/2006/main">
              <a:ext uri="{FF2B5EF4-FFF2-40B4-BE49-F238E27FC236}">
                <a16:creationId xmlns:a16="http://schemas.microsoft.com/office/drawing/2014/main" id="{FF0A9D20-4F19-4980-92C0-51A3CD05CCFE}"/>
              </a:ext>
            </a:extLst>
          </p:cNvPr>
          <p:cNvSpPr>
            <a:spLocks xmlns:a="http://schemas.openxmlformats.org/drawingml/2006/main" noGrp="1"/>
          </p:cNvSpPr>
          <p:nvPr/>
        </p:nvSpPr>
        <p:spPr>
          <a:xfrm xmlns:a="http://schemas.openxmlformats.org/drawingml/2006/main">
            <a:off x="2857500" y="44386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00" b="1" i="0">
                <a:solidFill>
                  <a:srgbClr val="0B302A"/>
                </a:solidFill>
              </a:defRPr>
            </a:defPPr>
          </a:lstStyle>
          <a:p xmlns:a="http://schemas.openxmlformats.org/drawingml/2006/main">
            <a:pPr>
              <a:defRPr sz="1800" b="1" i="0">
                <a:solidFill>
                  <a:srgbClr val="0B302A"/>
                </a:solidFill>
              </a:defRPr>
            </a:pPr>
            <a:r>
              <a:rPr sz="1800" b="1" i="0">
                <a:solidFill>
                  <a:srgbClr val="0B302A"/>
                </a:solidFill>
              </a:rPr>
              <a:t>Fall prototype tests passed</a:t>
            </a:r>
          </a:p>
        </p:txBody>
      </p:sp>
      <p:sp>
        <p:nvSpPr>
          <p:cNvPr id="14" name="">
            <a:extLst xmlns:a="http://schemas.openxmlformats.org/drawingml/2006/main">
              <a:ext uri="{FF2B5EF4-FFF2-40B4-BE49-F238E27FC236}">
                <a16:creationId xmlns:a16="http://schemas.microsoft.com/office/drawing/2014/main" id="{EDC1185F-73A4-429A-BDDD-1F086CE476FD}"/>
              </a:ext>
            </a:extLst>
          </p:cNvPr>
          <p:cNvSpPr>
            <a:spLocks xmlns:a="http://schemas.openxmlformats.org/drawingml/2006/main" noGrp="1"/>
          </p:cNvSpPr>
          <p:nvPr/>
        </p:nvSpPr>
        <p:spPr>
          <a:xfrm xmlns:a="http://schemas.openxmlformats.org/drawingml/2006/main">
            <a:off x="2857500" y="483870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75" b="0" i="0">
                <a:solidFill>
                  <a:srgbClr val="65786F"/>
                </a:solidFill>
              </a:defRPr>
            </a:defPPr>
          </a:lstStyle>
          <a:p xmlns:a="http://schemas.openxmlformats.org/drawingml/2006/main">
            <a:pPr>
              <a:defRPr sz="1275" b="0" i="0">
                <a:solidFill>
                  <a:srgbClr val="65786F"/>
                </a:solidFill>
              </a:defRPr>
            </a:pPr>
            <a:r>
              <a:rPr sz="1275" b="0" i="0">
                <a:solidFill>
                  <a:srgbClr val="65786F"/>
                </a:solidFill>
              </a:rPr>
              <a:t>Synthetic demo and human closure workflow</a:t>
            </a:r>
          </a:p>
        </p:txBody>
      </p:sp>
      <p:sp>
        <p:nvSpPr>
          <p:cNvPr id="15" name="">
            <a:extLst xmlns:a="http://schemas.openxmlformats.org/drawingml/2006/main">
              <a:ext uri="{FF2B5EF4-FFF2-40B4-BE49-F238E27FC236}">
                <a16:creationId xmlns:a16="http://schemas.microsoft.com/office/drawing/2014/main" id="{4469F58E-D57B-4488-87E4-97CF5FE7437C}"/>
              </a:ext>
            </a:extLst>
          </p:cNvPr>
          <p:cNvSpPr>
            <a:spLocks xmlns:a="http://schemas.openxmlformats.org/drawingml/2006/main" noGrp="1"/>
          </p:cNvSpPr>
          <p:nvPr/>
        </p:nvSpPr>
        <p:spPr>
          <a:xfrm xmlns:a="http://schemas.openxmlformats.org/drawingml/2006/main">
            <a:off x="685800" y="5353050"/>
            <a:ext cx="10572750" cy="9525"/>
          </a:xfrm>
          <a:prstGeom xmlns:a="http://schemas.openxmlformats.org/drawingml/2006/main" prst="rect">
            <a:avLst/>
          </a:prstGeom>
          <a:solidFill xmlns:a="http://schemas.openxmlformats.org/drawingml/2006/main">
            <a:srgbClr val="D6E0D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58C12A1-D90D-4E59-9B39-2BA1D034A449}"/>
              </a:ext>
            </a:extLst>
          </p:cNvPr>
          <p:cNvSpPr>
            <a:spLocks xmlns:a="http://schemas.openxmlformats.org/drawingml/2006/main" noGrp="1"/>
          </p:cNvSpPr>
          <p:nvPr/>
        </p:nvSpPr>
        <p:spPr>
          <a:xfrm xmlns:a="http://schemas.openxmlformats.org/drawingml/2006/main">
            <a:off x="8858250" y="1771650"/>
            <a:ext cx="2419350" cy="3848100"/>
          </a:xfrm>
          <a:prstGeom xmlns:a="http://schemas.openxmlformats.org/drawingml/2006/main" prst="roundRect">
            <a:avLst>
              <a:gd name="adj" fmla="val 9449"/>
            </a:avLst>
          </a:prstGeom>
          <a:solidFill xmlns:a="http://schemas.openxmlformats.org/drawingml/2006/main">
            <a:srgbClr val="0B302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5FD2B43-0EB7-436F-8E81-784D20E74469}"/>
              </a:ext>
            </a:extLst>
          </p:cNvPr>
          <p:cNvSpPr>
            <a:spLocks xmlns:a="http://schemas.openxmlformats.org/drawingml/2006/main" noGrp="1"/>
          </p:cNvSpPr>
          <p:nvPr/>
        </p:nvSpPr>
        <p:spPr>
          <a:xfrm xmlns:a="http://schemas.openxmlformats.org/drawingml/2006/main">
            <a:off x="9105900" y="2095500"/>
            <a:ext cx="1885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NEXT</a:t>
            </a:r>
          </a:p>
        </p:txBody>
      </p:sp>
      <p:sp>
        <p:nvSpPr>
          <p:cNvPr id="18" name="">
            <a:extLst xmlns:a="http://schemas.openxmlformats.org/drawingml/2006/main">
              <a:ext uri="{FF2B5EF4-FFF2-40B4-BE49-F238E27FC236}">
                <a16:creationId xmlns:a16="http://schemas.microsoft.com/office/drawing/2014/main" id="{47A3A28D-7AED-47D1-9CCC-DB4BCC842590}"/>
              </a:ext>
            </a:extLst>
          </p:cNvPr>
          <p:cNvSpPr>
            <a:spLocks xmlns:a="http://schemas.openxmlformats.org/drawingml/2006/main" noGrp="1"/>
          </p:cNvSpPr>
          <p:nvPr/>
        </p:nvSpPr>
        <p:spPr>
          <a:xfrm xmlns:a="http://schemas.openxmlformats.org/drawingml/2006/main">
            <a:off x="9105900" y="2705100"/>
            <a:ext cx="18859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i="0">
                <a:solidFill>
                  <a:srgbClr val="FFFFFF"/>
                </a:solidFill>
              </a:defRPr>
            </a:defPPr>
          </a:lstStyle>
          <a:p xmlns:a="http://schemas.openxmlformats.org/drawingml/2006/main">
            <a:pPr>
              <a:defRPr sz="1725" b="1" i="0">
                <a:solidFill>
                  <a:srgbClr val="FFFFFF"/>
                </a:solidFill>
              </a:defRPr>
            </a:pPr>
            <a:r>
              <a:rPr sz="1725" b="1" i="0">
                <a:solidFill>
                  <a:srgbClr val="FFFFFF"/>
                </a:solidFill>
              </a:rPr>
              <a:t>Reliable mobile capture</a:t>
            </a:r>
          </a:p>
          <a:p xmlns:a="http://schemas.openxmlformats.org/drawingml/2006/main">
            <a:r>
              <a:t/>
            </a:r>
          </a:p>
          <a:p xmlns:a="http://schemas.openxmlformats.org/drawingml/2006/main">
            <a:pPr>
              <a:defRPr sz="1725" b="1" i="0">
                <a:solidFill>
                  <a:srgbClr val="FFFFFF"/>
                </a:solidFill>
              </a:defRPr>
            </a:pPr>
            <a:r>
              <a:rPr sz="1725" b="1" i="0">
                <a:solidFill>
                  <a:srgbClr val="FFFFFF"/>
                </a:solidFill>
              </a:rPr>
              <a:t>Labeled-data evaluation</a:t>
            </a:r>
          </a:p>
          <a:p xmlns:a="http://schemas.openxmlformats.org/drawingml/2006/main">
            <a:r>
              <a:t/>
            </a:r>
          </a:p>
          <a:p xmlns:a="http://schemas.openxmlformats.org/drawingml/2006/main">
            <a:pPr>
              <a:defRPr sz="1725" b="1" i="0">
                <a:solidFill>
                  <a:srgbClr val="FFFFFF"/>
                </a:solidFill>
              </a:defRPr>
            </a:pPr>
            <a:r>
              <a:rPr sz="1725" b="1" i="0">
                <a:solidFill>
                  <a:srgbClr val="FFFFFF"/>
                </a:solidFill>
              </a:rPr>
              <a:t>On-site pilot</a:t>
            </a:r>
          </a:p>
        </p:txBody>
      </p:sp>
      <p:sp>
        <p:nvSpPr>
          <p:cNvPr id="19" name="">
            <a:extLst xmlns:a="http://schemas.openxmlformats.org/drawingml/2006/main">
              <a:ext uri="{FF2B5EF4-FFF2-40B4-BE49-F238E27FC236}">
                <a16:creationId xmlns:a16="http://schemas.microsoft.com/office/drawing/2014/main" id="{331EAA8E-323C-4210-8C77-611ADF0F669C}"/>
              </a:ext>
            </a:extLst>
          </p:cNvPr>
          <p:cNvSpPr>
            <a:spLocks xmlns:a="http://schemas.openxmlformats.org/drawingml/2006/main" noGrp="1"/>
          </p:cNvSpPr>
          <p:nvPr/>
        </p:nvSpPr>
        <p:spPr>
          <a:xfrm xmlns:a="http://schemas.openxmlformats.org/drawingml/2006/main">
            <a:off x="685800" y="6115050"/>
            <a:ext cx="781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0" i="0">
                <a:solidFill>
                  <a:srgbClr val="65786F"/>
                </a:solidFill>
              </a:defRPr>
            </a:defPPr>
          </a:lstStyle>
          <a:p xmlns:a="http://schemas.openxmlformats.org/drawingml/2006/main">
            <a:pPr>
              <a:defRPr sz="1050" b="0" i="0">
                <a:solidFill>
                  <a:srgbClr val="65786F"/>
                </a:solidFill>
              </a:defRPr>
            </a:pPr>
            <a:r>
              <a:rPr sz="1050" b="0" i="0">
                <a:solidFill>
                  <a:srgbClr val="65786F"/>
                </a:solidFill>
              </a:rPr>
              <a:t>Live integration status must match the environment shown on demo day.</a:t>
            </a:r>
          </a:p>
        </p:txBody>
      </p:sp>
    </p:spTree>
    <p:extLst>
      <p:ext uri="{BB962C8B-B14F-4D97-AF65-F5344CB8AC3E}">
        <p14:creationId xmlns:p14="http://schemas.microsoft.com/office/powerpoint/2010/main" val="820275149"/>
      </p:ext>
    </p:extLst>
  </p:cSld>
</p:sld>
</file>

<file path=ppt/slides/slide10.xml><?xml version="1.0" encoding="utf-8"?>
<p:sld xmlns:p="http://schemas.openxmlformats.org/presentationml/2006/main">
  <p:cSld>
    <p:bg>
      <p:bgPr>
        <a:solidFill xmlns:a="http://schemas.openxmlformats.org/drawingml/2006/main">
          <a:srgbClr val="0B302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DD3FB0-508E-4DC8-9A33-BFB5CE77EED4}"/>
              </a:ext>
            </a:extLst>
          </p:cNvPr>
          <p:cNvSpPr>
            <a:spLocks xmlns:a="http://schemas.openxmlformats.org/drawingml/2006/main" noGrp="1"/>
          </p:cNvSpPr>
          <p:nvPr/>
        </p:nvSpPr>
        <p:spPr>
          <a:xfrm xmlns:a="http://schemas.openxmlformats.org/drawingml/2006/main">
            <a:off x="4648200" y="476250"/>
            <a:ext cx="2895600" cy="1143000"/>
          </a:xfrm>
          <a:prstGeom xmlns:a="http://schemas.openxmlformats.org/drawingml/2006/main" prst="roundRect">
            <a:avLst>
              <a:gd name="adj" fmla="val 18333"/>
            </a:avLst>
          </a:prstGeom>
          <a:solidFill xmlns:a="http://schemas.openxmlformats.org/drawingml/2006/main">
            <a:srgbClr val="F4F7F2"/>
          </a:solidFill>
          <a:ln xmlns:a="http://schemas.openxmlformats.org/drawingml/2006/main" w="0">
            <a:noFill/>
            <a:prstDash val="solid"/>
          </a:ln>
        </p:spPr>
      </p:sp>
      <p:pic>
        <p:nvPicPr>
          <p:cNvPr id="2" name="">
            <a:extLst xmlns:a="http://schemas.openxmlformats.org/drawingml/2006/main">
              <a:ext uri="{FF2B5EF4-FFF2-40B4-BE49-F238E27FC236}">
                <a16:creationId xmlns:a16="http://schemas.microsoft.com/office/drawing/2014/main" id="{F7DB187D-4BEF-4291-AA1B-E6A4D96AD29C}"/>
              </a:ext>
            </a:extLst>
          </p:cNvPr>
          <p:cNvPicPr>
            <a:picLocks xmlns:a="http://schemas.openxmlformats.org/drawingml/2006/main" noChangeAspect="1"/>
          </p:cNvPicPr>
          <p:nvPr/>
        </p:nvPicPr>
        <p:blipFill>
          <a:blip xmlns:r="http://schemas.openxmlformats.org/officeDocument/2006/relationships" xmlns:a="http://schemas.openxmlformats.org/drawingml/2006/main" r:embed="R673c5097afa149fb"/>
          <a:stretch xmlns:a="http://schemas.openxmlformats.org/drawingml/2006/main"/>
        </p:blipFill>
        <p:spPr>
          <a:xfrm xmlns:a="http://schemas.openxmlformats.org/drawingml/2006/main">
            <a:off x="4819650" y="622300"/>
            <a:ext cx="2552700" cy="8509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A07CEF2-7D6B-4AA3-9919-11538E436930}"/>
              </a:ext>
            </a:extLst>
          </p:cNvPr>
          <p:cNvSpPr>
            <a:spLocks xmlns:a="http://schemas.openxmlformats.org/drawingml/2006/main" noGrp="1"/>
          </p:cNvSpPr>
          <p:nvPr/>
        </p:nvSpPr>
        <p:spPr>
          <a:xfrm xmlns:a="http://schemas.openxmlformats.org/drawingml/2006/main">
            <a:off x="1238250" y="2152650"/>
            <a:ext cx="9715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600" b="1" i="0">
                <a:solidFill>
                  <a:srgbClr val="FFFFFF"/>
                </a:solidFill>
              </a:defRPr>
            </a:defPPr>
          </a:lstStyle>
          <a:p xmlns:a="http://schemas.openxmlformats.org/drawingml/2006/main">
            <a:pPr>
              <a:defRPr sz="3600" b="1" i="0">
                <a:solidFill>
                  <a:srgbClr val="FFFFFF"/>
                </a:solidFill>
              </a:defRPr>
            </a:pPr>
            <a:r>
              <a:rPr sz="3600" b="1" i="0">
                <a:solidFill>
                  <a:srgbClr val="FFFFFF"/>
                </a:solidFill>
              </a:rPr>
              <a:t>People first. Every shift.</a:t>
            </a:r>
          </a:p>
        </p:txBody>
      </p:sp>
      <p:sp>
        <p:nvSpPr>
          <p:cNvPr id="4" name="">
            <a:extLst xmlns:a="http://schemas.openxmlformats.org/drawingml/2006/main">
              <a:ext uri="{FF2B5EF4-FFF2-40B4-BE49-F238E27FC236}">
                <a16:creationId xmlns:a16="http://schemas.microsoft.com/office/drawing/2014/main" id="{2B9237AA-B72E-4AC6-AA70-CF4E5EE9F2C8}"/>
              </a:ext>
            </a:extLst>
          </p:cNvPr>
          <p:cNvSpPr>
            <a:spLocks xmlns:a="http://schemas.openxmlformats.org/drawingml/2006/main" noGrp="1"/>
          </p:cNvSpPr>
          <p:nvPr/>
        </p:nvSpPr>
        <p:spPr>
          <a:xfrm xmlns:a="http://schemas.openxmlformats.org/drawingml/2006/main">
            <a:off x="1866900" y="3105150"/>
            <a:ext cx="8458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0" i="0">
                <a:solidFill>
                  <a:srgbClr val="DDE9E4"/>
                </a:solidFill>
              </a:defRPr>
            </a:defPPr>
          </a:lstStyle>
          <a:p xmlns:a="http://schemas.openxmlformats.org/drawingml/2006/main">
            <a:pPr>
              <a:defRPr sz="1650" b="0" i="0">
                <a:solidFill>
                  <a:srgbClr val="DDE9E4"/>
                </a:solidFill>
              </a:defRPr>
            </a:pPr>
            <a:r>
              <a:rPr sz="1650" b="0" i="0">
                <a:solidFill>
                  <a:srgbClr val="DDE9E4"/>
                </a:solidFill>
              </a:rPr>
              <a:t>A worker-controlled check-in. A request path. A human response.</a:t>
            </a:r>
          </a:p>
        </p:txBody>
      </p:sp>
      <p:sp>
        <p:nvSpPr>
          <p:cNvPr id="5" name="">
            <a:extLst xmlns:a="http://schemas.openxmlformats.org/drawingml/2006/main">
              <a:ext uri="{FF2B5EF4-FFF2-40B4-BE49-F238E27FC236}">
                <a16:creationId xmlns:a16="http://schemas.microsoft.com/office/drawing/2014/main" id="{44284D82-E6F1-4C9B-A7F1-2334131E765D}"/>
              </a:ext>
            </a:extLst>
          </p:cNvPr>
          <p:cNvSpPr>
            <a:spLocks xmlns:a="http://schemas.openxmlformats.org/drawingml/2006/main" noGrp="1"/>
          </p:cNvSpPr>
          <p:nvPr/>
        </p:nvSpPr>
        <p:spPr>
          <a:xfrm xmlns:a="http://schemas.openxmlformats.org/drawingml/2006/main">
            <a:off x="4019550" y="4114800"/>
            <a:ext cx="4152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C9FF65"/>
                </a:solidFill>
              </a:defRPr>
            </a:defPPr>
          </a:lstStyle>
          <a:p xmlns:a="http://schemas.openxmlformats.org/drawingml/2006/main">
            <a:pPr>
              <a:defRPr sz="1050" b="1" i="0">
                <a:solidFill>
                  <a:srgbClr val="C9FF65"/>
                </a:solidFill>
              </a:defRPr>
            </a:pPr>
            <a:r>
              <a:rPr sz="1050" b="1" i="0">
                <a:solidFill>
                  <a:srgbClr val="C9FF65"/>
                </a:solidFill>
              </a:rPr>
              <a:t>OUR MLH CATEGORIES</a:t>
            </a:r>
          </a:p>
        </p:txBody>
      </p:sp>
      <p:sp>
        <p:nvSpPr>
          <p:cNvPr id="6" name="">
            <a:extLst xmlns:a="http://schemas.openxmlformats.org/drawingml/2006/main">
              <a:ext uri="{FF2B5EF4-FFF2-40B4-BE49-F238E27FC236}">
                <a16:creationId xmlns:a16="http://schemas.microsoft.com/office/drawing/2014/main" id="{CBFAF7FF-5A9F-4249-94BF-283CDFCBF47B}"/>
              </a:ext>
            </a:extLst>
          </p:cNvPr>
          <p:cNvSpPr>
            <a:spLocks xmlns:a="http://schemas.openxmlformats.org/drawingml/2006/main" noGrp="1"/>
          </p:cNvSpPr>
          <p:nvPr/>
        </p:nvSpPr>
        <p:spPr>
          <a:xfrm xmlns:a="http://schemas.openxmlformats.org/drawingml/2006/main">
            <a:off x="3238500" y="4591050"/>
            <a:ext cx="571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950" b="1" i="0">
                <a:solidFill>
                  <a:srgbClr val="FFFFFF"/>
                </a:solidFill>
              </a:defRPr>
            </a:defPPr>
          </a:lstStyle>
          <a:p xmlns:a="http://schemas.openxmlformats.org/drawingml/2006/main">
            <a:pPr>
              <a:defRPr sz="1950" b="1" i="0">
                <a:solidFill>
                  <a:srgbClr val="FFFFFF"/>
                </a:solidFill>
              </a:defRPr>
            </a:pPr>
            <a:r>
              <a:rPr sz="1950" b="1" i="0">
                <a:solidFill>
                  <a:srgbClr val="FFFFFF"/>
                </a:solidFill>
              </a:rPr>
              <a:t>Best Use of Presage</a:t>
            </a:r>
          </a:p>
          <a:p xmlns:a="http://schemas.openxmlformats.org/drawingml/2006/main">
            <a:pPr>
              <a:defRPr sz="1950" b="1" i="0">
                <a:solidFill>
                  <a:srgbClr val="FFFFFF"/>
                </a:solidFill>
              </a:defRPr>
            </a:pPr>
            <a:r>
              <a:rPr sz="1950" b="1" i="0">
                <a:solidFill>
                  <a:srgbClr val="FFFFFF"/>
                </a:solidFill>
              </a:rPr>
              <a:t>Best Use of the Gemini API</a:t>
            </a:r>
          </a:p>
          <a:p xmlns:a="http://schemas.openxmlformats.org/drawingml/2006/main">
            <a:pPr>
              <a:defRPr sz="1950" b="1" i="0">
                <a:solidFill>
                  <a:srgbClr val="FFFFFF"/>
                </a:solidFill>
              </a:defRPr>
            </a:pPr>
            <a:r>
              <a:rPr sz="1950" b="1" i="0">
                <a:solidFill>
                  <a:srgbClr val="FFFFFF"/>
                </a:solidFill>
              </a:rPr>
              <a:t>Best Use of Tiger Data</a:t>
            </a:r>
          </a:p>
        </p:txBody>
      </p:sp>
      <p:sp>
        <p:nvSpPr>
          <p:cNvPr id="7" name="">
            <a:extLst xmlns:a="http://schemas.openxmlformats.org/drawingml/2006/main">
              <a:ext uri="{FF2B5EF4-FFF2-40B4-BE49-F238E27FC236}">
                <a16:creationId xmlns:a16="http://schemas.microsoft.com/office/drawing/2014/main" id="{A52C9F90-B1E0-46AA-81DD-58BF5A05C924}"/>
              </a:ext>
            </a:extLst>
          </p:cNvPr>
          <p:cNvSpPr>
            <a:spLocks xmlns:a="http://schemas.openxmlformats.org/drawingml/2006/main" noGrp="1"/>
          </p:cNvSpPr>
          <p:nvPr/>
        </p:nvSpPr>
        <p:spPr>
          <a:xfrm xmlns:a="http://schemas.openxmlformats.org/drawingml/2006/main">
            <a:off x="3733800" y="6210300"/>
            <a:ext cx="472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i="0">
                <a:solidFill>
                  <a:srgbClr val="FFCE73"/>
                </a:solidFill>
              </a:defRPr>
            </a:defPPr>
          </a:lstStyle>
          <a:p xmlns:a="http://schemas.openxmlformats.org/drawingml/2006/main">
            <a:pPr>
              <a:defRPr sz="1050" b="1" i="0">
                <a:solidFill>
                  <a:srgbClr val="FFCE73"/>
                </a:solidFill>
              </a:defRPr>
            </a:pPr>
            <a:r>
              <a:rPr sz="1050" b="1" i="0">
                <a:solidFill>
                  <a:srgbClr val="FFCE73"/>
                </a:solidFill>
              </a:rPr>
              <a:t>youtube.com/watch?v=CzoFM4OR6TA</a:t>
            </a:r>
          </a:p>
        </p:txBody>
      </p:sp>
    </p:spTree>
    <p:extLst>
      <p:ext uri="{BB962C8B-B14F-4D97-AF65-F5344CB8AC3E}">
        <p14:creationId xmlns:p14="http://schemas.microsoft.com/office/powerpoint/2010/main" val="13954504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2026-10-11T15:29:35.6900000Z</dcterms:created>
  <dcterms:modified xsi:type="dcterms:W3CDTF">2026-10-11T15:29:35.6900000Z</dcterms:modified>
</coreProperties>
</file>