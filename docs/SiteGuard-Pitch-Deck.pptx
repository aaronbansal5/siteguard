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3fa1b4cebf5482a" /><Relationship Type="http://schemas.openxmlformats.org/officeDocument/2006/relationships/extended-properties" Target="/docProps/app.xml" Id="R4f8cb2834da643a3" /><Relationship Type="http://schemas.openxmlformats.org/officeDocument/2006/relationships/officeDocument" Target="/ppt/presentation.xml" Id="R4dfb71ce61f6480e" /></Relationships>
</file>

<file path=ppt/presentation.xml><?xml version="1.0" encoding="utf-8"?>
<p:presentation xmlns:p="http://schemas.openxmlformats.org/presentationml/2006/main">
  <p:sldMasterIdLst>
    <p:sldMasterId xmlns:r="http://schemas.openxmlformats.org/officeDocument/2006/relationships" id="2147483648" r:id="R51e2070980154457"/>
  </p:sldMasterIdLst>
  <p:notesMasterIdLst>
    <p:notesMasterId xmlns:r="http://schemas.openxmlformats.org/officeDocument/2006/relationships" r:id="R4a36bed9a7c64496"/>
  </p:notesMasterIdLst>
  <p:sldIdLst>
    <p:sldId xmlns:r="http://schemas.openxmlformats.org/officeDocument/2006/relationships" id="256" r:id="R2ed65384570d4b99"/>
    <p:sldId xmlns:r="http://schemas.openxmlformats.org/officeDocument/2006/relationships" id="257" r:id="Rdae1edb0a94d4893"/>
    <p:sldId xmlns:r="http://schemas.openxmlformats.org/officeDocument/2006/relationships" id="258" r:id="R58c0eb20d64e4d7d"/>
    <p:sldId xmlns:r="http://schemas.openxmlformats.org/officeDocument/2006/relationships" id="259" r:id="R7f09f750829748e8"/>
    <p:sldId xmlns:r="http://schemas.openxmlformats.org/officeDocument/2006/relationships" id="260" r:id="Rdbb7e2a966a14856"/>
    <p:sldId xmlns:r="http://schemas.openxmlformats.org/officeDocument/2006/relationships" id="261" r:id="Rc7c78a973daa4b5f"/>
    <p:sldId xmlns:r="http://schemas.openxmlformats.org/officeDocument/2006/relationships" id="262" r:id="R6ce0c28c75de4726"/>
    <p:sldId xmlns:r="http://schemas.openxmlformats.org/officeDocument/2006/relationships" id="263" r:id="Rd09810a851f54985"/>
    <p:sldId xmlns:r="http://schemas.openxmlformats.org/officeDocument/2006/relationships" id="264" r:id="Rdb10eddaf1094c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05732eb74c4497c" /><Relationship Type="http://schemas.openxmlformats.org/officeDocument/2006/relationships/slideMaster" Target="/ppt/slideMasters/slideMaster1.xml" Id="R51e2070980154457" /><Relationship Type="http://schemas.openxmlformats.org/officeDocument/2006/relationships/notesMaster" Target="/ppt/notesMasters/notesMaster1.xml" Id="R4a36bed9a7c64496" /><Relationship Type="http://schemas.openxmlformats.org/officeDocument/2006/relationships/presProps" Target="/ppt/presProps.xml" Id="R38a2a604010944f0" /><Relationship Type="http://schemas.openxmlformats.org/officeDocument/2006/relationships/tableStyles" Target="/ppt/tableStyles.xml" Id="R6e8c7d0fd1fb41ec" /><Relationship Type="http://schemas.openxmlformats.org/officeDocument/2006/relationships/slide" Target="/ppt/slides/slide1.xml" Id="R2ed65384570d4b99" /><Relationship Type="http://schemas.openxmlformats.org/officeDocument/2006/relationships/slide" Target="/ppt/slides/slide2.xml" Id="Rdae1edb0a94d4893" /><Relationship Type="http://schemas.openxmlformats.org/officeDocument/2006/relationships/slide" Target="/ppt/slides/slide3.xml" Id="R58c0eb20d64e4d7d" /><Relationship Type="http://schemas.openxmlformats.org/officeDocument/2006/relationships/slide" Target="/ppt/slides/slide4.xml" Id="R7f09f750829748e8" /><Relationship Type="http://schemas.openxmlformats.org/officeDocument/2006/relationships/slide" Target="/ppt/slides/slide5.xml" Id="Rdbb7e2a966a14856" /><Relationship Type="http://schemas.openxmlformats.org/officeDocument/2006/relationships/slide" Target="/ppt/slides/slide6.xml" Id="Rc7c78a973daa4b5f" /><Relationship Type="http://schemas.openxmlformats.org/officeDocument/2006/relationships/slide" Target="/ppt/slides/slide7.xml" Id="R6ce0c28c75de4726" /><Relationship Type="http://schemas.openxmlformats.org/officeDocument/2006/relationships/slide" Target="/ppt/slides/slide8.xml" Id="Rd09810a851f54985" /><Relationship Type="http://schemas.openxmlformats.org/officeDocument/2006/relationships/slide" Target="/ppt/slides/slide9.xml" Id="Rdb10eddaf1094c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3e298480fe45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fbae77c30b0446e" /><Relationship Type="http://schemas.openxmlformats.org/officeDocument/2006/relationships/notesMaster" Target="/ppt/notesMasters/notesMaster1.xml" Id="R34b1eb7cc51d4d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0b8d2762a248b4" /><Relationship Type="http://schemas.openxmlformats.org/officeDocument/2006/relationships/notesMaster" Target="/ppt/notesMasters/notesMaster1.xml" Id="R7d2545d195274f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cf85016d7b44c7" /><Relationship Type="http://schemas.openxmlformats.org/officeDocument/2006/relationships/notesMaster" Target="/ppt/notesMasters/notesMaster1.xml" Id="R78861b2f7b7a47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646794c17314509" /><Relationship Type="http://schemas.openxmlformats.org/officeDocument/2006/relationships/notesMaster" Target="/ppt/notesMasters/notesMaster1.xml" Id="Rc9e472e1fe9b4d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37a66576344e7b" /><Relationship Type="http://schemas.openxmlformats.org/officeDocument/2006/relationships/notesMaster" Target="/ppt/notesMasters/notesMaster1.xml" Id="R6300abfe48cb41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e9e0e289f643d3" /><Relationship Type="http://schemas.openxmlformats.org/officeDocument/2006/relationships/notesMaster" Target="/ppt/notesMasters/notesMaster1.xml" Id="Rbffdf97aaf0f47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b52c9fb2b8b4445" /><Relationship Type="http://schemas.openxmlformats.org/officeDocument/2006/relationships/notesMaster" Target="/ppt/notesMasters/notesMaster1.xml" Id="Rdfc4a0d7f80f44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b610ccc7844e3e" /><Relationship Type="http://schemas.openxmlformats.org/officeDocument/2006/relationships/notesMaster" Target="/ppt/notesMasters/notesMaster1.xml" Id="Rbc2639077f8748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e42f97caaf4a48" /><Relationship Type="http://schemas.openxmlformats.org/officeDocument/2006/relationships/notesMaster" Target="/ppt/notesMasters/notesMaster1.xml" Id="Rfded92a8961e4f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worker, not the technology. A worker needs five more minutes. SiteGuard makes the request visible and helps the team respond without moving the protected break.</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docs/PROJECT_SPEC.md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the quote breathe. The worker initiates the check-in and decides whether to ask for support. SiteGuard does not make a fitness-for-work decision.</a:t>
            </a:r>
          </a:p>
          <a:p xmlns:a="http://schemas.openxmlformats.org/drawingml/2006/main">
            <a:r>
              <a:t/>
            </a:r>
          </a:p>
          <a:p xmlns:a="http://schemas.openxmlformats.org/drawingml/2006/main">
            <a:r>
              <a:t>Sources:</a:t>
            </a:r>
          </a:p>
          <a:p xmlns:a="http://schemas.openxmlformats.org/drawingml/2006/main">
            <a:r>
              <a:t>- docs/PROJECT_SPEC.md</a:t>
            </a:r>
          </a:p>
          <a:p xmlns:a="http://schemas.openxmlformats.org/drawingml/2006/main">
            <a:r>
              <a:t>- docs/PRESENTATION_SCRIPT.md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live check-in. The worker can stop at any time. The screenshots in this deck use labeled synthetic readings. In a live environment, consented frames pass transiently through the Presage measurement path.</a:t>
            </a:r>
          </a:p>
          <a:p xmlns:a="http://schemas.openxmlformats.org/drawingml/2006/main">
            <a:r>
              <a:t/>
            </a:r>
          </a:p>
          <a:p xmlns:a="http://schemas.openxmlformats.org/drawingml/2006/main">
            <a:r>
              <a:t>Sources:</a:t>
            </a:r>
          </a:p>
          <a:p xmlns:a="http://schemas.openxmlformats.org/drawingml/2006/main">
            <a:r>
              <a:t>- docs/DEMO_RUN_REPORT.md</a:t>
            </a:r>
          </a:p>
          <a:p xmlns:a="http://schemas.openxmlformats.org/drawingml/2006/main">
            <a:r>
              <a:t>- docs/PRESAGE_CONTRACT.md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presents a plain-language next step and its evidence. It labels uncertainty and keeps the final choice with the worker. The demo result must remain clearly labeled when it uses synthetic data.</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docs/PROJECT_SPEC.md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payoff. A worker asks for more rest. A supervisor reviews it. The planner updates coverage while protected time remains fixed.</a:t>
            </a:r>
          </a:p>
          <a:p xmlns:a="http://schemas.openxmlformats.org/drawingml/2006/main">
            <a:r>
              <a:t/>
            </a:r>
          </a:p>
          <a:p xmlns:a="http://schemas.openxmlformats.org/drawingml/2006/main">
            <a:r>
              <a:t>Sources:</a:t>
            </a:r>
          </a:p>
          <a:p xmlns:a="http://schemas.openxmlformats.org/drawingml/2006/main">
            <a:r>
              <a:t>- docs/DEMO_RUN_REPORT.md</a:t>
            </a:r>
          </a:p>
          <a:p xmlns:a="http://schemas.openxmlformats.org/drawingml/2006/main">
            <a:r>
              <a:t>- docs/PROJECT_SPEC.md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this as a prototype workflow. The heuristic surfaces a possible person-down event. A human reviews and resolves it. Avoid claiming autonomous fall diagnosis.</a:t>
            </a:r>
          </a:p>
          <a:p xmlns:a="http://schemas.openxmlformats.org/drawingml/2006/main">
            <a:r>
              <a:t/>
            </a:r>
          </a:p>
          <a:p xmlns:a="http://schemas.openxmlformats.org/drawingml/2006/main">
            <a:r>
              <a:t>Sources:</a:t>
            </a:r>
          </a:p>
          <a:p xmlns:a="http://schemas.openxmlformats.org/drawingml/2006/main">
            <a:r>
              <a:t>- docs/PROJECT_SPEC.md</a:t>
            </a:r>
          </a:p>
          <a:p xmlns:a="http://schemas.openxmlformats.org/drawingml/2006/main">
            <a:r>
              <a:t>- docs/DEMO_RUN_REPORT.md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Presage supplies observations. SiteGuard keeps the worker-facing flow. Tiger Data holds history. Gemini explains only approved facts. A human makes the operational decision.</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docs/PRESAGE_CONTRACT.md</a:t>
            </a:r>
          </a:p>
          <a:p xmlns:a="http://schemas.openxmlformats.org/drawingml/2006/main">
            <a:r>
              <a:t>- docs/API_CONTRACT.md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demonstrated evidence from the validation roadmap. The rehearsal passed every core step. Tiger Cloud verification passed. The fall prototype has 36 tests. Reliable mobile capture and labeled evaluation remain next.</a:t>
            </a:r>
          </a:p>
          <a:p xmlns:a="http://schemas.openxmlformats.org/drawingml/2006/main">
            <a:r>
              <a:t/>
            </a:r>
          </a:p>
          <a:p xmlns:a="http://schemas.openxmlformats.org/drawingml/2006/main">
            <a:r>
              <a:t>Sources:</a:t>
            </a:r>
          </a:p>
          <a:p xmlns:a="http://schemas.openxmlformats.org/drawingml/2006/main">
            <a:r>
              <a:t>- docs/DEMO_RUN_REPORT.md</a:t>
            </a:r>
          </a:p>
          <a:p xmlns:a="http://schemas.openxmlformats.org/drawingml/2006/main">
            <a:r>
              <a:t>- docs/TIGER_DATA_VERIFICATION.md</a:t>
            </a:r>
          </a:p>
          <a:p xmlns:a="http://schemas.openxmlformats.org/drawingml/2006/main">
            <a:r>
              <a:t>- docs/PRODUCTION_READINESS.md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worker again. SiteGuard helps a worker speak up and helps the team respond while protected breaks remain protected. Name the sponsor categories and invite questions.</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https://www.youtube.com/watch?v=CzoFM4OR6TA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b76fc2fc53244c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e6f20f92fd46a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746a462345451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9621f40845465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e133f0dc32e4f4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f69c2841805497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85B10A-546A-4A1E-9383-59FF838CDC2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793B0F9-42EE-4064-9140-368A4785817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836AE9-5818-436C-999F-34A6F1227B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D329F8-2B8A-4FA6-8D05-A9A904A0451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581537E-DABB-46AF-8DD5-45BC3B4D37B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26D20A9-E196-4EE9-AE42-325C7971FB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33B34B-8AE8-4D9F-9368-A71E8E21865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3375A1F-78D0-4047-B1DC-99287E8EE21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D7A30F-1486-4CA5-B1AF-3948B3D7CB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A7311F6-B136-4464-A759-F3D97EFFD2B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93d63f365d541ab" /><Relationship Type="http://schemas.openxmlformats.org/officeDocument/2006/relationships/slideLayout" Target="/ppt/slideLayouts/slideLayout1.xml" Id="R7d2328e3262f46d0" /><Relationship Type="http://schemas.openxmlformats.org/officeDocument/2006/relationships/slideLayout" Target="/ppt/slideLayouts/slideLayout2.xml" Id="Rb2bc7d7353214000" /><Relationship Type="http://schemas.openxmlformats.org/officeDocument/2006/relationships/slideLayout" Target="/ppt/slideLayouts/slideLayout3.xml" Id="Rf971f0f0452441fb" /><Relationship Type="http://schemas.openxmlformats.org/officeDocument/2006/relationships/slideLayout" Target="/ppt/slideLayouts/slideLayout4.xml" Id="R0d85bad4405b4733" /><Relationship Type="http://schemas.openxmlformats.org/officeDocument/2006/relationships/slideLayout" Target="/ppt/slideLayouts/slideLayout5.xml" Id="Rc5e24d50b07249ea" /><Relationship Type="http://schemas.openxmlformats.org/officeDocument/2006/relationships/slideLayout" Target="/ppt/slideLayouts/slideLayout6.xml" Id="R6cdc3245fd7e44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2328e3262f46d0"/>
    <p:sldLayoutId xmlns:r="http://schemas.openxmlformats.org/officeDocument/2006/relationships" id="2147483650" r:id="Rb2bc7d7353214000"/>
    <p:sldLayoutId xmlns:r="http://schemas.openxmlformats.org/officeDocument/2006/relationships" id="2147483651" r:id="Rf971f0f0452441fb"/>
    <p:sldLayoutId xmlns:r="http://schemas.openxmlformats.org/officeDocument/2006/relationships" id="2147483652" r:id="R0d85bad4405b4733"/>
    <p:sldLayoutId xmlns:r="http://schemas.openxmlformats.org/officeDocument/2006/relationships" id="2147483653" r:id="Rc5e24d50b07249ea"/>
    <p:sldLayoutId xmlns:r="http://schemas.openxmlformats.org/officeDocument/2006/relationships" id="2147483654" r:id="R6cdc3245fd7e44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39c5ad6d2774d0a" /><Relationship Type="http://schemas.openxmlformats.org/officeDocument/2006/relationships/image" Target="/ppt/media/image.png" Id="Rdede0652f61c428f" /><Relationship Type="http://schemas.openxmlformats.org/officeDocument/2006/relationships/image" Target="/ppt/media/image2.png" Id="Rba196b2911234d3a" /><Relationship Type="http://schemas.openxmlformats.org/officeDocument/2006/relationships/notesSlide" Target="/ppt/notesSlides/notesSlide1.xml" Id="Rbc32a3c9228d463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68ef51f230745c3" /><Relationship Type="http://schemas.openxmlformats.org/officeDocument/2006/relationships/notesSlide" Target="/ppt/notesSlides/notesSlide2.xml" Id="R2472e713cf6445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fb7d034a32d42f3" /><Relationship Type="http://schemas.openxmlformats.org/officeDocument/2006/relationships/image" Target="/ppt/media/image3.png" Id="Rf734f484917a449e" /><Relationship Type="http://schemas.openxmlformats.org/officeDocument/2006/relationships/notesSlide" Target="/ppt/notesSlides/notesSlide3.xml" Id="R45bbf806477845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fa5d92e1a7e487c" /><Relationship Type="http://schemas.openxmlformats.org/officeDocument/2006/relationships/image" Target="/ppt/media/image4.png" Id="Ra68bbf12684b42e4" /><Relationship Type="http://schemas.openxmlformats.org/officeDocument/2006/relationships/notesSlide" Target="/ppt/notesSlides/notesSlide4.xml" Id="R592e18faea93471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3b3d891e0fa42e2" /><Relationship Type="http://schemas.openxmlformats.org/officeDocument/2006/relationships/image" Target="/ppt/media/image5.png" Id="Rbce19265f8cf445c" /><Relationship Type="http://schemas.openxmlformats.org/officeDocument/2006/relationships/image" Target="/ppt/media/image6.png" Id="R0bccfef516c04912" /><Relationship Type="http://schemas.openxmlformats.org/officeDocument/2006/relationships/notesSlide" Target="/ppt/notesSlides/notesSlide5.xml" Id="Re82487fa491b43d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d871e6d7e44c8f" /><Relationship Type="http://schemas.openxmlformats.org/officeDocument/2006/relationships/image" Target="/ppt/media/image7.png" Id="R48c21b09fcd34d32" /><Relationship Type="http://schemas.openxmlformats.org/officeDocument/2006/relationships/image" Target="/ppt/media/image8.png" Id="R6eb35bcaf3854426" /><Relationship Type="http://schemas.openxmlformats.org/officeDocument/2006/relationships/notesSlide" Target="/ppt/notesSlides/notesSlide6.xml" Id="R7d62e283551540c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f25d19a70e14a24" /><Relationship Type="http://schemas.openxmlformats.org/officeDocument/2006/relationships/notesSlide" Target="/ppt/notesSlides/notesSlide7.xml" Id="R472a78bba2da405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1a834d48da4279" /><Relationship Type="http://schemas.openxmlformats.org/officeDocument/2006/relationships/notesSlide" Target="/ppt/notesSlides/notesSlide8.xml" Id="R22ca9e7e493447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a81bb02f1884be2" /><Relationship Type="http://schemas.openxmlformats.org/officeDocument/2006/relationships/image" Target="/ppt/media/image9.png" Id="Re16eab715d8644ed" /><Relationship Type="http://schemas.openxmlformats.org/officeDocument/2006/relationships/notesSlide" Target="/ppt/notesSlides/notesSlide9.xml" Id="Rb9cf52b5c1cf4458" /></Relationships>
</file>

<file path=ppt/slides/slide1.xml><?xml version="1.0" encoding="utf-8"?>
<p:sld xmlns:p="http://schemas.openxmlformats.org/presentationml/2006/main">
  <p:cSld>
    <p:bg>
      <p:bgPr>
        <a:solidFill xmlns:a="http://schemas.openxmlformats.org/drawingml/2006/main">
          <a:srgbClr val="082B2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5D0F0D-B91D-4F6F-BE2E-7C2ECF333A7D}"/>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C8FF63"/>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2B9C54F-DAE1-4E26-A7B1-28B39C71BA4E}"/>
              </a:ext>
            </a:extLst>
          </p:cNvPr>
          <p:cNvSpPr>
            <a:spLocks xmlns:a="http://schemas.openxmlformats.org/drawingml/2006/main" noGrp="1"/>
          </p:cNvSpPr>
          <p:nvPr/>
        </p:nvSpPr>
        <p:spPr>
          <a:xfrm xmlns:a="http://schemas.openxmlformats.org/drawingml/2006/main">
            <a:off x="685800" y="495300"/>
            <a:ext cx="2343150" cy="819150"/>
          </a:xfrm>
          <a:prstGeom xmlns:a="http://schemas.openxmlformats.org/drawingml/2006/main" prst="roundRect">
            <a:avLst>
              <a:gd name="adj" fmla="val 20930"/>
            </a:avLst>
          </a:prstGeom>
          <a:solidFill xmlns:a="http://schemas.openxmlformats.org/drawingml/2006/main">
            <a:srgbClr val="F5F7F2"/>
          </a:solidFill>
          <a:ln xmlns:a="http://schemas.openxmlformats.org/drawingml/2006/main" w="0">
            <a:noFill/>
            <a:prstDash val="solid"/>
          </a:ln>
        </p:spPr>
      </p:sp>
      <p:pic>
        <p:nvPicPr>
          <p:cNvPr id="3" name="">
            <a:extLst xmlns:a="http://schemas.openxmlformats.org/drawingml/2006/main">
              <a:ext uri="{FF2B5EF4-FFF2-40B4-BE49-F238E27FC236}">
                <a16:creationId xmlns:a16="http://schemas.microsoft.com/office/drawing/2014/main" id="{2D4FDF44-999A-4672-977B-A607951B132C}"/>
              </a:ext>
            </a:extLst>
          </p:cNvPr>
          <p:cNvPicPr>
            <a:picLocks xmlns:a="http://schemas.openxmlformats.org/drawingml/2006/main" noChangeAspect="1"/>
          </p:cNvPicPr>
          <p:nvPr/>
        </p:nvPicPr>
        <p:blipFill>
          <a:blip xmlns:r="http://schemas.openxmlformats.org/officeDocument/2006/relationships" xmlns:a="http://schemas.openxmlformats.org/drawingml/2006/main" r:embed="Rdede0652f61c428f"/>
          <a:stretch xmlns:a="http://schemas.openxmlformats.org/drawingml/2006/main"/>
        </p:blipFill>
        <p:spPr>
          <a:xfrm xmlns:a="http://schemas.openxmlformats.org/drawingml/2006/main">
            <a:off x="971550" y="609600"/>
            <a:ext cx="1771650" cy="5905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7FC6730-140F-438E-B324-97212DE4602E}"/>
              </a:ext>
            </a:extLst>
          </p:cNvPr>
          <p:cNvSpPr>
            <a:spLocks xmlns:a="http://schemas.openxmlformats.org/drawingml/2006/main" noGrp="1"/>
          </p:cNvSpPr>
          <p:nvPr/>
        </p:nvSpPr>
        <p:spPr>
          <a:xfrm xmlns:a="http://schemas.openxmlformats.org/drawingml/2006/main">
            <a:off x="685800" y="1952625"/>
            <a:ext cx="7429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4500" b="1">
                <a:solidFill>
                  <a:srgbClr val="FFFFFF"/>
                </a:solidFill>
              </a:defRPr>
            </a:defPPr>
          </a:lstStyle>
          <a:p xmlns:a="http://schemas.openxmlformats.org/drawingml/2006/main">
            <a:pPr>
              <a:defRPr sz="4500" b="1">
                <a:solidFill>
                  <a:srgbClr val="FFFFFF"/>
                </a:solidFill>
              </a:defRPr>
            </a:pPr>
            <a:r>
              <a:rPr sz="4500" b="1">
                <a:solidFill>
                  <a:srgbClr val="FFFFFF"/>
                </a:solidFill>
              </a:rPr>
              <a:t>A worker asks for</a:t>
            </a:r>
          </a:p>
          <a:p xmlns:a="http://schemas.openxmlformats.org/drawingml/2006/main">
            <a:pPr>
              <a:defRPr sz="4500" b="1">
                <a:solidFill>
                  <a:srgbClr val="FFFFFF"/>
                </a:solidFill>
              </a:defRPr>
            </a:pPr>
            <a:r>
              <a:rPr sz="4500" b="1">
                <a:solidFill>
                  <a:srgbClr val="FFFFFF"/>
                </a:solidFill>
              </a:rPr>
              <a:t>five more minutes</a:t>
            </a:r>
          </a:p>
        </p:txBody>
      </p:sp>
      <p:sp>
        <p:nvSpPr>
          <p:cNvPr id="5" name="">
            <a:extLst xmlns:a="http://schemas.openxmlformats.org/drawingml/2006/main">
              <a:ext uri="{FF2B5EF4-FFF2-40B4-BE49-F238E27FC236}">
                <a16:creationId xmlns:a16="http://schemas.microsoft.com/office/drawing/2014/main" id="{77010134-F515-47E2-A03E-4DAC59B3A92B}"/>
              </a:ext>
            </a:extLst>
          </p:cNvPr>
          <p:cNvSpPr>
            <a:spLocks xmlns:a="http://schemas.openxmlformats.org/drawingml/2006/main" noGrp="1"/>
          </p:cNvSpPr>
          <p:nvPr/>
        </p:nvSpPr>
        <p:spPr>
          <a:xfrm xmlns:a="http://schemas.openxmlformats.org/drawingml/2006/main">
            <a:off x="723900" y="4114800"/>
            <a:ext cx="6191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0">
                <a:solidFill>
                  <a:srgbClr val="DCE9E3"/>
                </a:solidFill>
              </a:defRPr>
            </a:defPPr>
          </a:lstStyle>
          <a:p xmlns:a="http://schemas.openxmlformats.org/drawingml/2006/main">
            <a:pPr>
              <a:defRPr sz="1875" b="0">
                <a:solidFill>
                  <a:srgbClr val="DCE9E3"/>
                </a:solidFill>
              </a:defRPr>
            </a:pPr>
            <a:r>
              <a:rPr sz="1875" b="0">
                <a:solidFill>
                  <a:srgbClr val="DCE9E3"/>
                </a:solidFill>
              </a:rPr>
              <a:t>SiteGuard turns that request into a safe, staffed response.</a:t>
            </a:r>
          </a:p>
        </p:txBody>
      </p:sp>
      <p:sp>
        <p:nvSpPr>
          <p:cNvPr id="6" name="">
            <a:extLst xmlns:a="http://schemas.openxmlformats.org/drawingml/2006/main">
              <a:ext uri="{FF2B5EF4-FFF2-40B4-BE49-F238E27FC236}">
                <a16:creationId xmlns:a16="http://schemas.microsoft.com/office/drawing/2014/main" id="{02ACBCBF-B7EB-4D53-8C34-C3137FD10729}"/>
              </a:ext>
            </a:extLst>
          </p:cNvPr>
          <p:cNvSpPr>
            <a:spLocks xmlns:a="http://schemas.openxmlformats.org/drawingml/2006/main" noGrp="1"/>
          </p:cNvSpPr>
          <p:nvPr/>
        </p:nvSpPr>
        <p:spPr>
          <a:xfrm xmlns:a="http://schemas.openxmlformats.org/drawingml/2006/main">
            <a:off x="742950" y="58102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C8FF63"/>
                </a:solidFill>
              </a:defRPr>
            </a:defPPr>
          </a:lstStyle>
          <a:p xmlns:a="http://schemas.openxmlformats.org/drawingml/2006/main">
            <a:pPr>
              <a:defRPr sz="1050" b="1">
                <a:solidFill>
                  <a:srgbClr val="C8FF63"/>
                </a:solidFill>
              </a:defRPr>
            </a:pPr>
            <a:r>
              <a:rPr sz="1050" b="1">
                <a:solidFill>
                  <a:srgbClr val="C8FF63"/>
                </a:solidFill>
              </a:rPr>
              <a:t>PEOPLE FIRST. EVERY SHIFT.</a:t>
            </a:r>
          </a:p>
        </p:txBody>
      </p:sp>
      <p:pic>
        <p:nvPicPr>
          <p:cNvPr id="7" name="">
            <a:extLst xmlns:a="http://schemas.openxmlformats.org/drawingml/2006/main">
              <a:ext uri="{FF2B5EF4-FFF2-40B4-BE49-F238E27FC236}">
                <a16:creationId xmlns:a16="http://schemas.microsoft.com/office/drawing/2014/main" id="{8A98D2DE-672C-46CE-B91B-17B97DC0C1E8}"/>
              </a:ext>
            </a:extLst>
          </p:cNvPr>
          <p:cNvPicPr>
            <a:picLocks xmlns:a="http://schemas.openxmlformats.org/drawingml/2006/main" noChangeAspect="1"/>
          </p:cNvPicPr>
          <p:nvPr/>
        </p:nvPicPr>
        <p:blipFill>
          <a:blip xmlns:r="http://schemas.openxmlformats.org/officeDocument/2006/relationships" xmlns:a="http://schemas.openxmlformats.org/drawingml/2006/main" r:embed="Rba196b2911234d3a"/>
          <a:srcRect xmlns:a="http://schemas.openxmlformats.org/drawingml/2006/main" l="16000" t="1000" r="3000" b="1000"/>
          <a:stretch xmlns:a="http://schemas.openxmlformats.org/drawingml/2006/main"/>
        </p:blipFill>
        <p:spPr>
          <a:xfrm xmlns:a="http://schemas.openxmlformats.org/drawingml/2006/main">
            <a:off x="8334375" y="762000"/>
            <a:ext cx="3238500" cy="5238750"/>
          </a:xfrm>
          <a:prstGeom xmlns:a="http://schemas.openxmlformats.org/drawingml/2006/main" prst="roundRect">
            <a:avLst>
              <a:gd name="adj" fmla="val 8235"/>
            </a:avLst>
          </a:prstGeom>
        </p:spPr>
      </p:pic>
    </p:spTree>
    <p:extLst>
      <p:ext uri="{BB962C8B-B14F-4D97-AF65-F5344CB8AC3E}">
        <p14:creationId xmlns:p14="http://schemas.microsoft.com/office/powerpoint/2010/main" val="1915710849"/>
      </p:ext>
    </p:extLst>
  </p:cSld>
</p:sld>
</file>

<file path=ppt/slides/slide2.xml><?xml version="1.0" encoding="utf-8"?>
<p:sld xmlns:p="http://schemas.openxmlformats.org/presentationml/2006/main">
  <p:cSld>
    <p:bg>
      <p:bgPr>
        <a:solidFill xmlns:a="http://schemas.openxmlformats.org/drawingml/2006/main">
          <a:srgbClr val="F5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9384FC-BC5E-48BE-83C4-8C22B281494D}"/>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61756C"/>
                </a:solidFill>
              </a:defRPr>
            </a:defPPr>
          </a:lstStyle>
          <a:p xmlns:a="http://schemas.openxmlformats.org/drawingml/2006/main">
            <a:pPr>
              <a:defRPr sz="825" b="1">
                <a:solidFill>
                  <a:srgbClr val="61756C"/>
                </a:solidFill>
              </a:defRPr>
            </a:pPr>
            <a:r>
              <a:rPr sz="825" b="1">
                <a:solidFill>
                  <a:srgbClr val="61756C"/>
                </a:solidFill>
              </a:rPr>
              <a:t>02</a:t>
            </a:r>
          </a:p>
        </p:txBody>
      </p:sp>
      <p:sp>
        <p:nvSpPr>
          <p:cNvPr id="2" name="">
            <a:extLst xmlns:a="http://schemas.openxmlformats.org/drawingml/2006/main">
              <a:ext uri="{FF2B5EF4-FFF2-40B4-BE49-F238E27FC236}">
                <a16:creationId xmlns:a16="http://schemas.microsoft.com/office/drawing/2014/main" id="{62E76758-2C3B-495A-80BC-D1436E8EECB6}"/>
              </a:ext>
            </a:extLst>
          </p:cNvPr>
          <p:cNvSpPr>
            <a:spLocks xmlns:a="http://schemas.openxmlformats.org/drawingml/2006/main" noGrp="1"/>
          </p:cNvSpPr>
          <p:nvPr/>
        </p:nvSpPr>
        <p:spPr>
          <a:xfrm xmlns:a="http://schemas.openxmlformats.org/drawingml/2006/main">
            <a:off x="647700" y="552450"/>
            <a:ext cx="8572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082B26"/>
                </a:solidFill>
              </a:defRPr>
            </a:defPPr>
          </a:lstStyle>
          <a:p xmlns:a="http://schemas.openxmlformats.org/drawingml/2006/main">
            <a:pPr>
              <a:defRPr sz="3150" b="1">
                <a:solidFill>
                  <a:srgbClr val="082B26"/>
                </a:solidFill>
              </a:defRPr>
            </a:pPr>
            <a:r>
              <a:rPr sz="3150" b="1">
                <a:solidFill>
                  <a:srgbClr val="082B26"/>
                </a:solidFill>
              </a:rPr>
              <a:t>The worker knows first</a:t>
            </a:r>
          </a:p>
        </p:txBody>
      </p:sp>
      <p:sp>
        <p:nvSpPr>
          <p:cNvPr id="3" name="">
            <a:extLst xmlns:a="http://schemas.openxmlformats.org/drawingml/2006/main">
              <a:ext uri="{FF2B5EF4-FFF2-40B4-BE49-F238E27FC236}">
                <a16:creationId xmlns:a16="http://schemas.microsoft.com/office/drawing/2014/main" id="{D8093642-4EC5-4B59-9EB6-B58E7AEC1DFE}"/>
              </a:ext>
            </a:extLst>
          </p:cNvPr>
          <p:cNvSpPr>
            <a:spLocks xmlns:a="http://schemas.openxmlformats.org/drawingml/2006/main" noGrp="1"/>
          </p:cNvSpPr>
          <p:nvPr/>
        </p:nvSpPr>
        <p:spPr>
          <a:xfrm xmlns:a="http://schemas.openxmlformats.org/drawingml/2006/main">
            <a:off x="647700" y="1905000"/>
            <a:ext cx="9906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4350" b="1">
                <a:solidFill>
                  <a:srgbClr val="0D4D40"/>
                </a:solidFill>
              </a:defRPr>
            </a:defPPr>
          </a:lstStyle>
          <a:p xmlns:a="http://schemas.openxmlformats.org/drawingml/2006/main">
            <a:pPr>
              <a:defRPr sz="4350" b="1">
                <a:solidFill>
                  <a:srgbClr val="0D4D40"/>
                </a:solidFill>
              </a:defRPr>
            </a:pPr>
            <a:r>
              <a:rPr sz="4350" b="1">
                <a:solidFill>
                  <a:srgbClr val="0D4D40"/>
                </a:solidFill>
              </a:rPr>
              <a:t>“I need five more minutes.”</a:t>
            </a:r>
          </a:p>
        </p:txBody>
      </p:sp>
      <p:sp>
        <p:nvSpPr>
          <p:cNvPr id="4" name="">
            <a:extLst xmlns:a="http://schemas.openxmlformats.org/drawingml/2006/main">
              <a:ext uri="{FF2B5EF4-FFF2-40B4-BE49-F238E27FC236}">
                <a16:creationId xmlns:a16="http://schemas.microsoft.com/office/drawing/2014/main" id="{ACB3AA7E-DE54-45C7-9A81-59820E912495}"/>
              </a:ext>
            </a:extLst>
          </p:cNvPr>
          <p:cNvSpPr>
            <a:spLocks xmlns:a="http://schemas.openxmlformats.org/drawingml/2006/main" noGrp="1"/>
          </p:cNvSpPr>
          <p:nvPr/>
        </p:nvSpPr>
        <p:spPr>
          <a:xfrm xmlns:a="http://schemas.openxmlformats.org/drawingml/2006/main">
            <a:off x="647700" y="3448050"/>
            <a:ext cx="7810500" cy="28575"/>
          </a:xfrm>
          <a:prstGeom xmlns:a="http://schemas.openxmlformats.org/drawingml/2006/main" prst="rect">
            <a:avLst/>
          </a:prstGeom>
          <a:solidFill xmlns:a="http://schemas.openxmlformats.org/drawingml/2006/main">
            <a:srgbClr val="C8FF63"/>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1D30F50-7EC6-466B-9A3C-CC01AC033D0E}"/>
              </a:ext>
            </a:extLst>
          </p:cNvPr>
          <p:cNvSpPr>
            <a:spLocks xmlns:a="http://schemas.openxmlformats.org/drawingml/2006/main" noGrp="1"/>
          </p:cNvSpPr>
          <p:nvPr/>
        </p:nvSpPr>
        <p:spPr>
          <a:xfrm xmlns:a="http://schemas.openxmlformats.org/drawingml/2006/main">
            <a:off x="647700" y="3886200"/>
            <a:ext cx="8286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025" b="0">
                <a:solidFill>
                  <a:srgbClr val="082B26"/>
                </a:solidFill>
              </a:defRPr>
            </a:defPPr>
          </a:lstStyle>
          <a:p xmlns:a="http://schemas.openxmlformats.org/drawingml/2006/main">
            <a:pPr>
              <a:defRPr sz="2025" b="0">
                <a:solidFill>
                  <a:srgbClr val="082B26"/>
                </a:solidFill>
              </a:defRPr>
            </a:pPr>
            <a:r>
              <a:rPr sz="2025" b="0">
                <a:solidFill>
                  <a:srgbClr val="082B26"/>
                </a:solidFill>
              </a:rPr>
              <a:t>A fixed schedule protects the break. It cannot show what changed during rest or whether the worker wants help.</a:t>
            </a:r>
          </a:p>
        </p:txBody>
      </p:sp>
      <p:sp>
        <p:nvSpPr>
          <p:cNvPr id="6" name="">
            <a:extLst xmlns:a="http://schemas.openxmlformats.org/drawingml/2006/main">
              <a:ext uri="{FF2B5EF4-FFF2-40B4-BE49-F238E27FC236}">
                <a16:creationId xmlns:a16="http://schemas.microsoft.com/office/drawing/2014/main" id="{E1AF4051-A70E-44A9-9D35-ED1B89E736F4}"/>
              </a:ext>
            </a:extLst>
          </p:cNvPr>
          <p:cNvSpPr>
            <a:spLocks xmlns:a="http://schemas.openxmlformats.org/drawingml/2006/main" noGrp="1"/>
          </p:cNvSpPr>
          <p:nvPr/>
        </p:nvSpPr>
        <p:spPr>
          <a:xfrm xmlns:a="http://schemas.openxmlformats.org/drawingml/2006/main">
            <a:off x="647700" y="5448300"/>
            <a:ext cx="8572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0">
                <a:solidFill>
                  <a:srgbClr val="61756C"/>
                </a:solidFill>
              </a:defRPr>
            </a:defPPr>
          </a:lstStyle>
          <a:p xmlns:a="http://schemas.openxmlformats.org/drawingml/2006/main">
            <a:pPr>
              <a:defRPr sz="1725" b="0">
                <a:solidFill>
                  <a:srgbClr val="61756C"/>
                </a:solidFill>
              </a:defRPr>
            </a:pPr>
            <a:r>
              <a:rPr sz="1725" b="0">
                <a:solidFill>
                  <a:srgbClr val="61756C"/>
                </a:solidFill>
              </a:rPr>
              <a:t>SiteGuard keeps the person in control and gives the safety team enough context to act.</a:t>
            </a:r>
          </a:p>
        </p:txBody>
      </p:sp>
    </p:spTree>
    <p:extLst>
      <p:ext uri="{BB962C8B-B14F-4D97-AF65-F5344CB8AC3E}">
        <p14:creationId xmlns:p14="http://schemas.microsoft.com/office/powerpoint/2010/main" val="1777896721"/>
      </p:ext>
    </p:extLst>
  </p:cSld>
</p:sld>
</file>

<file path=ppt/slides/slide3.xml><?xml version="1.0" encoding="utf-8"?>
<p:sld xmlns:p="http://schemas.openxmlformats.org/presentationml/2006/main">
  <p:cSld>
    <p:bg>
      <p:bgPr>
        <a:solidFill xmlns:a="http://schemas.openxmlformats.org/drawingml/2006/main">
          <a:srgbClr val="07110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ACED75-F850-454D-AB61-F5C2A3A8C7D3}"/>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DCE9E3"/>
                </a:solidFill>
              </a:defRPr>
            </a:defPPr>
          </a:lstStyle>
          <a:p xmlns:a="http://schemas.openxmlformats.org/drawingml/2006/main">
            <a:pPr>
              <a:defRPr sz="825" b="1">
                <a:solidFill>
                  <a:srgbClr val="DCE9E3"/>
                </a:solidFill>
              </a:defRPr>
            </a:pPr>
            <a:r>
              <a:rPr sz="825" b="1">
                <a:solidFill>
                  <a:srgbClr val="DCE9E3"/>
                </a:solidFill>
              </a:rPr>
              <a:t>03</a:t>
            </a:r>
          </a:p>
        </p:txBody>
      </p:sp>
      <p:sp>
        <p:nvSpPr>
          <p:cNvPr id="2" name="">
            <a:extLst xmlns:a="http://schemas.openxmlformats.org/drawingml/2006/main">
              <a:ext uri="{FF2B5EF4-FFF2-40B4-BE49-F238E27FC236}">
                <a16:creationId xmlns:a16="http://schemas.microsoft.com/office/drawing/2014/main" id="{3375F113-9227-4B47-8973-513EC6C32A3B}"/>
              </a:ext>
            </a:extLst>
          </p:cNvPr>
          <p:cNvSpPr>
            <a:spLocks xmlns:a="http://schemas.openxmlformats.org/drawingml/2006/main" noGrp="1"/>
          </p:cNvSpPr>
          <p:nvPr/>
        </p:nvSpPr>
        <p:spPr>
          <a:xfrm xmlns:a="http://schemas.openxmlformats.org/drawingml/2006/main">
            <a:off x="628650" y="457200"/>
            <a:ext cx="742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FFFFFF"/>
                </a:solidFill>
              </a:defRPr>
            </a:defPPr>
          </a:lstStyle>
          <a:p xmlns:a="http://schemas.openxmlformats.org/drawingml/2006/main">
            <a:pPr>
              <a:defRPr sz="3150" b="1">
                <a:solidFill>
                  <a:srgbClr val="FFFFFF"/>
                </a:solidFill>
              </a:defRPr>
            </a:pPr>
            <a:r>
              <a:rPr sz="3150" b="1">
                <a:solidFill>
                  <a:srgbClr val="FFFFFF"/>
                </a:solidFill>
              </a:rPr>
              <a:t>A 90-second check-in</a:t>
            </a:r>
          </a:p>
        </p:txBody>
      </p:sp>
      <p:sp>
        <p:nvSpPr>
          <p:cNvPr id="3" name="">
            <a:extLst xmlns:a="http://schemas.openxmlformats.org/drawingml/2006/main">
              <a:ext uri="{FF2B5EF4-FFF2-40B4-BE49-F238E27FC236}">
                <a16:creationId xmlns:a16="http://schemas.microsoft.com/office/drawing/2014/main" id="{52954C5F-447D-4CDC-8E76-E835BA1585F8}"/>
              </a:ext>
            </a:extLst>
          </p:cNvPr>
          <p:cNvSpPr>
            <a:spLocks xmlns:a="http://schemas.openxmlformats.org/drawingml/2006/main" noGrp="1"/>
          </p:cNvSpPr>
          <p:nvPr/>
        </p:nvSpPr>
        <p:spPr>
          <a:xfrm xmlns:a="http://schemas.openxmlformats.org/drawingml/2006/main">
            <a:off x="647700" y="106680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0">
                <a:solidFill>
                  <a:srgbClr val="DCE9E3"/>
                </a:solidFill>
              </a:defRPr>
            </a:defPPr>
          </a:lstStyle>
          <a:p xmlns:a="http://schemas.openxmlformats.org/drawingml/2006/main">
            <a:pPr>
              <a:defRPr sz="1650" b="0">
                <a:solidFill>
                  <a:srgbClr val="DCE9E3"/>
                </a:solidFill>
              </a:defRPr>
            </a:pPr>
            <a:r>
              <a:rPr sz="1650" b="0">
                <a:solidFill>
                  <a:srgbClr val="DCE9E3"/>
                </a:solidFill>
              </a:rPr>
              <a:t>Camera observations become pulse and breathing trends.</a:t>
            </a:r>
          </a:p>
        </p:txBody>
      </p:sp>
      <p:pic>
        <p:nvPicPr>
          <p:cNvPr id="4" name="">
            <a:extLst xmlns:a="http://schemas.openxmlformats.org/drawingml/2006/main">
              <a:ext uri="{FF2B5EF4-FFF2-40B4-BE49-F238E27FC236}">
                <a16:creationId xmlns:a16="http://schemas.microsoft.com/office/drawing/2014/main" id="{1BFF1A23-9514-4706-BAC2-DF87B7484182}"/>
              </a:ext>
            </a:extLst>
          </p:cNvPr>
          <p:cNvPicPr>
            <a:picLocks xmlns:a="http://schemas.openxmlformats.org/drawingml/2006/main" noChangeAspect="1"/>
          </p:cNvPicPr>
          <p:nvPr/>
        </p:nvPicPr>
        <p:blipFill>
          <a:blip xmlns:r="http://schemas.openxmlformats.org/officeDocument/2006/relationships" xmlns:a="http://schemas.openxmlformats.org/drawingml/2006/main" r:embed="Rf734f484917a449e"/>
          <a:srcRect xmlns:a="http://schemas.openxmlformats.org/drawingml/2006/main" l="8000" t="4000" r="4000" b="3000"/>
          <a:stretch xmlns:a="http://schemas.openxmlformats.org/drawingml/2006/main"/>
        </p:blipFill>
        <p:spPr>
          <a:xfrm xmlns:a="http://schemas.openxmlformats.org/drawingml/2006/main">
            <a:off x="666750" y="1733550"/>
            <a:ext cx="10858500" cy="4381500"/>
          </a:xfrm>
          <a:prstGeom xmlns:a="http://schemas.openxmlformats.org/drawingml/2006/main" prst="roundRect">
            <a:avLst>
              <a:gd name="adj" fmla="val 6087"/>
            </a:avLst>
          </a:prstGeom>
        </p:spPr>
      </p:pic>
      <p:sp>
        <p:nvSpPr>
          <p:cNvPr id="5" name="">
            <a:extLst xmlns:a="http://schemas.openxmlformats.org/drawingml/2006/main">
              <a:ext uri="{FF2B5EF4-FFF2-40B4-BE49-F238E27FC236}">
                <a16:creationId xmlns:a16="http://schemas.microsoft.com/office/drawing/2014/main" id="{5022B0D1-02C0-4A4A-A28F-FE7E5DB291AD}"/>
              </a:ext>
            </a:extLst>
          </p:cNvPr>
          <p:cNvSpPr>
            <a:spLocks xmlns:a="http://schemas.openxmlformats.org/drawingml/2006/main" noGrp="1"/>
          </p:cNvSpPr>
          <p:nvPr/>
        </p:nvSpPr>
        <p:spPr>
          <a:xfrm xmlns:a="http://schemas.openxmlformats.org/drawingml/2006/main">
            <a:off x="685800" y="6286500"/>
            <a:ext cx="4286250" cy="285750"/>
          </a:xfrm>
          <a:prstGeom xmlns:a="http://schemas.openxmlformats.org/drawingml/2006/main" prst="roundRect">
            <a:avLst>
              <a:gd name="adj" fmla="val 50000"/>
            </a:avLst>
          </a:prstGeom>
          <a:solidFill xmlns:a="http://schemas.openxmlformats.org/drawingml/2006/main">
            <a:srgbClr val="FFD27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52C2AD-7441-4E1D-8AFD-22354B146FD1}"/>
              </a:ext>
            </a:extLst>
          </p:cNvPr>
          <p:cNvSpPr>
            <a:spLocks xmlns:a="http://schemas.openxmlformats.org/drawingml/2006/main" noGrp="1"/>
          </p:cNvSpPr>
          <p:nvPr/>
        </p:nvSpPr>
        <p:spPr>
          <a:xfrm xmlns:a="http://schemas.openxmlformats.org/drawingml/2006/main">
            <a:off x="838200" y="6362700"/>
            <a:ext cx="398145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900" b="1">
                <a:solidFill>
                  <a:srgbClr val="07110F"/>
                </a:solidFill>
              </a:defRPr>
            </a:defPPr>
          </a:lstStyle>
          <a:p xmlns:a="http://schemas.openxmlformats.org/drawingml/2006/main">
            <a:pPr>
              <a:defRPr sz="900" b="1">
                <a:solidFill>
                  <a:srgbClr val="07110F"/>
                </a:solidFill>
              </a:defRPr>
            </a:pPr>
            <a:r>
              <a:rPr sz="900" b="1">
                <a:solidFill>
                  <a:srgbClr val="07110F"/>
                </a:solidFill>
              </a:rPr>
              <a:t>SYNTHETIC READINGS SHOWN</a:t>
            </a:r>
          </a:p>
        </p:txBody>
      </p:sp>
    </p:spTree>
    <p:extLst>
      <p:ext uri="{BB962C8B-B14F-4D97-AF65-F5344CB8AC3E}">
        <p14:creationId xmlns:p14="http://schemas.microsoft.com/office/powerpoint/2010/main" val="53702488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2603D7-F571-43F5-AA53-9E2419B89D2C}"/>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61756C"/>
                </a:solidFill>
              </a:defRPr>
            </a:defPPr>
          </a:lstStyle>
          <a:p xmlns:a="http://schemas.openxmlformats.org/drawingml/2006/main">
            <a:pPr>
              <a:defRPr sz="825" b="1">
                <a:solidFill>
                  <a:srgbClr val="61756C"/>
                </a:solidFill>
              </a:defRPr>
            </a:pPr>
            <a:r>
              <a:rPr sz="825" b="1">
                <a:solidFill>
                  <a:srgbClr val="61756C"/>
                </a:solidFill>
              </a:rPr>
              <a:t>04</a:t>
            </a:r>
          </a:p>
        </p:txBody>
      </p:sp>
      <p:sp>
        <p:nvSpPr>
          <p:cNvPr id="2" name="">
            <a:extLst xmlns:a="http://schemas.openxmlformats.org/drawingml/2006/main">
              <a:ext uri="{FF2B5EF4-FFF2-40B4-BE49-F238E27FC236}">
                <a16:creationId xmlns:a16="http://schemas.microsoft.com/office/drawing/2014/main" id="{43EC9A21-4252-4850-BB10-A4790D89D7C7}"/>
              </a:ext>
            </a:extLst>
          </p:cNvPr>
          <p:cNvSpPr>
            <a:spLocks xmlns:a="http://schemas.openxmlformats.org/drawingml/2006/main" noGrp="1"/>
          </p:cNvSpPr>
          <p:nvPr/>
        </p:nvSpPr>
        <p:spPr>
          <a:xfrm xmlns:a="http://schemas.openxmlformats.org/drawingml/2006/main">
            <a:off x="609600" y="438150"/>
            <a:ext cx="723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082B26"/>
                </a:solidFill>
              </a:defRPr>
            </a:defPPr>
          </a:lstStyle>
          <a:p xmlns:a="http://schemas.openxmlformats.org/drawingml/2006/main">
            <a:pPr>
              <a:defRPr sz="3150" b="1">
                <a:solidFill>
                  <a:srgbClr val="082B26"/>
                </a:solidFill>
              </a:defRPr>
            </a:pPr>
            <a:r>
              <a:rPr sz="3150" b="1">
                <a:solidFill>
                  <a:srgbClr val="082B26"/>
                </a:solidFill>
              </a:rPr>
              <a:t>One clear next step</a:t>
            </a:r>
          </a:p>
        </p:txBody>
      </p:sp>
      <p:sp>
        <p:nvSpPr>
          <p:cNvPr id="3" name="">
            <a:extLst xmlns:a="http://schemas.openxmlformats.org/drawingml/2006/main">
              <a:ext uri="{FF2B5EF4-FFF2-40B4-BE49-F238E27FC236}">
                <a16:creationId xmlns:a16="http://schemas.microsoft.com/office/drawing/2014/main" id="{76401C19-EC86-4D65-965E-B1F75107193E}"/>
              </a:ext>
            </a:extLst>
          </p:cNvPr>
          <p:cNvSpPr>
            <a:spLocks xmlns:a="http://schemas.openxmlformats.org/drawingml/2006/main" noGrp="1"/>
          </p:cNvSpPr>
          <p:nvPr/>
        </p:nvSpPr>
        <p:spPr>
          <a:xfrm xmlns:a="http://schemas.openxmlformats.org/drawingml/2006/main">
            <a:off x="628650" y="1066800"/>
            <a:ext cx="990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0">
                <a:solidFill>
                  <a:srgbClr val="61756C"/>
                </a:solidFill>
              </a:defRPr>
            </a:defPPr>
          </a:lstStyle>
          <a:p xmlns:a="http://schemas.openxmlformats.org/drawingml/2006/main">
            <a:pPr>
              <a:defRPr sz="1650" b="0">
                <a:solidFill>
                  <a:srgbClr val="61756C"/>
                </a:solidFill>
              </a:defRPr>
            </a:pPr>
            <a:r>
              <a:rPr sz="1650" b="0">
                <a:solidFill>
                  <a:srgbClr val="61756C"/>
                </a:solidFill>
              </a:rPr>
              <a:t>The model surfaces evidence. Gemini explains approved facts. The worker decides.</a:t>
            </a:r>
          </a:p>
        </p:txBody>
      </p:sp>
      <p:pic>
        <p:nvPicPr>
          <p:cNvPr id="4" name="">
            <a:extLst xmlns:a="http://schemas.openxmlformats.org/drawingml/2006/main">
              <a:ext uri="{FF2B5EF4-FFF2-40B4-BE49-F238E27FC236}">
                <a16:creationId xmlns:a16="http://schemas.microsoft.com/office/drawing/2014/main" id="{3F56EDFB-E6E1-43CC-8E9E-3A1CDAA56411}"/>
              </a:ext>
            </a:extLst>
          </p:cNvPr>
          <p:cNvPicPr>
            <a:picLocks xmlns:a="http://schemas.openxmlformats.org/drawingml/2006/main" noChangeAspect="1"/>
          </p:cNvPicPr>
          <p:nvPr/>
        </p:nvPicPr>
        <p:blipFill>
          <a:blip xmlns:r="http://schemas.openxmlformats.org/officeDocument/2006/relationships" xmlns:a="http://schemas.openxmlformats.org/drawingml/2006/main" r:embed="Ra68bbf12684b42e4"/>
          <a:srcRect xmlns:a="http://schemas.openxmlformats.org/drawingml/2006/main" l="4000" t="3000" r="3000" b="4000"/>
          <a:stretch xmlns:a="http://schemas.openxmlformats.org/drawingml/2006/main"/>
        </p:blipFill>
        <p:spPr>
          <a:xfrm xmlns:a="http://schemas.openxmlformats.org/drawingml/2006/main">
            <a:off x="628650" y="1695450"/>
            <a:ext cx="10934700" cy="4476750"/>
          </a:xfrm>
          <a:prstGeom xmlns:a="http://schemas.openxmlformats.org/drawingml/2006/main" prst="roundRect">
            <a:avLst>
              <a:gd name="adj" fmla="val 5957"/>
            </a:avLst>
          </a:prstGeom>
        </p:spPr>
      </p:pic>
      <p:sp>
        <p:nvSpPr>
          <p:cNvPr id="5" name="">
            <a:extLst xmlns:a="http://schemas.openxmlformats.org/drawingml/2006/main">
              <a:ext uri="{FF2B5EF4-FFF2-40B4-BE49-F238E27FC236}">
                <a16:creationId xmlns:a16="http://schemas.microsoft.com/office/drawing/2014/main" id="{BDA1C4AB-440E-4A26-9E13-BA3FAB710775}"/>
              </a:ext>
            </a:extLst>
          </p:cNvPr>
          <p:cNvSpPr>
            <a:spLocks xmlns:a="http://schemas.openxmlformats.org/drawingml/2006/main" noGrp="1"/>
          </p:cNvSpPr>
          <p:nvPr/>
        </p:nvSpPr>
        <p:spPr>
          <a:xfrm xmlns:a="http://schemas.openxmlformats.org/drawingml/2006/main">
            <a:off x="857250" y="579120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75" b="1">
                <a:solidFill>
                  <a:srgbClr val="0D4D40"/>
                </a:solidFill>
              </a:defRPr>
            </a:defPPr>
          </a:lstStyle>
          <a:p xmlns:a="http://schemas.openxmlformats.org/drawingml/2006/main">
            <a:pPr>
              <a:defRPr sz="2175" b="1">
                <a:solidFill>
                  <a:srgbClr val="0D4D40"/>
                </a:solidFill>
              </a:defRPr>
            </a:pPr>
            <a:r>
              <a:rPr sz="2175" b="1">
                <a:solidFill>
                  <a:srgbClr val="0D4D40"/>
                </a:solidFill>
              </a:rPr>
              <a:t>REST</a:t>
            </a:r>
          </a:p>
        </p:txBody>
      </p:sp>
      <p:sp>
        <p:nvSpPr>
          <p:cNvPr id="6" name="">
            <a:extLst xmlns:a="http://schemas.openxmlformats.org/drawingml/2006/main">
              <a:ext uri="{FF2B5EF4-FFF2-40B4-BE49-F238E27FC236}">
                <a16:creationId xmlns:a16="http://schemas.microsoft.com/office/drawing/2014/main" id="{FB89C00F-0563-4A0A-B61C-C55FE40ECAAB}"/>
              </a:ext>
            </a:extLst>
          </p:cNvPr>
          <p:cNvSpPr>
            <a:spLocks xmlns:a="http://schemas.openxmlformats.org/drawingml/2006/main" noGrp="1"/>
          </p:cNvSpPr>
          <p:nvPr/>
        </p:nvSpPr>
        <p:spPr>
          <a:xfrm xmlns:a="http://schemas.openxmlformats.org/drawingml/2006/main">
            <a:off x="2857500" y="57912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75" b="1">
                <a:solidFill>
                  <a:srgbClr val="0D4D40"/>
                </a:solidFill>
              </a:defRPr>
            </a:defPPr>
          </a:lstStyle>
          <a:p xmlns:a="http://schemas.openxmlformats.org/drawingml/2006/main">
            <a:pPr>
              <a:defRPr sz="2175" b="1">
                <a:solidFill>
                  <a:srgbClr val="0D4D40"/>
                </a:solidFill>
              </a:defRPr>
            </a:pPr>
            <a:r>
              <a:rPr sz="2175" b="1">
                <a:solidFill>
                  <a:srgbClr val="0D4D40"/>
                </a:solidFill>
              </a:rPr>
              <a:t>TRY AGAIN</a:t>
            </a:r>
          </a:p>
        </p:txBody>
      </p:sp>
      <p:sp>
        <p:nvSpPr>
          <p:cNvPr id="7" name="">
            <a:extLst xmlns:a="http://schemas.openxmlformats.org/drawingml/2006/main">
              <a:ext uri="{FF2B5EF4-FFF2-40B4-BE49-F238E27FC236}">
                <a16:creationId xmlns:a16="http://schemas.microsoft.com/office/drawing/2014/main" id="{50C8EE3E-DF50-456D-AB27-DAAD46BE001C}"/>
              </a:ext>
            </a:extLst>
          </p:cNvPr>
          <p:cNvSpPr>
            <a:spLocks xmlns:a="http://schemas.openxmlformats.org/drawingml/2006/main" noGrp="1"/>
          </p:cNvSpPr>
          <p:nvPr/>
        </p:nvSpPr>
        <p:spPr>
          <a:xfrm xmlns:a="http://schemas.openxmlformats.org/drawingml/2006/main">
            <a:off x="5476875" y="57912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175" b="1">
                <a:solidFill>
                  <a:srgbClr val="0D4D40"/>
                </a:solidFill>
              </a:defRPr>
            </a:defPPr>
          </a:lstStyle>
          <a:p xmlns:a="http://schemas.openxmlformats.org/drawingml/2006/main">
            <a:pPr>
              <a:defRPr sz="2175" b="1">
                <a:solidFill>
                  <a:srgbClr val="0D4D40"/>
                </a:solidFill>
              </a:defRPr>
            </a:pPr>
            <a:r>
              <a:rPr sz="2175" b="1">
                <a:solidFill>
                  <a:srgbClr val="0D4D40"/>
                </a:solidFill>
              </a:rPr>
              <a:t>CONTINUE</a:t>
            </a:r>
          </a:p>
        </p:txBody>
      </p:sp>
    </p:spTree>
    <p:extLst>
      <p:ext uri="{BB962C8B-B14F-4D97-AF65-F5344CB8AC3E}">
        <p14:creationId xmlns:p14="http://schemas.microsoft.com/office/powerpoint/2010/main" val="590165973"/>
      </p:ext>
    </p:extLst>
  </p:cSld>
</p:sld>
</file>

<file path=ppt/slides/slide5.xml><?xml version="1.0" encoding="utf-8"?>
<p:sld xmlns:p="http://schemas.openxmlformats.org/presentationml/2006/main">
  <p:cSld>
    <p:bg>
      <p:bgPr>
        <a:solidFill xmlns:a="http://schemas.openxmlformats.org/drawingml/2006/main">
          <a:srgbClr val="F5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BE885AC-1D22-4E20-8B8F-EC7F0F5DA140}"/>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61756C"/>
                </a:solidFill>
              </a:defRPr>
            </a:defPPr>
          </a:lstStyle>
          <a:p xmlns:a="http://schemas.openxmlformats.org/drawingml/2006/main">
            <a:pPr>
              <a:defRPr sz="825" b="1">
                <a:solidFill>
                  <a:srgbClr val="61756C"/>
                </a:solidFill>
              </a:defRPr>
            </a:pPr>
            <a:r>
              <a:rPr sz="825" b="1">
                <a:solidFill>
                  <a:srgbClr val="61756C"/>
                </a:solidFill>
              </a:rPr>
              <a:t>05</a:t>
            </a:r>
          </a:p>
        </p:txBody>
      </p:sp>
      <p:sp>
        <p:nvSpPr>
          <p:cNvPr id="2" name="">
            <a:extLst xmlns:a="http://schemas.openxmlformats.org/drawingml/2006/main">
              <a:ext uri="{FF2B5EF4-FFF2-40B4-BE49-F238E27FC236}">
                <a16:creationId xmlns:a16="http://schemas.microsoft.com/office/drawing/2014/main" id="{8B5D42D1-9351-4ADE-B5A7-1941BE26278B}"/>
              </a:ext>
            </a:extLst>
          </p:cNvPr>
          <p:cNvSpPr>
            <a:spLocks xmlns:a="http://schemas.openxmlformats.org/drawingml/2006/main" noGrp="1"/>
          </p:cNvSpPr>
          <p:nvPr/>
        </p:nvSpPr>
        <p:spPr>
          <a:xfrm xmlns:a="http://schemas.openxmlformats.org/drawingml/2006/main">
            <a:off x="609600" y="457200"/>
            <a:ext cx="7810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082B26"/>
                </a:solidFill>
              </a:defRPr>
            </a:defPPr>
          </a:lstStyle>
          <a:p xmlns:a="http://schemas.openxmlformats.org/drawingml/2006/main">
            <a:pPr>
              <a:defRPr sz="3150" b="1">
                <a:solidFill>
                  <a:srgbClr val="082B26"/>
                </a:solidFill>
              </a:defRPr>
            </a:pPr>
            <a:r>
              <a:rPr sz="3150" b="1">
                <a:solidFill>
                  <a:srgbClr val="082B26"/>
                </a:solidFill>
              </a:rPr>
              <a:t>One request. One decision.</a:t>
            </a:r>
          </a:p>
        </p:txBody>
      </p:sp>
      <p:sp>
        <p:nvSpPr>
          <p:cNvPr id="3" name="">
            <a:extLst xmlns:a="http://schemas.openxmlformats.org/drawingml/2006/main">
              <a:ext uri="{FF2B5EF4-FFF2-40B4-BE49-F238E27FC236}">
                <a16:creationId xmlns:a16="http://schemas.microsoft.com/office/drawing/2014/main" id="{5733F01B-432E-4E7C-B1A3-FA2996430ED5}"/>
              </a:ext>
            </a:extLst>
          </p:cNvPr>
          <p:cNvSpPr>
            <a:spLocks xmlns:a="http://schemas.openxmlformats.org/drawingml/2006/main" noGrp="1"/>
          </p:cNvSpPr>
          <p:nvPr/>
        </p:nvSpPr>
        <p:spPr>
          <a:xfrm xmlns:a="http://schemas.openxmlformats.org/drawingml/2006/main">
            <a:off x="628650" y="1085850"/>
            <a:ext cx="8096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0">
                <a:solidFill>
                  <a:srgbClr val="61756C"/>
                </a:solidFill>
              </a:defRPr>
            </a:defPPr>
          </a:lstStyle>
          <a:p xmlns:a="http://schemas.openxmlformats.org/drawingml/2006/main">
            <a:pPr>
              <a:defRPr sz="1725" b="0">
                <a:solidFill>
                  <a:srgbClr val="61756C"/>
                </a:solidFill>
              </a:defRPr>
            </a:pPr>
            <a:r>
              <a:rPr sz="1725" b="0">
                <a:solidFill>
                  <a:srgbClr val="61756C"/>
                </a:solidFill>
              </a:rPr>
              <a:t>The break stays fixed. Coverage adapts around the worker.</a:t>
            </a:r>
          </a:p>
        </p:txBody>
      </p:sp>
      <p:pic>
        <p:nvPicPr>
          <p:cNvPr id="4" name="">
            <a:extLst xmlns:a="http://schemas.openxmlformats.org/drawingml/2006/main">
              <a:ext uri="{FF2B5EF4-FFF2-40B4-BE49-F238E27FC236}">
                <a16:creationId xmlns:a16="http://schemas.microsoft.com/office/drawing/2014/main" id="{C047A7C7-2B30-4449-902E-E008B2EA424C}"/>
              </a:ext>
            </a:extLst>
          </p:cNvPr>
          <p:cNvPicPr>
            <a:picLocks xmlns:a="http://schemas.openxmlformats.org/drawingml/2006/main" noChangeAspect="1"/>
          </p:cNvPicPr>
          <p:nvPr/>
        </p:nvPicPr>
        <p:blipFill>
          <a:blip xmlns:r="http://schemas.openxmlformats.org/officeDocument/2006/relationships" xmlns:a="http://schemas.openxmlformats.org/drawingml/2006/main" r:embed="Rbce19265f8cf445c"/>
          <a:srcRect xmlns:a="http://schemas.openxmlformats.org/drawingml/2006/main" l="8000" t="5000" r="3000" b="3000"/>
          <a:stretch xmlns:a="http://schemas.openxmlformats.org/drawingml/2006/main"/>
        </p:blipFill>
        <p:spPr>
          <a:xfrm xmlns:a="http://schemas.openxmlformats.org/drawingml/2006/main">
            <a:off x="628650" y="1790700"/>
            <a:ext cx="5219700" cy="3905250"/>
          </a:xfrm>
          <a:prstGeom xmlns:a="http://schemas.openxmlformats.org/drawingml/2006/main" prst="roundRect">
            <a:avLst>
              <a:gd name="adj" fmla="val 6829"/>
            </a:avLst>
          </a:prstGeom>
        </p:spPr>
      </p:pic>
      <p:pic>
        <p:nvPicPr>
          <p:cNvPr id="5" name="">
            <a:extLst xmlns:a="http://schemas.openxmlformats.org/drawingml/2006/main">
              <a:ext uri="{FF2B5EF4-FFF2-40B4-BE49-F238E27FC236}">
                <a16:creationId xmlns:a16="http://schemas.microsoft.com/office/drawing/2014/main" id="{707F2918-66A6-41AD-B087-49FBFBB3F118}"/>
              </a:ext>
            </a:extLst>
          </p:cNvPr>
          <p:cNvPicPr>
            <a:picLocks xmlns:a="http://schemas.openxmlformats.org/drawingml/2006/main" noChangeAspect="1"/>
          </p:cNvPicPr>
          <p:nvPr/>
        </p:nvPicPr>
        <p:blipFill>
          <a:blip xmlns:r="http://schemas.openxmlformats.org/officeDocument/2006/relationships" xmlns:a="http://schemas.openxmlformats.org/drawingml/2006/main" r:embed="R0bccfef516c04912"/>
          <a:srcRect xmlns:a="http://schemas.openxmlformats.org/drawingml/2006/main" l="8000" t="5000" r="2000" b="3000"/>
          <a:stretch xmlns:a="http://schemas.openxmlformats.org/drawingml/2006/main"/>
        </p:blipFill>
        <p:spPr>
          <a:xfrm xmlns:a="http://schemas.openxmlformats.org/drawingml/2006/main">
            <a:off x="6343650" y="1790700"/>
            <a:ext cx="5219700" cy="3905250"/>
          </a:xfrm>
          <a:prstGeom xmlns:a="http://schemas.openxmlformats.org/drawingml/2006/main" prst="roundRect">
            <a:avLst>
              <a:gd name="adj" fmla="val 6829"/>
            </a:avLst>
          </a:prstGeom>
        </p:spPr>
      </p:pic>
      <p:sp>
        <p:nvSpPr>
          <p:cNvPr id="6" name="">
            <a:extLst xmlns:a="http://schemas.openxmlformats.org/drawingml/2006/main">
              <a:ext uri="{FF2B5EF4-FFF2-40B4-BE49-F238E27FC236}">
                <a16:creationId xmlns:a16="http://schemas.microsoft.com/office/drawing/2014/main" id="{532E4CEE-C1C8-4331-B086-A45E7056C945}"/>
              </a:ext>
            </a:extLst>
          </p:cNvPr>
          <p:cNvSpPr>
            <a:spLocks xmlns:a="http://schemas.openxmlformats.org/drawingml/2006/main" noGrp="1"/>
          </p:cNvSpPr>
          <p:nvPr/>
        </p:nvSpPr>
        <p:spPr>
          <a:xfrm xmlns:a="http://schemas.openxmlformats.org/drawingml/2006/main">
            <a:off x="666750" y="59626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0D4D40"/>
                </a:solidFill>
              </a:defRPr>
            </a:defPPr>
          </a:lstStyle>
          <a:p xmlns:a="http://schemas.openxmlformats.org/drawingml/2006/main">
            <a:pPr>
              <a:defRPr sz="1050" b="1">
                <a:solidFill>
                  <a:srgbClr val="0D4D40"/>
                </a:solidFill>
              </a:defRPr>
            </a:pPr>
            <a:r>
              <a:rPr sz="1050" b="1">
                <a:solidFill>
                  <a:srgbClr val="0D4D40"/>
                </a:solidFill>
              </a:rPr>
              <a:t>SUPERVISOR APPROVES</a:t>
            </a:r>
          </a:p>
        </p:txBody>
      </p:sp>
      <p:sp>
        <p:nvSpPr>
          <p:cNvPr id="7" name="">
            <a:extLst xmlns:a="http://schemas.openxmlformats.org/drawingml/2006/main">
              <a:ext uri="{FF2B5EF4-FFF2-40B4-BE49-F238E27FC236}">
                <a16:creationId xmlns:a16="http://schemas.microsoft.com/office/drawing/2014/main" id="{8EC31F0E-8A2D-4DFD-B0CE-B4EBCD7785A8}"/>
              </a:ext>
            </a:extLst>
          </p:cNvPr>
          <p:cNvSpPr>
            <a:spLocks xmlns:a="http://schemas.openxmlformats.org/drawingml/2006/main" noGrp="1"/>
          </p:cNvSpPr>
          <p:nvPr/>
        </p:nvSpPr>
        <p:spPr>
          <a:xfrm xmlns:a="http://schemas.openxmlformats.org/drawingml/2006/main">
            <a:off x="6381750" y="596265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0D4D40"/>
                </a:solidFill>
              </a:defRPr>
            </a:defPPr>
          </a:lstStyle>
          <a:p xmlns:a="http://schemas.openxmlformats.org/drawingml/2006/main">
            <a:pPr>
              <a:defRPr sz="1050" b="1">
                <a:solidFill>
                  <a:srgbClr val="0D4D40"/>
                </a:solidFill>
              </a:defRPr>
            </a:pPr>
            <a:r>
              <a:rPr sz="1050" b="1">
                <a:solidFill>
                  <a:srgbClr val="0D4D40"/>
                </a:solidFill>
              </a:rPr>
              <a:t>COVERAGE UPDATES</a:t>
            </a:r>
          </a:p>
        </p:txBody>
      </p:sp>
    </p:spTree>
    <p:extLst>
      <p:ext uri="{BB962C8B-B14F-4D97-AF65-F5344CB8AC3E}">
        <p14:creationId xmlns:p14="http://schemas.microsoft.com/office/powerpoint/2010/main" val="1714910665"/>
      </p:ext>
    </p:extLst>
  </p:cSld>
</p:sld>
</file>

<file path=ppt/slides/slide6.xml><?xml version="1.0" encoding="utf-8"?>
<p:sld xmlns:p="http://schemas.openxmlformats.org/presentationml/2006/main">
  <p:cSld>
    <p:bg>
      <p:bgPr>
        <a:solidFill xmlns:a="http://schemas.openxmlformats.org/drawingml/2006/main">
          <a:srgbClr val="07110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8E08F8-A282-4CA9-AB43-BD2DB37E75B0}"/>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DCE9E3"/>
                </a:solidFill>
              </a:defRPr>
            </a:defPPr>
          </a:lstStyle>
          <a:p xmlns:a="http://schemas.openxmlformats.org/drawingml/2006/main">
            <a:pPr>
              <a:defRPr sz="825" b="1">
                <a:solidFill>
                  <a:srgbClr val="DCE9E3"/>
                </a:solidFill>
              </a:defRPr>
            </a:pPr>
            <a:r>
              <a:rPr sz="825" b="1">
                <a:solidFill>
                  <a:srgbClr val="DCE9E3"/>
                </a:solidFill>
              </a:rPr>
              <a:t>06</a:t>
            </a:r>
          </a:p>
        </p:txBody>
      </p:sp>
      <p:sp>
        <p:nvSpPr>
          <p:cNvPr id="2" name="">
            <a:extLst xmlns:a="http://schemas.openxmlformats.org/drawingml/2006/main">
              <a:ext uri="{FF2B5EF4-FFF2-40B4-BE49-F238E27FC236}">
                <a16:creationId xmlns:a16="http://schemas.microsoft.com/office/drawing/2014/main" id="{2988335D-41E9-4B06-A2C2-ABF318B1E353}"/>
              </a:ext>
            </a:extLst>
          </p:cNvPr>
          <p:cNvSpPr>
            <a:spLocks xmlns:a="http://schemas.openxmlformats.org/drawingml/2006/main" noGrp="1"/>
          </p:cNvSpPr>
          <p:nvPr/>
        </p:nvSpPr>
        <p:spPr>
          <a:xfrm xmlns:a="http://schemas.openxmlformats.org/drawingml/2006/main">
            <a:off x="609600" y="457200"/>
            <a:ext cx="8572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FFFFFF"/>
                </a:solidFill>
              </a:defRPr>
            </a:defPPr>
          </a:lstStyle>
          <a:p xmlns:a="http://schemas.openxmlformats.org/drawingml/2006/main">
            <a:pPr>
              <a:defRPr sz="3150" b="1">
                <a:solidFill>
                  <a:srgbClr val="FFFFFF"/>
                </a:solidFill>
              </a:defRPr>
            </a:pPr>
            <a:r>
              <a:rPr sz="3150" b="1">
                <a:solidFill>
                  <a:srgbClr val="FFFFFF"/>
                </a:solidFill>
              </a:rPr>
              <a:t>A possible person-down alert</a:t>
            </a:r>
          </a:p>
        </p:txBody>
      </p:sp>
      <p:sp>
        <p:nvSpPr>
          <p:cNvPr id="3" name="">
            <a:extLst xmlns:a="http://schemas.openxmlformats.org/drawingml/2006/main">
              <a:ext uri="{FF2B5EF4-FFF2-40B4-BE49-F238E27FC236}">
                <a16:creationId xmlns:a16="http://schemas.microsoft.com/office/drawing/2014/main" id="{CD88DA6F-91EF-42FF-9165-380944335DCD}"/>
              </a:ext>
            </a:extLst>
          </p:cNvPr>
          <p:cNvSpPr>
            <a:spLocks xmlns:a="http://schemas.openxmlformats.org/drawingml/2006/main" noGrp="1"/>
          </p:cNvSpPr>
          <p:nvPr/>
        </p:nvSpPr>
        <p:spPr>
          <a:xfrm xmlns:a="http://schemas.openxmlformats.org/drawingml/2006/main">
            <a:off x="628650" y="10668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0">
                <a:solidFill>
                  <a:srgbClr val="DCE9E3"/>
                </a:solidFill>
              </a:defRPr>
            </a:defPPr>
          </a:lstStyle>
          <a:p xmlns:a="http://schemas.openxmlformats.org/drawingml/2006/main">
            <a:pPr>
              <a:defRPr sz="1650" b="0">
                <a:solidFill>
                  <a:srgbClr val="DCE9E3"/>
                </a:solidFill>
              </a:defRPr>
            </a:pPr>
            <a:r>
              <a:rPr sz="1650" b="0">
                <a:solidFill>
                  <a:srgbClr val="DCE9E3"/>
                </a:solidFill>
              </a:rPr>
              <a:t>A possible person-down event reaches a human reviewer.</a:t>
            </a:r>
          </a:p>
        </p:txBody>
      </p:sp>
      <p:pic>
        <p:nvPicPr>
          <p:cNvPr id="4" name="">
            <a:extLst xmlns:a="http://schemas.openxmlformats.org/drawingml/2006/main">
              <a:ext uri="{FF2B5EF4-FFF2-40B4-BE49-F238E27FC236}">
                <a16:creationId xmlns:a16="http://schemas.microsoft.com/office/drawing/2014/main" id="{26555D0E-E66F-47FC-9D67-909B5C66C2D0}"/>
              </a:ext>
            </a:extLst>
          </p:cNvPr>
          <p:cNvPicPr>
            <a:picLocks xmlns:a="http://schemas.openxmlformats.org/drawingml/2006/main" noChangeAspect="1"/>
          </p:cNvPicPr>
          <p:nvPr/>
        </p:nvPicPr>
        <p:blipFill>
          <a:blip xmlns:r="http://schemas.openxmlformats.org/officeDocument/2006/relationships" xmlns:a="http://schemas.openxmlformats.org/drawingml/2006/main" r:embed="R48c21b09fcd34d32"/>
          <a:srcRect xmlns:a="http://schemas.openxmlformats.org/drawingml/2006/main" l="3000" t="3000" r="2000" b="3000"/>
          <a:stretch xmlns:a="http://schemas.openxmlformats.org/drawingml/2006/main"/>
        </p:blipFill>
        <p:spPr>
          <a:xfrm xmlns:a="http://schemas.openxmlformats.org/drawingml/2006/main">
            <a:off x="609600" y="1714500"/>
            <a:ext cx="6953250" cy="4362450"/>
          </a:xfrm>
          <a:prstGeom xmlns:a="http://schemas.openxmlformats.org/drawingml/2006/main" prst="roundRect">
            <a:avLst>
              <a:gd name="adj" fmla="val 6114"/>
            </a:avLst>
          </a:prstGeom>
        </p:spPr>
      </p:pic>
      <p:pic>
        <p:nvPicPr>
          <p:cNvPr id="5" name="">
            <a:extLst xmlns:a="http://schemas.openxmlformats.org/drawingml/2006/main">
              <a:ext uri="{FF2B5EF4-FFF2-40B4-BE49-F238E27FC236}">
                <a16:creationId xmlns:a16="http://schemas.microsoft.com/office/drawing/2014/main" id="{74E1383D-4A7A-486B-B7EA-DF91A3EAD759}"/>
              </a:ext>
            </a:extLst>
          </p:cNvPr>
          <p:cNvPicPr>
            <a:picLocks xmlns:a="http://schemas.openxmlformats.org/drawingml/2006/main" noChangeAspect="1"/>
          </p:cNvPicPr>
          <p:nvPr/>
        </p:nvPicPr>
        <p:blipFill>
          <a:blip xmlns:r="http://schemas.openxmlformats.org/officeDocument/2006/relationships" xmlns:a="http://schemas.openxmlformats.org/drawingml/2006/main" r:embed="R6eb35bcaf3854426"/>
          <a:srcRect xmlns:a="http://schemas.openxmlformats.org/drawingml/2006/main" l="5000" t="5000" r="3000" b="4000"/>
          <a:stretch xmlns:a="http://schemas.openxmlformats.org/drawingml/2006/main"/>
        </p:blipFill>
        <p:spPr>
          <a:xfrm xmlns:a="http://schemas.openxmlformats.org/drawingml/2006/main">
            <a:off x="7943850" y="2190750"/>
            <a:ext cx="3600450" cy="2857500"/>
          </a:xfrm>
          <a:prstGeom xmlns:a="http://schemas.openxmlformats.org/drawingml/2006/main" prst="roundRect">
            <a:avLst>
              <a:gd name="adj" fmla="val 9333"/>
            </a:avLst>
          </a:prstGeom>
        </p:spPr>
      </p:pic>
      <p:sp>
        <p:nvSpPr>
          <p:cNvPr id="6" name="">
            <a:extLst xmlns:a="http://schemas.openxmlformats.org/drawingml/2006/main">
              <a:ext uri="{FF2B5EF4-FFF2-40B4-BE49-F238E27FC236}">
                <a16:creationId xmlns:a16="http://schemas.microsoft.com/office/drawing/2014/main" id="{0D098627-3253-4AA0-801D-53B3C730133C}"/>
              </a:ext>
            </a:extLst>
          </p:cNvPr>
          <p:cNvSpPr>
            <a:spLocks xmlns:a="http://schemas.openxmlformats.org/drawingml/2006/main" noGrp="1"/>
          </p:cNvSpPr>
          <p:nvPr/>
        </p:nvSpPr>
        <p:spPr>
          <a:xfrm xmlns:a="http://schemas.openxmlformats.org/drawingml/2006/main">
            <a:off x="8020050" y="53340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125" b="1">
                <a:solidFill>
                  <a:srgbClr val="FFD278"/>
                </a:solidFill>
              </a:defRPr>
            </a:defPPr>
          </a:lstStyle>
          <a:p xmlns:a="http://schemas.openxmlformats.org/drawingml/2006/main">
            <a:pPr>
              <a:defRPr sz="1125" b="1">
                <a:solidFill>
                  <a:srgbClr val="FFD278"/>
                </a:solidFill>
              </a:defRPr>
            </a:pPr>
            <a:r>
              <a:rPr sz="1125" b="1">
                <a:solidFill>
                  <a:srgbClr val="FFD278"/>
                </a:solidFill>
              </a:rPr>
              <a:t>DETECT</a:t>
            </a:r>
          </a:p>
        </p:txBody>
      </p:sp>
      <p:sp>
        <p:nvSpPr>
          <p:cNvPr id="7" name="">
            <a:extLst xmlns:a="http://schemas.openxmlformats.org/drawingml/2006/main">
              <a:ext uri="{FF2B5EF4-FFF2-40B4-BE49-F238E27FC236}">
                <a16:creationId xmlns:a16="http://schemas.microsoft.com/office/drawing/2014/main" id="{FA0F5F2B-7F64-4058-A23C-0A4066088A9C}"/>
              </a:ext>
            </a:extLst>
          </p:cNvPr>
          <p:cNvSpPr>
            <a:spLocks xmlns:a="http://schemas.openxmlformats.org/drawingml/2006/main" noGrp="1"/>
          </p:cNvSpPr>
          <p:nvPr/>
        </p:nvSpPr>
        <p:spPr>
          <a:xfrm xmlns:a="http://schemas.openxmlformats.org/drawingml/2006/main">
            <a:off x="9525000" y="53340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125" b="1">
                <a:solidFill>
                  <a:srgbClr val="C8FF63"/>
                </a:solidFill>
              </a:defRPr>
            </a:defPPr>
          </a:lstStyle>
          <a:p xmlns:a="http://schemas.openxmlformats.org/drawingml/2006/main">
            <a:pPr>
              <a:defRPr sz="1125" b="1">
                <a:solidFill>
                  <a:srgbClr val="C8FF63"/>
                </a:solidFill>
              </a:defRPr>
            </a:pPr>
            <a:r>
              <a:rPr sz="1125" b="1">
                <a:solidFill>
                  <a:srgbClr val="C8FF63"/>
                </a:solidFill>
              </a:rPr>
              <a:t>REVIEW</a:t>
            </a:r>
          </a:p>
        </p:txBody>
      </p:sp>
      <p:sp>
        <p:nvSpPr>
          <p:cNvPr id="8" name="">
            <a:extLst xmlns:a="http://schemas.openxmlformats.org/drawingml/2006/main">
              <a:ext uri="{FF2B5EF4-FFF2-40B4-BE49-F238E27FC236}">
                <a16:creationId xmlns:a16="http://schemas.microsoft.com/office/drawing/2014/main" id="{2146C573-53F3-414C-B272-D9E40C7A697A}"/>
              </a:ext>
            </a:extLst>
          </p:cNvPr>
          <p:cNvSpPr>
            <a:spLocks xmlns:a="http://schemas.openxmlformats.org/drawingml/2006/main" noGrp="1"/>
          </p:cNvSpPr>
          <p:nvPr/>
        </p:nvSpPr>
        <p:spPr>
          <a:xfrm xmlns:a="http://schemas.openxmlformats.org/drawingml/2006/main">
            <a:off x="7962900" y="571500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425" b="1">
                <a:solidFill>
                  <a:srgbClr val="FFFFFF"/>
                </a:solidFill>
              </a:defRPr>
            </a:defPPr>
          </a:lstStyle>
          <a:p xmlns:a="http://schemas.openxmlformats.org/drawingml/2006/main">
            <a:pPr>
              <a:defRPr sz="1425" b="1">
                <a:solidFill>
                  <a:srgbClr val="FFFFFF"/>
                </a:solidFill>
              </a:defRPr>
            </a:pPr>
            <a:r>
              <a:rPr sz="1425" b="1">
                <a:solidFill>
                  <a:srgbClr val="FFFFFF"/>
                </a:solidFill>
              </a:rPr>
              <a:t>A heuristic raises the event. A person closes it.</a:t>
            </a:r>
          </a:p>
        </p:txBody>
      </p:sp>
    </p:spTree>
    <p:extLst>
      <p:ext uri="{BB962C8B-B14F-4D97-AF65-F5344CB8AC3E}">
        <p14:creationId xmlns:p14="http://schemas.microsoft.com/office/powerpoint/2010/main" val="1630261575"/>
      </p:ext>
    </p:extLst>
  </p:cSld>
</p:sld>
</file>

<file path=ppt/slides/slide7.xml><?xml version="1.0" encoding="utf-8"?>
<p:sld xmlns:p="http://schemas.openxmlformats.org/presentationml/2006/main">
  <p:cSld>
    <p:bg>
      <p:bgPr>
        <a:solidFill xmlns:a="http://schemas.openxmlformats.org/drawingml/2006/main">
          <a:srgbClr val="082B26"/>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9C31B0D-0886-4813-A923-6A9502E00F5F}"/>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DCE9E3"/>
                </a:solidFill>
              </a:defRPr>
            </a:defPPr>
          </a:lstStyle>
          <a:p xmlns:a="http://schemas.openxmlformats.org/drawingml/2006/main">
            <a:pPr>
              <a:defRPr sz="825" b="1">
                <a:solidFill>
                  <a:srgbClr val="DCE9E3"/>
                </a:solidFill>
              </a:defRPr>
            </a:pPr>
            <a:r>
              <a:rPr sz="825" b="1">
                <a:solidFill>
                  <a:srgbClr val="DCE9E3"/>
                </a:solidFill>
              </a:rPr>
              <a:t>07</a:t>
            </a:r>
          </a:p>
        </p:txBody>
      </p:sp>
      <p:sp>
        <p:nvSpPr>
          <p:cNvPr id="2" name="">
            <a:extLst xmlns:a="http://schemas.openxmlformats.org/drawingml/2006/main">
              <a:ext uri="{FF2B5EF4-FFF2-40B4-BE49-F238E27FC236}">
                <a16:creationId xmlns:a16="http://schemas.microsoft.com/office/drawing/2014/main" id="{5BDF021A-9599-49F6-9542-3D58188BB5E5}"/>
              </a:ext>
            </a:extLst>
          </p:cNvPr>
          <p:cNvSpPr>
            <a:spLocks xmlns:a="http://schemas.openxmlformats.org/drawingml/2006/main" noGrp="1"/>
          </p:cNvSpPr>
          <p:nvPr/>
        </p:nvSpPr>
        <p:spPr>
          <a:xfrm xmlns:a="http://schemas.openxmlformats.org/drawingml/2006/main">
            <a:off x="609600" y="457200"/>
            <a:ext cx="666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FFFFFF"/>
                </a:solidFill>
              </a:defRPr>
            </a:defPPr>
          </a:lstStyle>
          <a:p xmlns:a="http://schemas.openxmlformats.org/drawingml/2006/main">
            <a:pPr>
              <a:defRPr sz="3150" b="1">
                <a:solidFill>
                  <a:srgbClr val="FFFFFF"/>
                </a:solidFill>
              </a:defRPr>
            </a:pPr>
            <a:r>
              <a:rPr sz="3150" b="1">
                <a:solidFill>
                  <a:srgbClr val="FFFFFF"/>
                </a:solidFill>
              </a:rPr>
              <a:t>The safety loop</a:t>
            </a:r>
          </a:p>
        </p:txBody>
      </p:sp>
      <p:sp>
        <p:nvSpPr>
          <p:cNvPr id="3" name="">
            <a:extLst xmlns:a="http://schemas.openxmlformats.org/drawingml/2006/main">
              <a:ext uri="{FF2B5EF4-FFF2-40B4-BE49-F238E27FC236}">
                <a16:creationId xmlns:a16="http://schemas.microsoft.com/office/drawing/2014/main" id="{7C75B821-8E84-4F97-8B03-AE67A7D3F079}"/>
              </a:ext>
            </a:extLst>
          </p:cNvPr>
          <p:cNvSpPr>
            <a:spLocks xmlns:a="http://schemas.openxmlformats.org/drawingml/2006/main" noGrp="1"/>
          </p:cNvSpPr>
          <p:nvPr/>
        </p:nvSpPr>
        <p:spPr>
          <a:xfrm xmlns:a="http://schemas.openxmlformats.org/drawingml/2006/main">
            <a:off x="628650" y="1066800"/>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650" b="0">
                <a:solidFill>
                  <a:srgbClr val="DCE9E3"/>
                </a:solidFill>
              </a:defRPr>
            </a:defPPr>
          </a:lstStyle>
          <a:p xmlns:a="http://schemas.openxmlformats.org/drawingml/2006/main">
            <a:pPr>
              <a:defRPr sz="1650" b="0">
                <a:solidFill>
                  <a:srgbClr val="DCE9E3"/>
                </a:solidFill>
              </a:defRPr>
            </a:pPr>
            <a:r>
              <a:rPr sz="1650" b="0">
                <a:solidFill>
                  <a:srgbClr val="DCE9E3"/>
                </a:solidFill>
              </a:rPr>
              <a:t>Each integration has one job.</a:t>
            </a:r>
          </a:p>
        </p:txBody>
      </p:sp>
      <p:sp>
        <p:nvSpPr>
          <p:cNvPr id="4" name="">
            <a:extLst xmlns:a="http://schemas.openxmlformats.org/drawingml/2006/main">
              <a:ext uri="{FF2B5EF4-FFF2-40B4-BE49-F238E27FC236}">
                <a16:creationId xmlns:a16="http://schemas.microsoft.com/office/drawing/2014/main" id="{ED59BE03-DBBF-458B-A446-2FF7A7C9C905}"/>
              </a:ext>
            </a:extLst>
          </p:cNvPr>
          <p:cNvSpPr>
            <a:spLocks xmlns:a="http://schemas.openxmlformats.org/drawingml/2006/main" noGrp="1"/>
          </p:cNvSpPr>
          <p:nvPr/>
        </p:nvSpPr>
        <p:spPr>
          <a:xfrm xmlns:a="http://schemas.openxmlformats.org/drawingml/2006/main">
            <a:off x="704850" y="2152650"/>
            <a:ext cx="1790700" cy="2286000"/>
          </a:xfrm>
          <a:prstGeom xmlns:a="http://schemas.openxmlformats.org/drawingml/2006/main" prst="roundRect">
            <a:avLst>
              <a:gd name="adj" fmla="val 13830"/>
            </a:avLst>
          </a:prstGeom>
          <a:solidFill xmlns:a="http://schemas.openxmlformats.org/drawingml/2006/main">
            <a:srgbClr val="0D4D4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84C2813-5E82-4FF2-83FA-748111CF2DAA}"/>
              </a:ext>
            </a:extLst>
          </p:cNvPr>
          <p:cNvSpPr>
            <a:spLocks xmlns:a="http://schemas.openxmlformats.org/drawingml/2006/main" noGrp="1"/>
          </p:cNvSpPr>
          <p:nvPr/>
        </p:nvSpPr>
        <p:spPr>
          <a:xfrm xmlns:a="http://schemas.openxmlformats.org/drawingml/2006/main">
            <a:off x="895350" y="2419350"/>
            <a:ext cx="140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C8FF63"/>
                </a:solidFill>
              </a:defRPr>
            </a:defPPr>
          </a:lstStyle>
          <a:p xmlns:a="http://schemas.openxmlformats.org/drawingml/2006/main">
            <a:pPr>
              <a:defRPr sz="1050" b="1">
                <a:solidFill>
                  <a:srgbClr val="C8FF63"/>
                </a:solidFill>
              </a:defRPr>
            </a:pPr>
            <a:r>
              <a:rPr sz="1050" b="1">
                <a:solidFill>
                  <a:srgbClr val="C8FF63"/>
                </a:solidFill>
              </a:rPr>
              <a:t>PRESAGE</a:t>
            </a:r>
          </a:p>
        </p:txBody>
      </p:sp>
      <p:sp>
        <p:nvSpPr>
          <p:cNvPr id="6" name="">
            <a:extLst xmlns:a="http://schemas.openxmlformats.org/drawingml/2006/main">
              <a:ext uri="{FF2B5EF4-FFF2-40B4-BE49-F238E27FC236}">
                <a16:creationId xmlns:a16="http://schemas.microsoft.com/office/drawing/2014/main" id="{281D234D-4DB8-4071-A6D5-6153E38EADC0}"/>
              </a:ext>
            </a:extLst>
          </p:cNvPr>
          <p:cNvSpPr>
            <a:spLocks xmlns:a="http://schemas.openxmlformats.org/drawingml/2006/main" noGrp="1"/>
          </p:cNvSpPr>
          <p:nvPr/>
        </p:nvSpPr>
        <p:spPr>
          <a:xfrm xmlns:a="http://schemas.openxmlformats.org/drawingml/2006/main">
            <a:off x="895350" y="3067050"/>
            <a:ext cx="14097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a:solidFill>
                  <a:srgbClr val="FFFFFF"/>
                </a:solidFill>
              </a:defRPr>
            </a:defPPr>
          </a:lstStyle>
          <a:p xmlns:a="http://schemas.openxmlformats.org/drawingml/2006/main">
            <a:pPr>
              <a:defRPr sz="1725" b="1">
                <a:solidFill>
                  <a:srgbClr val="FFFFFF"/>
                </a:solidFill>
              </a:defRPr>
            </a:pPr>
            <a:r>
              <a:rPr sz="1725" b="1">
                <a:solidFill>
                  <a:srgbClr val="FFFFFF"/>
                </a:solidFill>
              </a:rPr>
              <a:t>Contactless</a:t>
            </a:r>
          </a:p>
          <a:p xmlns:a="http://schemas.openxmlformats.org/drawingml/2006/main">
            <a:pPr>
              <a:defRPr sz="1725" b="1">
                <a:solidFill>
                  <a:srgbClr val="FFFFFF"/>
                </a:solidFill>
              </a:defRPr>
            </a:pPr>
            <a:r>
              <a:rPr sz="1725" b="1">
                <a:solidFill>
                  <a:srgbClr val="FFFFFF"/>
                </a:solidFill>
              </a:rPr>
              <a:t>observations</a:t>
            </a:r>
          </a:p>
        </p:txBody>
      </p:sp>
      <p:sp>
        <p:nvSpPr>
          <p:cNvPr id="7" name="">
            <a:extLst xmlns:a="http://schemas.openxmlformats.org/drawingml/2006/main">
              <a:ext uri="{FF2B5EF4-FFF2-40B4-BE49-F238E27FC236}">
                <a16:creationId xmlns:a16="http://schemas.microsoft.com/office/drawing/2014/main" id="{D349E889-6418-43CB-A6F0-F596EECAC673}"/>
              </a:ext>
            </a:extLst>
          </p:cNvPr>
          <p:cNvSpPr>
            <a:spLocks xmlns:a="http://schemas.openxmlformats.org/drawingml/2006/main" noGrp="1"/>
          </p:cNvSpPr>
          <p:nvPr/>
        </p:nvSpPr>
        <p:spPr>
          <a:xfrm xmlns:a="http://schemas.openxmlformats.org/drawingml/2006/main">
            <a:off x="2571750" y="2895600"/>
            <a:ext cx="266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a:solidFill>
                  <a:srgbClr val="C8FF63"/>
                </a:solidFill>
              </a:defRPr>
            </a:defPPr>
          </a:lstStyle>
          <a:p xmlns:a="http://schemas.openxmlformats.org/drawingml/2006/main">
            <a:pPr>
              <a:defRPr sz="2550" b="1">
                <a:solidFill>
                  <a:srgbClr val="C8FF63"/>
                </a:solidFill>
              </a:defRPr>
            </a:pPr>
            <a:r>
              <a:rPr sz="2550" b="1">
                <a:solidFill>
                  <a:srgbClr val="C8FF63"/>
                </a:solidFill>
              </a:rPr>
              <a:t>›</a:t>
            </a:r>
          </a:p>
        </p:txBody>
      </p:sp>
      <p:sp>
        <p:nvSpPr>
          <p:cNvPr id="8" name="">
            <a:extLst xmlns:a="http://schemas.openxmlformats.org/drawingml/2006/main">
              <a:ext uri="{FF2B5EF4-FFF2-40B4-BE49-F238E27FC236}">
                <a16:creationId xmlns:a16="http://schemas.microsoft.com/office/drawing/2014/main" id="{882C73E1-486E-406D-B9B4-FB22D7EF5CF5}"/>
              </a:ext>
            </a:extLst>
          </p:cNvPr>
          <p:cNvSpPr>
            <a:spLocks xmlns:a="http://schemas.openxmlformats.org/drawingml/2006/main" noGrp="1"/>
          </p:cNvSpPr>
          <p:nvPr/>
        </p:nvSpPr>
        <p:spPr>
          <a:xfrm xmlns:a="http://schemas.openxmlformats.org/drawingml/2006/main">
            <a:off x="2952750" y="2152650"/>
            <a:ext cx="1790700" cy="2286000"/>
          </a:xfrm>
          <a:prstGeom xmlns:a="http://schemas.openxmlformats.org/drawingml/2006/main" prst="roundRect">
            <a:avLst>
              <a:gd name="adj" fmla="val 13830"/>
            </a:avLst>
          </a:prstGeom>
          <a:solidFill xmlns:a="http://schemas.openxmlformats.org/drawingml/2006/main">
            <a:srgbClr val="0D4D4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A0BCA20-895F-4A64-A9F7-B23C0BCA7F73}"/>
              </a:ext>
            </a:extLst>
          </p:cNvPr>
          <p:cNvSpPr>
            <a:spLocks xmlns:a="http://schemas.openxmlformats.org/drawingml/2006/main" noGrp="1"/>
          </p:cNvSpPr>
          <p:nvPr/>
        </p:nvSpPr>
        <p:spPr>
          <a:xfrm xmlns:a="http://schemas.openxmlformats.org/drawingml/2006/main">
            <a:off x="3143250" y="2419350"/>
            <a:ext cx="140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C8FF63"/>
                </a:solidFill>
              </a:defRPr>
            </a:defPPr>
          </a:lstStyle>
          <a:p xmlns:a="http://schemas.openxmlformats.org/drawingml/2006/main">
            <a:pPr>
              <a:defRPr sz="1050" b="1">
                <a:solidFill>
                  <a:srgbClr val="C8FF63"/>
                </a:solidFill>
              </a:defRPr>
            </a:pPr>
            <a:r>
              <a:rPr sz="1050" b="1">
                <a:solidFill>
                  <a:srgbClr val="C8FF63"/>
                </a:solidFill>
              </a:rPr>
              <a:t>SITEGUARD</a:t>
            </a:r>
          </a:p>
        </p:txBody>
      </p:sp>
      <p:sp>
        <p:nvSpPr>
          <p:cNvPr id="10" name="">
            <a:extLst xmlns:a="http://schemas.openxmlformats.org/drawingml/2006/main">
              <a:ext uri="{FF2B5EF4-FFF2-40B4-BE49-F238E27FC236}">
                <a16:creationId xmlns:a16="http://schemas.microsoft.com/office/drawing/2014/main" id="{2FADB22F-907F-41E9-97E5-4FBBD94ED1D2}"/>
              </a:ext>
            </a:extLst>
          </p:cNvPr>
          <p:cNvSpPr>
            <a:spLocks xmlns:a="http://schemas.openxmlformats.org/drawingml/2006/main" noGrp="1"/>
          </p:cNvSpPr>
          <p:nvPr/>
        </p:nvSpPr>
        <p:spPr>
          <a:xfrm xmlns:a="http://schemas.openxmlformats.org/drawingml/2006/main">
            <a:off x="3143250" y="3067050"/>
            <a:ext cx="14097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a:solidFill>
                  <a:srgbClr val="FFFFFF"/>
                </a:solidFill>
              </a:defRPr>
            </a:defPPr>
          </a:lstStyle>
          <a:p xmlns:a="http://schemas.openxmlformats.org/drawingml/2006/main">
            <a:pPr>
              <a:defRPr sz="1725" b="1">
                <a:solidFill>
                  <a:srgbClr val="FFFFFF"/>
                </a:solidFill>
              </a:defRPr>
            </a:pPr>
            <a:r>
              <a:rPr sz="1725" b="1">
                <a:solidFill>
                  <a:srgbClr val="FFFFFF"/>
                </a:solidFill>
              </a:rPr>
              <a:t>Worker choice</a:t>
            </a:r>
          </a:p>
          <a:p xmlns:a="http://schemas.openxmlformats.org/drawingml/2006/main">
            <a:pPr>
              <a:defRPr sz="1725" b="1">
                <a:solidFill>
                  <a:srgbClr val="FFFFFF"/>
                </a:solidFill>
              </a:defRPr>
            </a:pPr>
            <a:r>
              <a:rPr sz="1725" b="1">
                <a:solidFill>
                  <a:srgbClr val="FFFFFF"/>
                </a:solidFill>
              </a:rPr>
              <a:t>and requests</a:t>
            </a:r>
          </a:p>
        </p:txBody>
      </p:sp>
      <p:sp>
        <p:nvSpPr>
          <p:cNvPr id="11" name="">
            <a:extLst xmlns:a="http://schemas.openxmlformats.org/drawingml/2006/main">
              <a:ext uri="{FF2B5EF4-FFF2-40B4-BE49-F238E27FC236}">
                <a16:creationId xmlns:a16="http://schemas.microsoft.com/office/drawing/2014/main" id="{B12A5C4E-4DD3-41F5-A9F8-04B4D99CF494}"/>
              </a:ext>
            </a:extLst>
          </p:cNvPr>
          <p:cNvSpPr>
            <a:spLocks xmlns:a="http://schemas.openxmlformats.org/drawingml/2006/main" noGrp="1"/>
          </p:cNvSpPr>
          <p:nvPr/>
        </p:nvSpPr>
        <p:spPr>
          <a:xfrm xmlns:a="http://schemas.openxmlformats.org/drawingml/2006/main">
            <a:off x="4819650" y="2895600"/>
            <a:ext cx="266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a:solidFill>
                  <a:srgbClr val="C8FF63"/>
                </a:solidFill>
              </a:defRPr>
            </a:defPPr>
          </a:lstStyle>
          <a:p xmlns:a="http://schemas.openxmlformats.org/drawingml/2006/main">
            <a:pPr>
              <a:defRPr sz="2550" b="1">
                <a:solidFill>
                  <a:srgbClr val="C8FF63"/>
                </a:solidFill>
              </a:defRPr>
            </a:pPr>
            <a:r>
              <a:rPr sz="2550" b="1">
                <a:solidFill>
                  <a:srgbClr val="C8FF63"/>
                </a:solidFill>
              </a:rPr>
              <a:t>›</a:t>
            </a:r>
          </a:p>
        </p:txBody>
      </p:sp>
      <p:sp>
        <p:nvSpPr>
          <p:cNvPr id="12" name="">
            <a:extLst xmlns:a="http://schemas.openxmlformats.org/drawingml/2006/main">
              <a:ext uri="{FF2B5EF4-FFF2-40B4-BE49-F238E27FC236}">
                <a16:creationId xmlns:a16="http://schemas.microsoft.com/office/drawing/2014/main" id="{555BBFBD-33A2-444E-A072-90BA1B00F224}"/>
              </a:ext>
            </a:extLst>
          </p:cNvPr>
          <p:cNvSpPr>
            <a:spLocks xmlns:a="http://schemas.openxmlformats.org/drawingml/2006/main" noGrp="1"/>
          </p:cNvSpPr>
          <p:nvPr/>
        </p:nvSpPr>
        <p:spPr>
          <a:xfrm xmlns:a="http://schemas.openxmlformats.org/drawingml/2006/main">
            <a:off x="5200650" y="2152650"/>
            <a:ext cx="1790700" cy="2286000"/>
          </a:xfrm>
          <a:prstGeom xmlns:a="http://schemas.openxmlformats.org/drawingml/2006/main" prst="roundRect">
            <a:avLst>
              <a:gd name="adj" fmla="val 13830"/>
            </a:avLst>
          </a:prstGeom>
          <a:solidFill xmlns:a="http://schemas.openxmlformats.org/drawingml/2006/main">
            <a:srgbClr val="0D4D4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7D4B4EC-0A1E-42B0-B5B7-B0D74F94EEDA}"/>
              </a:ext>
            </a:extLst>
          </p:cNvPr>
          <p:cNvSpPr>
            <a:spLocks xmlns:a="http://schemas.openxmlformats.org/drawingml/2006/main" noGrp="1"/>
          </p:cNvSpPr>
          <p:nvPr/>
        </p:nvSpPr>
        <p:spPr>
          <a:xfrm xmlns:a="http://schemas.openxmlformats.org/drawingml/2006/main">
            <a:off x="5391150" y="2419350"/>
            <a:ext cx="140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C8FF63"/>
                </a:solidFill>
              </a:defRPr>
            </a:defPPr>
          </a:lstStyle>
          <a:p xmlns:a="http://schemas.openxmlformats.org/drawingml/2006/main">
            <a:pPr>
              <a:defRPr sz="1050" b="1">
                <a:solidFill>
                  <a:srgbClr val="C8FF63"/>
                </a:solidFill>
              </a:defRPr>
            </a:pPr>
            <a:r>
              <a:rPr sz="1050" b="1">
                <a:solidFill>
                  <a:srgbClr val="C8FF63"/>
                </a:solidFill>
              </a:rPr>
              <a:t>TIGER DATA</a:t>
            </a:r>
          </a:p>
        </p:txBody>
      </p:sp>
      <p:sp>
        <p:nvSpPr>
          <p:cNvPr id="14" name="">
            <a:extLst xmlns:a="http://schemas.openxmlformats.org/drawingml/2006/main">
              <a:ext uri="{FF2B5EF4-FFF2-40B4-BE49-F238E27FC236}">
                <a16:creationId xmlns:a16="http://schemas.microsoft.com/office/drawing/2014/main" id="{AF1CA712-FEFA-4895-AF7B-74301C3B9043}"/>
              </a:ext>
            </a:extLst>
          </p:cNvPr>
          <p:cNvSpPr>
            <a:spLocks xmlns:a="http://schemas.openxmlformats.org/drawingml/2006/main" noGrp="1"/>
          </p:cNvSpPr>
          <p:nvPr/>
        </p:nvSpPr>
        <p:spPr>
          <a:xfrm xmlns:a="http://schemas.openxmlformats.org/drawingml/2006/main">
            <a:off x="5391150" y="3067050"/>
            <a:ext cx="14097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a:solidFill>
                  <a:srgbClr val="FFFFFF"/>
                </a:solidFill>
              </a:defRPr>
            </a:defPPr>
          </a:lstStyle>
          <a:p xmlns:a="http://schemas.openxmlformats.org/drawingml/2006/main">
            <a:pPr>
              <a:defRPr sz="1725" b="1">
                <a:solidFill>
                  <a:srgbClr val="FFFFFF"/>
                </a:solidFill>
              </a:defRPr>
            </a:pPr>
            <a:r>
              <a:rPr sz="1725" b="1">
                <a:solidFill>
                  <a:srgbClr val="FFFFFF"/>
                </a:solidFill>
              </a:rPr>
              <a:t>Time-series</a:t>
            </a:r>
          </a:p>
          <a:p xmlns:a="http://schemas.openxmlformats.org/drawingml/2006/main">
            <a:pPr>
              <a:defRPr sz="1725" b="1">
                <a:solidFill>
                  <a:srgbClr val="FFFFFF"/>
                </a:solidFill>
              </a:defRPr>
            </a:pPr>
            <a:r>
              <a:rPr sz="1725" b="1">
                <a:solidFill>
                  <a:srgbClr val="FFFFFF"/>
                </a:solidFill>
              </a:rPr>
              <a:t>history</a:t>
            </a:r>
          </a:p>
        </p:txBody>
      </p:sp>
      <p:sp>
        <p:nvSpPr>
          <p:cNvPr id="15" name="">
            <a:extLst xmlns:a="http://schemas.openxmlformats.org/drawingml/2006/main">
              <a:ext uri="{FF2B5EF4-FFF2-40B4-BE49-F238E27FC236}">
                <a16:creationId xmlns:a16="http://schemas.microsoft.com/office/drawing/2014/main" id="{0B31BA32-3FFF-4746-9C76-0101A42355DB}"/>
              </a:ext>
            </a:extLst>
          </p:cNvPr>
          <p:cNvSpPr>
            <a:spLocks xmlns:a="http://schemas.openxmlformats.org/drawingml/2006/main" noGrp="1"/>
          </p:cNvSpPr>
          <p:nvPr/>
        </p:nvSpPr>
        <p:spPr>
          <a:xfrm xmlns:a="http://schemas.openxmlformats.org/drawingml/2006/main">
            <a:off x="7067550" y="2895600"/>
            <a:ext cx="266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a:solidFill>
                  <a:srgbClr val="C8FF63"/>
                </a:solidFill>
              </a:defRPr>
            </a:defPPr>
          </a:lstStyle>
          <a:p xmlns:a="http://schemas.openxmlformats.org/drawingml/2006/main">
            <a:pPr>
              <a:defRPr sz="2550" b="1">
                <a:solidFill>
                  <a:srgbClr val="C8FF63"/>
                </a:solidFill>
              </a:defRPr>
            </a:pPr>
            <a:r>
              <a:rPr sz="2550" b="1">
                <a:solidFill>
                  <a:srgbClr val="C8FF63"/>
                </a:solidFill>
              </a:rPr>
              <a:t>›</a:t>
            </a:r>
          </a:p>
        </p:txBody>
      </p:sp>
      <p:sp>
        <p:nvSpPr>
          <p:cNvPr id="16" name="">
            <a:extLst xmlns:a="http://schemas.openxmlformats.org/drawingml/2006/main">
              <a:ext uri="{FF2B5EF4-FFF2-40B4-BE49-F238E27FC236}">
                <a16:creationId xmlns:a16="http://schemas.microsoft.com/office/drawing/2014/main" id="{E15D4735-EFCE-416F-A313-361D5393DB0D}"/>
              </a:ext>
            </a:extLst>
          </p:cNvPr>
          <p:cNvSpPr>
            <a:spLocks xmlns:a="http://schemas.openxmlformats.org/drawingml/2006/main" noGrp="1"/>
          </p:cNvSpPr>
          <p:nvPr/>
        </p:nvSpPr>
        <p:spPr>
          <a:xfrm xmlns:a="http://schemas.openxmlformats.org/drawingml/2006/main">
            <a:off x="7448550" y="2152650"/>
            <a:ext cx="1790700" cy="2286000"/>
          </a:xfrm>
          <a:prstGeom xmlns:a="http://schemas.openxmlformats.org/drawingml/2006/main" prst="roundRect">
            <a:avLst>
              <a:gd name="adj" fmla="val 13830"/>
            </a:avLst>
          </a:prstGeom>
          <a:solidFill xmlns:a="http://schemas.openxmlformats.org/drawingml/2006/main">
            <a:srgbClr val="0D4D4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5CB2606-5D26-4027-AF67-BB17A617491C}"/>
              </a:ext>
            </a:extLst>
          </p:cNvPr>
          <p:cNvSpPr>
            <a:spLocks xmlns:a="http://schemas.openxmlformats.org/drawingml/2006/main" noGrp="1"/>
          </p:cNvSpPr>
          <p:nvPr/>
        </p:nvSpPr>
        <p:spPr>
          <a:xfrm xmlns:a="http://schemas.openxmlformats.org/drawingml/2006/main">
            <a:off x="7639050" y="2419350"/>
            <a:ext cx="140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C8FF63"/>
                </a:solidFill>
              </a:defRPr>
            </a:defPPr>
          </a:lstStyle>
          <a:p xmlns:a="http://schemas.openxmlformats.org/drawingml/2006/main">
            <a:pPr>
              <a:defRPr sz="1050" b="1">
                <a:solidFill>
                  <a:srgbClr val="C8FF63"/>
                </a:solidFill>
              </a:defRPr>
            </a:pPr>
            <a:r>
              <a:rPr sz="1050" b="1">
                <a:solidFill>
                  <a:srgbClr val="C8FF63"/>
                </a:solidFill>
              </a:rPr>
              <a:t>GEMINI</a:t>
            </a:r>
          </a:p>
        </p:txBody>
      </p:sp>
      <p:sp>
        <p:nvSpPr>
          <p:cNvPr id="18" name="">
            <a:extLst xmlns:a="http://schemas.openxmlformats.org/drawingml/2006/main">
              <a:ext uri="{FF2B5EF4-FFF2-40B4-BE49-F238E27FC236}">
                <a16:creationId xmlns:a16="http://schemas.microsoft.com/office/drawing/2014/main" id="{7C5CC84C-3A60-4241-A05C-5DC6BEEFB592}"/>
              </a:ext>
            </a:extLst>
          </p:cNvPr>
          <p:cNvSpPr>
            <a:spLocks xmlns:a="http://schemas.openxmlformats.org/drawingml/2006/main" noGrp="1"/>
          </p:cNvSpPr>
          <p:nvPr/>
        </p:nvSpPr>
        <p:spPr>
          <a:xfrm xmlns:a="http://schemas.openxmlformats.org/drawingml/2006/main">
            <a:off x="7639050" y="3067050"/>
            <a:ext cx="14097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a:solidFill>
                  <a:srgbClr val="FFFFFF"/>
                </a:solidFill>
              </a:defRPr>
            </a:defPPr>
          </a:lstStyle>
          <a:p xmlns:a="http://schemas.openxmlformats.org/drawingml/2006/main">
            <a:pPr>
              <a:defRPr sz="1725" b="1">
                <a:solidFill>
                  <a:srgbClr val="FFFFFF"/>
                </a:solidFill>
              </a:defRPr>
            </a:pPr>
            <a:r>
              <a:rPr sz="1725" b="1">
                <a:solidFill>
                  <a:srgbClr val="FFFFFF"/>
                </a:solidFill>
              </a:rPr>
              <a:t>Approved facts</a:t>
            </a:r>
          </a:p>
          <a:p xmlns:a="http://schemas.openxmlformats.org/drawingml/2006/main">
            <a:pPr>
              <a:defRPr sz="1725" b="1">
                <a:solidFill>
                  <a:srgbClr val="FFFFFF"/>
                </a:solidFill>
              </a:defRPr>
            </a:pPr>
            <a:r>
              <a:rPr sz="1725" b="1">
                <a:solidFill>
                  <a:srgbClr val="FFFFFF"/>
                </a:solidFill>
              </a:rPr>
              <a:t>in plain language</a:t>
            </a:r>
          </a:p>
        </p:txBody>
      </p:sp>
      <p:sp>
        <p:nvSpPr>
          <p:cNvPr id="19" name="">
            <a:extLst xmlns:a="http://schemas.openxmlformats.org/drawingml/2006/main">
              <a:ext uri="{FF2B5EF4-FFF2-40B4-BE49-F238E27FC236}">
                <a16:creationId xmlns:a16="http://schemas.microsoft.com/office/drawing/2014/main" id="{FB34FC68-98E4-4EDE-9C98-30E912B420C6}"/>
              </a:ext>
            </a:extLst>
          </p:cNvPr>
          <p:cNvSpPr>
            <a:spLocks xmlns:a="http://schemas.openxmlformats.org/drawingml/2006/main" noGrp="1"/>
          </p:cNvSpPr>
          <p:nvPr/>
        </p:nvSpPr>
        <p:spPr>
          <a:xfrm xmlns:a="http://schemas.openxmlformats.org/drawingml/2006/main">
            <a:off x="9315450" y="2895600"/>
            <a:ext cx="266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2550" b="1">
                <a:solidFill>
                  <a:srgbClr val="C8FF63"/>
                </a:solidFill>
              </a:defRPr>
            </a:defPPr>
          </a:lstStyle>
          <a:p xmlns:a="http://schemas.openxmlformats.org/drawingml/2006/main">
            <a:pPr>
              <a:defRPr sz="2550" b="1">
                <a:solidFill>
                  <a:srgbClr val="C8FF63"/>
                </a:solidFill>
              </a:defRPr>
            </a:pPr>
            <a:r>
              <a:rPr sz="2550" b="1">
                <a:solidFill>
                  <a:srgbClr val="C8FF63"/>
                </a:solidFill>
              </a:rPr>
              <a:t>›</a:t>
            </a:r>
          </a:p>
        </p:txBody>
      </p:sp>
      <p:sp>
        <p:nvSpPr>
          <p:cNvPr id="20" name="">
            <a:extLst xmlns:a="http://schemas.openxmlformats.org/drawingml/2006/main">
              <a:ext uri="{FF2B5EF4-FFF2-40B4-BE49-F238E27FC236}">
                <a16:creationId xmlns:a16="http://schemas.microsoft.com/office/drawing/2014/main" id="{C510DBF7-0FE1-4847-9031-CE6242452A01}"/>
              </a:ext>
            </a:extLst>
          </p:cNvPr>
          <p:cNvSpPr>
            <a:spLocks xmlns:a="http://schemas.openxmlformats.org/drawingml/2006/main" noGrp="1"/>
          </p:cNvSpPr>
          <p:nvPr/>
        </p:nvSpPr>
        <p:spPr>
          <a:xfrm xmlns:a="http://schemas.openxmlformats.org/drawingml/2006/main">
            <a:off x="9696450" y="2152650"/>
            <a:ext cx="1790700" cy="2286000"/>
          </a:xfrm>
          <a:prstGeom xmlns:a="http://schemas.openxmlformats.org/drawingml/2006/main" prst="roundRect">
            <a:avLst>
              <a:gd name="adj" fmla="val 13830"/>
            </a:avLst>
          </a:prstGeom>
          <a:solidFill xmlns:a="http://schemas.openxmlformats.org/drawingml/2006/main">
            <a:srgbClr val="C8FF63"/>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7555385-FE01-446B-A45C-BD7D6164C99C}"/>
              </a:ext>
            </a:extLst>
          </p:cNvPr>
          <p:cNvSpPr>
            <a:spLocks xmlns:a="http://schemas.openxmlformats.org/drawingml/2006/main" noGrp="1"/>
          </p:cNvSpPr>
          <p:nvPr/>
        </p:nvSpPr>
        <p:spPr>
          <a:xfrm xmlns:a="http://schemas.openxmlformats.org/drawingml/2006/main">
            <a:off x="9886950" y="2419350"/>
            <a:ext cx="140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082B26"/>
                </a:solidFill>
              </a:defRPr>
            </a:defPPr>
          </a:lstStyle>
          <a:p xmlns:a="http://schemas.openxmlformats.org/drawingml/2006/main">
            <a:pPr>
              <a:defRPr sz="1050" b="1">
                <a:solidFill>
                  <a:srgbClr val="082B26"/>
                </a:solidFill>
              </a:defRPr>
            </a:pPr>
            <a:r>
              <a:rPr sz="1050" b="1">
                <a:solidFill>
                  <a:srgbClr val="082B26"/>
                </a:solidFill>
              </a:rPr>
              <a:t>HUMAN</a:t>
            </a:r>
          </a:p>
        </p:txBody>
      </p:sp>
      <p:sp>
        <p:nvSpPr>
          <p:cNvPr id="22" name="">
            <a:extLst xmlns:a="http://schemas.openxmlformats.org/drawingml/2006/main">
              <a:ext uri="{FF2B5EF4-FFF2-40B4-BE49-F238E27FC236}">
                <a16:creationId xmlns:a16="http://schemas.microsoft.com/office/drawing/2014/main" id="{934DC786-027D-4448-930B-41D793AFD6CC}"/>
              </a:ext>
            </a:extLst>
          </p:cNvPr>
          <p:cNvSpPr>
            <a:spLocks xmlns:a="http://schemas.openxmlformats.org/drawingml/2006/main" noGrp="1"/>
          </p:cNvSpPr>
          <p:nvPr/>
        </p:nvSpPr>
        <p:spPr>
          <a:xfrm xmlns:a="http://schemas.openxmlformats.org/drawingml/2006/main">
            <a:off x="9886950" y="3067050"/>
            <a:ext cx="14097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725" b="1">
                <a:solidFill>
                  <a:srgbClr val="082B26"/>
                </a:solidFill>
              </a:defRPr>
            </a:defPPr>
          </a:lstStyle>
          <a:p xmlns:a="http://schemas.openxmlformats.org/drawingml/2006/main">
            <a:pPr>
              <a:defRPr sz="1725" b="1">
                <a:solidFill>
                  <a:srgbClr val="082B26"/>
                </a:solidFill>
              </a:defRPr>
            </a:pPr>
            <a:r>
              <a:rPr sz="1725" b="1">
                <a:solidFill>
                  <a:srgbClr val="082B26"/>
                </a:solidFill>
              </a:rPr>
              <a:t>Review and</a:t>
            </a:r>
          </a:p>
          <a:p xmlns:a="http://schemas.openxmlformats.org/drawingml/2006/main">
            <a:pPr>
              <a:defRPr sz="1725" b="1">
                <a:solidFill>
                  <a:srgbClr val="082B26"/>
                </a:solidFill>
              </a:defRPr>
            </a:pPr>
            <a:r>
              <a:rPr sz="1725" b="1">
                <a:solidFill>
                  <a:srgbClr val="082B26"/>
                </a:solidFill>
              </a:rPr>
              <a:t>response</a:t>
            </a:r>
          </a:p>
        </p:txBody>
      </p:sp>
      <p:sp>
        <p:nvSpPr>
          <p:cNvPr id="23" name="">
            <a:extLst xmlns:a="http://schemas.openxmlformats.org/drawingml/2006/main">
              <a:ext uri="{FF2B5EF4-FFF2-40B4-BE49-F238E27FC236}">
                <a16:creationId xmlns:a16="http://schemas.microsoft.com/office/drawing/2014/main" id="{92073E59-6FC7-466C-AA96-BBBF58691D86}"/>
              </a:ext>
            </a:extLst>
          </p:cNvPr>
          <p:cNvSpPr>
            <a:spLocks xmlns:a="http://schemas.openxmlformats.org/drawingml/2006/main" noGrp="1"/>
          </p:cNvSpPr>
          <p:nvPr/>
        </p:nvSpPr>
        <p:spPr>
          <a:xfrm xmlns:a="http://schemas.openxmlformats.org/drawingml/2006/main">
            <a:off x="704850" y="5181600"/>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575" b="0">
                <a:solidFill>
                  <a:srgbClr val="DCE9E3"/>
                </a:solidFill>
              </a:defRPr>
            </a:defPPr>
          </a:lstStyle>
          <a:p xmlns:a="http://schemas.openxmlformats.org/drawingml/2006/main">
            <a:pPr>
              <a:defRPr sz="1575" b="0">
                <a:solidFill>
                  <a:srgbClr val="DCE9E3"/>
                </a:solidFill>
              </a:defRPr>
            </a:pPr>
            <a:r>
              <a:rPr sz="1575" b="0">
                <a:solidFill>
                  <a:srgbClr val="DCE9E3"/>
                </a:solidFill>
              </a:rPr>
              <a:t>Frames are processed transiently. SiteGuard stores observations, not footage.</a:t>
            </a:r>
          </a:p>
        </p:txBody>
      </p:sp>
      <p:sp>
        <p:nvSpPr>
          <p:cNvPr id="24" name="">
            <a:extLst xmlns:a="http://schemas.openxmlformats.org/drawingml/2006/main">
              <a:ext uri="{FF2B5EF4-FFF2-40B4-BE49-F238E27FC236}">
                <a16:creationId xmlns:a16="http://schemas.microsoft.com/office/drawing/2014/main" id="{DE1E7F08-0C37-45BE-856B-AB601F21FE56}"/>
              </a:ext>
            </a:extLst>
          </p:cNvPr>
          <p:cNvSpPr>
            <a:spLocks xmlns:a="http://schemas.openxmlformats.org/drawingml/2006/main" noGrp="1"/>
          </p:cNvSpPr>
          <p:nvPr/>
        </p:nvSpPr>
        <p:spPr>
          <a:xfrm xmlns:a="http://schemas.openxmlformats.org/drawingml/2006/main">
            <a:off x="704850" y="5753100"/>
            <a:ext cx="781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275" b="1">
                <a:solidFill>
                  <a:srgbClr val="FFD278"/>
                </a:solidFill>
              </a:defRPr>
            </a:defPPr>
          </a:lstStyle>
          <a:p xmlns:a="http://schemas.openxmlformats.org/drawingml/2006/main">
            <a:pPr>
              <a:defRPr sz="1275" b="1">
                <a:solidFill>
                  <a:srgbClr val="FFD278"/>
                </a:solidFill>
              </a:defRPr>
            </a:pPr>
            <a:r>
              <a:rPr sz="1275" b="1">
                <a:solidFill>
                  <a:srgbClr val="FFD278"/>
                </a:solidFill>
              </a:rPr>
              <a:t>No automatic medical or work-clearance decision.</a:t>
            </a:r>
          </a:p>
        </p:txBody>
      </p:sp>
    </p:spTree>
    <p:extLst>
      <p:ext uri="{BB962C8B-B14F-4D97-AF65-F5344CB8AC3E}">
        <p14:creationId xmlns:p14="http://schemas.microsoft.com/office/powerpoint/2010/main" val="18443138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AE39C0F-084A-48FD-9513-359ED03B5F2E}"/>
              </a:ext>
            </a:extLst>
          </p:cNvPr>
          <p:cNvSpPr>
            <a:spLocks xmlns:a="http://schemas.openxmlformats.org/drawingml/2006/main" noGrp="1"/>
          </p:cNvSpPr>
          <p:nvPr/>
        </p:nvSpPr>
        <p:spPr>
          <a:xfrm xmlns:a="http://schemas.openxmlformats.org/drawingml/2006/main">
            <a:off x="11410950" y="285750"/>
            <a:ext cx="342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825" b="1">
                <a:solidFill>
                  <a:srgbClr val="61756C"/>
                </a:solidFill>
              </a:defRPr>
            </a:defPPr>
          </a:lstStyle>
          <a:p xmlns:a="http://schemas.openxmlformats.org/drawingml/2006/main">
            <a:pPr>
              <a:defRPr sz="825" b="1">
                <a:solidFill>
                  <a:srgbClr val="61756C"/>
                </a:solidFill>
              </a:defRPr>
            </a:pPr>
            <a:r>
              <a:rPr sz="825" b="1">
                <a:solidFill>
                  <a:srgbClr val="61756C"/>
                </a:solidFill>
              </a:rPr>
              <a:t>08</a:t>
            </a:r>
          </a:p>
        </p:txBody>
      </p:sp>
      <p:sp>
        <p:nvSpPr>
          <p:cNvPr id="2" name="">
            <a:extLst xmlns:a="http://schemas.openxmlformats.org/drawingml/2006/main">
              <a:ext uri="{FF2B5EF4-FFF2-40B4-BE49-F238E27FC236}">
                <a16:creationId xmlns:a16="http://schemas.microsoft.com/office/drawing/2014/main" id="{740B8E93-355C-4717-9B8A-0106A2D3BCF1}"/>
              </a:ext>
            </a:extLst>
          </p:cNvPr>
          <p:cNvSpPr>
            <a:spLocks xmlns:a="http://schemas.openxmlformats.org/drawingml/2006/main" noGrp="1"/>
          </p:cNvSpPr>
          <p:nvPr/>
        </p:nvSpPr>
        <p:spPr>
          <a:xfrm xmlns:a="http://schemas.openxmlformats.org/drawingml/2006/main">
            <a:off x="609600" y="457200"/>
            <a:ext cx="723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150" b="1">
                <a:solidFill>
                  <a:srgbClr val="082B26"/>
                </a:solidFill>
              </a:defRPr>
            </a:defPPr>
          </a:lstStyle>
          <a:p xmlns:a="http://schemas.openxmlformats.org/drawingml/2006/main">
            <a:pPr>
              <a:defRPr sz="3150" b="1">
                <a:solidFill>
                  <a:srgbClr val="082B26"/>
                </a:solidFill>
              </a:defRPr>
            </a:pPr>
            <a:r>
              <a:rPr sz="3150" b="1">
                <a:solidFill>
                  <a:srgbClr val="082B26"/>
                </a:solidFill>
              </a:rPr>
              <a:t>What we proved</a:t>
            </a:r>
          </a:p>
        </p:txBody>
      </p:sp>
      <p:sp>
        <p:nvSpPr>
          <p:cNvPr id="3" name="">
            <a:extLst xmlns:a="http://schemas.openxmlformats.org/drawingml/2006/main">
              <a:ext uri="{FF2B5EF4-FFF2-40B4-BE49-F238E27FC236}">
                <a16:creationId xmlns:a16="http://schemas.microsoft.com/office/drawing/2014/main" id="{DA5A586B-402E-43EE-AE8D-04BBE36A6445}"/>
              </a:ext>
            </a:extLst>
          </p:cNvPr>
          <p:cNvSpPr>
            <a:spLocks xmlns:a="http://schemas.openxmlformats.org/drawingml/2006/main" noGrp="1"/>
          </p:cNvSpPr>
          <p:nvPr/>
        </p:nvSpPr>
        <p:spPr>
          <a:xfrm xmlns:a="http://schemas.openxmlformats.org/drawingml/2006/main">
            <a:off x="685800" y="1790700"/>
            <a:ext cx="2190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375" b="1">
                <a:solidFill>
                  <a:srgbClr val="082B26"/>
                </a:solidFill>
              </a:defRPr>
            </a:defPPr>
          </a:lstStyle>
          <a:p xmlns:a="http://schemas.openxmlformats.org/drawingml/2006/main">
            <a:pPr>
              <a:defRPr sz="3375" b="1">
                <a:solidFill>
                  <a:srgbClr val="082B26"/>
                </a:solidFill>
              </a:defRPr>
            </a:pPr>
            <a:r>
              <a:rPr sz="3375" b="1">
                <a:solidFill>
                  <a:srgbClr val="082B26"/>
                </a:solidFill>
              </a:rPr>
              <a:t>11 / 11</a:t>
            </a:r>
          </a:p>
        </p:txBody>
      </p:sp>
      <p:sp>
        <p:nvSpPr>
          <p:cNvPr id="4" name="">
            <a:extLst xmlns:a="http://schemas.openxmlformats.org/drawingml/2006/main">
              <a:ext uri="{FF2B5EF4-FFF2-40B4-BE49-F238E27FC236}">
                <a16:creationId xmlns:a16="http://schemas.microsoft.com/office/drawing/2014/main" id="{EED211BD-0667-471D-9347-43DF3066FE76}"/>
              </a:ext>
            </a:extLst>
          </p:cNvPr>
          <p:cNvSpPr>
            <a:spLocks xmlns:a="http://schemas.openxmlformats.org/drawingml/2006/main" noGrp="1"/>
          </p:cNvSpPr>
          <p:nvPr/>
        </p:nvSpPr>
        <p:spPr>
          <a:xfrm xmlns:a="http://schemas.openxmlformats.org/drawingml/2006/main">
            <a:off x="3067050" y="1905000"/>
            <a:ext cx="619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a:solidFill>
                  <a:srgbClr val="082B26"/>
                </a:solidFill>
              </a:defRPr>
            </a:defPPr>
          </a:lstStyle>
          <a:p xmlns:a="http://schemas.openxmlformats.org/drawingml/2006/main">
            <a:pPr>
              <a:defRPr sz="1875" b="1">
                <a:solidFill>
                  <a:srgbClr val="082B26"/>
                </a:solidFill>
              </a:defRPr>
            </a:pPr>
            <a:r>
              <a:rPr sz="1875" b="1">
                <a:solidFill>
                  <a:srgbClr val="082B26"/>
                </a:solidFill>
              </a:rPr>
              <a:t>Core rehearsal steps passed</a:t>
            </a:r>
          </a:p>
        </p:txBody>
      </p:sp>
      <p:sp>
        <p:nvSpPr>
          <p:cNvPr id="5" name="">
            <a:extLst xmlns:a="http://schemas.openxmlformats.org/drawingml/2006/main">
              <a:ext uri="{FF2B5EF4-FFF2-40B4-BE49-F238E27FC236}">
                <a16:creationId xmlns:a16="http://schemas.microsoft.com/office/drawing/2014/main" id="{71BAF953-A716-4BC2-8317-67F87676EFC0}"/>
              </a:ext>
            </a:extLst>
          </p:cNvPr>
          <p:cNvSpPr>
            <a:spLocks xmlns:a="http://schemas.openxmlformats.org/drawingml/2006/main" noGrp="1"/>
          </p:cNvSpPr>
          <p:nvPr/>
        </p:nvSpPr>
        <p:spPr>
          <a:xfrm xmlns:a="http://schemas.openxmlformats.org/drawingml/2006/main">
            <a:off x="685800" y="2686050"/>
            <a:ext cx="10001250" cy="19050"/>
          </a:xfrm>
          <a:prstGeom xmlns:a="http://schemas.openxmlformats.org/drawingml/2006/main" prst="rect">
            <a:avLst/>
          </a:prstGeom>
          <a:solidFill xmlns:a="http://schemas.openxmlformats.org/drawingml/2006/main">
            <a:srgbClr val="DCE9E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401488-9F6E-4298-AC8C-E07129EC4456}"/>
              </a:ext>
            </a:extLst>
          </p:cNvPr>
          <p:cNvSpPr>
            <a:spLocks xmlns:a="http://schemas.openxmlformats.org/drawingml/2006/main" noGrp="1"/>
          </p:cNvSpPr>
          <p:nvPr/>
        </p:nvSpPr>
        <p:spPr>
          <a:xfrm xmlns:a="http://schemas.openxmlformats.org/drawingml/2006/main">
            <a:off x="685800" y="3048000"/>
            <a:ext cx="2190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375" b="1">
                <a:solidFill>
                  <a:srgbClr val="0D4D40"/>
                </a:solidFill>
              </a:defRPr>
            </a:defPPr>
          </a:lstStyle>
          <a:p xmlns:a="http://schemas.openxmlformats.org/drawingml/2006/main">
            <a:pPr>
              <a:defRPr sz="3375" b="1">
                <a:solidFill>
                  <a:srgbClr val="0D4D40"/>
                </a:solidFill>
              </a:defRPr>
            </a:pPr>
            <a:r>
              <a:rPr sz="3375" b="1">
                <a:solidFill>
                  <a:srgbClr val="0D4D40"/>
                </a:solidFill>
              </a:rPr>
              <a:t>PASS</a:t>
            </a:r>
          </a:p>
        </p:txBody>
      </p:sp>
      <p:sp>
        <p:nvSpPr>
          <p:cNvPr id="7" name="">
            <a:extLst xmlns:a="http://schemas.openxmlformats.org/drawingml/2006/main">
              <a:ext uri="{FF2B5EF4-FFF2-40B4-BE49-F238E27FC236}">
                <a16:creationId xmlns:a16="http://schemas.microsoft.com/office/drawing/2014/main" id="{A54E4090-E21E-418A-B1C7-A01FD73FF3E8}"/>
              </a:ext>
            </a:extLst>
          </p:cNvPr>
          <p:cNvSpPr>
            <a:spLocks xmlns:a="http://schemas.openxmlformats.org/drawingml/2006/main" noGrp="1"/>
          </p:cNvSpPr>
          <p:nvPr/>
        </p:nvSpPr>
        <p:spPr>
          <a:xfrm xmlns:a="http://schemas.openxmlformats.org/drawingml/2006/main">
            <a:off x="3067050" y="3162300"/>
            <a:ext cx="619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a:solidFill>
                  <a:srgbClr val="082B26"/>
                </a:solidFill>
              </a:defRPr>
            </a:defPPr>
          </a:lstStyle>
          <a:p xmlns:a="http://schemas.openxmlformats.org/drawingml/2006/main">
            <a:pPr>
              <a:defRPr sz="1875" b="1">
                <a:solidFill>
                  <a:srgbClr val="082B26"/>
                </a:solidFill>
              </a:defRPr>
            </a:pPr>
            <a:r>
              <a:rPr sz="1875" b="1">
                <a:solidFill>
                  <a:srgbClr val="082B26"/>
                </a:solidFill>
              </a:rPr>
              <a:t>Tiger Cloud verification</a:t>
            </a:r>
          </a:p>
        </p:txBody>
      </p:sp>
      <p:sp>
        <p:nvSpPr>
          <p:cNvPr id="8" name="">
            <a:extLst xmlns:a="http://schemas.openxmlformats.org/drawingml/2006/main">
              <a:ext uri="{FF2B5EF4-FFF2-40B4-BE49-F238E27FC236}">
                <a16:creationId xmlns:a16="http://schemas.microsoft.com/office/drawing/2014/main" id="{2EBCD426-F25E-4472-BC64-8C948CECE9C1}"/>
              </a:ext>
            </a:extLst>
          </p:cNvPr>
          <p:cNvSpPr>
            <a:spLocks xmlns:a="http://schemas.openxmlformats.org/drawingml/2006/main" noGrp="1"/>
          </p:cNvSpPr>
          <p:nvPr/>
        </p:nvSpPr>
        <p:spPr>
          <a:xfrm xmlns:a="http://schemas.openxmlformats.org/drawingml/2006/main">
            <a:off x="685800" y="3943350"/>
            <a:ext cx="10001250" cy="19050"/>
          </a:xfrm>
          <a:prstGeom xmlns:a="http://schemas.openxmlformats.org/drawingml/2006/main" prst="rect">
            <a:avLst/>
          </a:prstGeom>
          <a:solidFill xmlns:a="http://schemas.openxmlformats.org/drawingml/2006/main">
            <a:srgbClr val="DCE9E3"/>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2B44AAF-4145-4998-984D-E1D9DC2CEA70}"/>
              </a:ext>
            </a:extLst>
          </p:cNvPr>
          <p:cNvSpPr>
            <a:spLocks xmlns:a="http://schemas.openxmlformats.org/drawingml/2006/main" noGrp="1"/>
          </p:cNvSpPr>
          <p:nvPr/>
        </p:nvSpPr>
        <p:spPr>
          <a:xfrm xmlns:a="http://schemas.openxmlformats.org/drawingml/2006/main">
            <a:off x="685800" y="4305300"/>
            <a:ext cx="2190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3375" b="1">
                <a:solidFill>
                  <a:srgbClr val="082B26"/>
                </a:solidFill>
              </a:defRPr>
            </a:defPPr>
          </a:lstStyle>
          <a:p xmlns:a="http://schemas.openxmlformats.org/drawingml/2006/main">
            <a:pPr>
              <a:defRPr sz="3375" b="1">
                <a:solidFill>
                  <a:srgbClr val="082B26"/>
                </a:solidFill>
              </a:defRPr>
            </a:pPr>
            <a:r>
              <a:rPr sz="3375" b="1">
                <a:solidFill>
                  <a:srgbClr val="082B26"/>
                </a:solidFill>
              </a:rPr>
              <a:t>36</a:t>
            </a:r>
          </a:p>
        </p:txBody>
      </p:sp>
      <p:sp>
        <p:nvSpPr>
          <p:cNvPr id="10" name="">
            <a:extLst xmlns:a="http://schemas.openxmlformats.org/drawingml/2006/main">
              <a:ext uri="{FF2B5EF4-FFF2-40B4-BE49-F238E27FC236}">
                <a16:creationId xmlns:a16="http://schemas.microsoft.com/office/drawing/2014/main" id="{C4039958-5373-42BB-A66D-C84B08F1F818}"/>
              </a:ext>
            </a:extLst>
          </p:cNvPr>
          <p:cNvSpPr>
            <a:spLocks xmlns:a="http://schemas.openxmlformats.org/drawingml/2006/main" noGrp="1"/>
          </p:cNvSpPr>
          <p:nvPr/>
        </p:nvSpPr>
        <p:spPr>
          <a:xfrm xmlns:a="http://schemas.openxmlformats.org/drawingml/2006/main">
            <a:off x="3067050" y="4419600"/>
            <a:ext cx="619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a:solidFill>
                  <a:srgbClr val="082B26"/>
                </a:solidFill>
              </a:defRPr>
            </a:defPPr>
          </a:lstStyle>
          <a:p xmlns:a="http://schemas.openxmlformats.org/drawingml/2006/main">
            <a:pPr>
              <a:defRPr sz="1875" b="1">
                <a:solidFill>
                  <a:srgbClr val="082B26"/>
                </a:solidFill>
              </a:defRPr>
            </a:pPr>
            <a:r>
              <a:rPr sz="1875" b="1">
                <a:solidFill>
                  <a:srgbClr val="082B26"/>
                </a:solidFill>
              </a:rPr>
              <a:t>Fall prototype tests passed</a:t>
            </a:r>
          </a:p>
        </p:txBody>
      </p:sp>
      <p:sp>
        <p:nvSpPr>
          <p:cNvPr id="11" name="">
            <a:extLst xmlns:a="http://schemas.openxmlformats.org/drawingml/2006/main">
              <a:ext uri="{FF2B5EF4-FFF2-40B4-BE49-F238E27FC236}">
                <a16:creationId xmlns:a16="http://schemas.microsoft.com/office/drawing/2014/main" id="{03B86AE5-F460-4AE9-88BA-45FA1DF10BDD}"/>
              </a:ext>
            </a:extLst>
          </p:cNvPr>
          <p:cNvSpPr>
            <a:spLocks xmlns:a="http://schemas.openxmlformats.org/drawingml/2006/main" noGrp="1"/>
          </p:cNvSpPr>
          <p:nvPr/>
        </p:nvSpPr>
        <p:spPr>
          <a:xfrm xmlns:a="http://schemas.openxmlformats.org/drawingml/2006/main">
            <a:off x="685800" y="5200650"/>
            <a:ext cx="10001250" cy="19050"/>
          </a:xfrm>
          <a:prstGeom xmlns:a="http://schemas.openxmlformats.org/drawingml/2006/main" prst="rect">
            <a:avLst/>
          </a:prstGeom>
          <a:solidFill xmlns:a="http://schemas.openxmlformats.org/drawingml/2006/main">
            <a:srgbClr val="DCE9E3"/>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2BA0D17-6959-40D4-B915-7BEDF88577CF}"/>
              </a:ext>
            </a:extLst>
          </p:cNvPr>
          <p:cNvSpPr>
            <a:spLocks xmlns:a="http://schemas.openxmlformats.org/drawingml/2006/main" noGrp="1"/>
          </p:cNvSpPr>
          <p:nvPr/>
        </p:nvSpPr>
        <p:spPr>
          <a:xfrm xmlns:a="http://schemas.openxmlformats.org/drawingml/2006/main">
            <a:off x="9144000" y="1524000"/>
            <a:ext cx="2381250" cy="3848100"/>
          </a:xfrm>
          <a:prstGeom xmlns:a="http://schemas.openxmlformats.org/drawingml/2006/main" prst="roundRect">
            <a:avLst>
              <a:gd name="adj" fmla="val 11200"/>
            </a:avLst>
          </a:prstGeom>
          <a:solidFill xmlns:a="http://schemas.openxmlformats.org/drawingml/2006/main">
            <a:srgbClr val="082B2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EA885A6-A047-45D3-8FEE-5AF79FF5DE7A}"/>
              </a:ext>
            </a:extLst>
          </p:cNvPr>
          <p:cNvSpPr>
            <a:spLocks xmlns:a="http://schemas.openxmlformats.org/drawingml/2006/main" noGrp="1"/>
          </p:cNvSpPr>
          <p:nvPr/>
        </p:nvSpPr>
        <p:spPr>
          <a:xfrm xmlns:a="http://schemas.openxmlformats.org/drawingml/2006/main">
            <a:off x="9505950" y="19240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C8FF63"/>
                </a:solidFill>
              </a:defRPr>
            </a:defPPr>
          </a:lstStyle>
          <a:p xmlns:a="http://schemas.openxmlformats.org/drawingml/2006/main">
            <a:pPr>
              <a:defRPr sz="1050" b="1">
                <a:solidFill>
                  <a:srgbClr val="C8FF63"/>
                </a:solidFill>
              </a:defRPr>
            </a:pPr>
            <a:r>
              <a:rPr sz="1050" b="1">
                <a:solidFill>
                  <a:srgbClr val="C8FF63"/>
                </a:solidFill>
              </a:rPr>
              <a:t>NEXT</a:t>
            </a:r>
          </a:p>
        </p:txBody>
      </p:sp>
      <p:sp>
        <p:nvSpPr>
          <p:cNvPr id="14" name="">
            <a:extLst xmlns:a="http://schemas.openxmlformats.org/drawingml/2006/main">
              <a:ext uri="{FF2B5EF4-FFF2-40B4-BE49-F238E27FC236}">
                <a16:creationId xmlns:a16="http://schemas.microsoft.com/office/drawing/2014/main" id="{E593A6D2-A3D8-4D7F-86A5-7A0BA51BE3C0}"/>
              </a:ext>
            </a:extLst>
          </p:cNvPr>
          <p:cNvSpPr>
            <a:spLocks xmlns:a="http://schemas.openxmlformats.org/drawingml/2006/main" noGrp="1"/>
          </p:cNvSpPr>
          <p:nvPr/>
        </p:nvSpPr>
        <p:spPr>
          <a:xfrm xmlns:a="http://schemas.openxmlformats.org/drawingml/2006/main">
            <a:off x="9448800" y="2628900"/>
            <a:ext cx="17716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75" b="1">
                <a:solidFill>
                  <a:srgbClr val="FFFFFF"/>
                </a:solidFill>
              </a:defRPr>
            </a:defPPr>
          </a:lstStyle>
          <a:p xmlns:a="http://schemas.openxmlformats.org/drawingml/2006/main">
            <a:pPr>
              <a:defRPr sz="1875" b="1">
                <a:solidFill>
                  <a:srgbClr val="FFFFFF"/>
                </a:solidFill>
              </a:defRPr>
            </a:pPr>
            <a:r>
              <a:rPr sz="1875" b="1">
                <a:solidFill>
                  <a:srgbClr val="FFFFFF"/>
                </a:solidFill>
              </a:rPr>
              <a:t>Reliable mobile capture</a:t>
            </a:r>
          </a:p>
          <a:p xmlns:a="http://schemas.openxmlformats.org/drawingml/2006/main">
            <a:r>
              <a:t/>
            </a:r>
          </a:p>
          <a:p xmlns:a="http://schemas.openxmlformats.org/drawingml/2006/main">
            <a:pPr>
              <a:defRPr sz="1875" b="1">
                <a:solidFill>
                  <a:srgbClr val="FFFFFF"/>
                </a:solidFill>
              </a:defRPr>
            </a:pPr>
            <a:r>
              <a:rPr sz="1875" b="1">
                <a:solidFill>
                  <a:srgbClr val="FFFFFF"/>
                </a:solidFill>
              </a:rPr>
              <a:t>Labeled-data evaluation</a:t>
            </a:r>
          </a:p>
          <a:p xmlns:a="http://schemas.openxmlformats.org/drawingml/2006/main">
            <a:r>
              <a:t/>
            </a:r>
          </a:p>
          <a:p xmlns:a="http://schemas.openxmlformats.org/drawingml/2006/main">
            <a:pPr>
              <a:defRPr sz="1875" b="1">
                <a:solidFill>
                  <a:srgbClr val="FFFFFF"/>
                </a:solidFill>
              </a:defRPr>
            </a:pPr>
            <a:r>
              <a:rPr sz="1875" b="1">
                <a:solidFill>
                  <a:srgbClr val="FFFFFF"/>
                </a:solidFill>
              </a:rPr>
              <a:t>On-site pilot</a:t>
            </a:r>
          </a:p>
        </p:txBody>
      </p:sp>
    </p:spTree>
    <p:extLst>
      <p:ext uri="{BB962C8B-B14F-4D97-AF65-F5344CB8AC3E}">
        <p14:creationId xmlns:p14="http://schemas.microsoft.com/office/powerpoint/2010/main" val="531954408"/>
      </p:ext>
    </p:extLst>
  </p:cSld>
</p:sld>
</file>

<file path=ppt/slides/slide9.xml><?xml version="1.0" encoding="utf-8"?>
<p:sld xmlns:p="http://schemas.openxmlformats.org/presentationml/2006/main">
  <p:cSld>
    <p:bg>
      <p:bgPr>
        <a:solidFill xmlns:a="http://schemas.openxmlformats.org/drawingml/2006/main">
          <a:srgbClr val="082B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99421D-571A-49A3-A691-B531F71B1C81}"/>
              </a:ext>
            </a:extLst>
          </p:cNvPr>
          <p:cNvSpPr>
            <a:spLocks xmlns:a="http://schemas.openxmlformats.org/drawingml/2006/main" noGrp="1"/>
          </p:cNvSpPr>
          <p:nvPr/>
        </p:nvSpPr>
        <p:spPr>
          <a:xfrm xmlns:a="http://schemas.openxmlformats.org/drawingml/2006/main">
            <a:off x="4743450" y="495300"/>
            <a:ext cx="2705100" cy="1009650"/>
          </a:xfrm>
          <a:prstGeom xmlns:a="http://schemas.openxmlformats.org/drawingml/2006/main" prst="roundRect">
            <a:avLst>
              <a:gd name="adj" fmla="val 20755"/>
            </a:avLst>
          </a:prstGeom>
          <a:solidFill xmlns:a="http://schemas.openxmlformats.org/drawingml/2006/main">
            <a:srgbClr val="F5F7F2"/>
          </a:solidFill>
          <a:ln xmlns:a="http://schemas.openxmlformats.org/drawingml/2006/main" w="0">
            <a:noFill/>
            <a:prstDash val="solid"/>
          </a:ln>
        </p:spPr>
      </p:sp>
      <p:pic>
        <p:nvPicPr>
          <p:cNvPr id="2" name="">
            <a:extLst xmlns:a="http://schemas.openxmlformats.org/drawingml/2006/main">
              <a:ext uri="{FF2B5EF4-FFF2-40B4-BE49-F238E27FC236}">
                <a16:creationId xmlns:a16="http://schemas.microsoft.com/office/drawing/2014/main" id="{AE1FB6FF-8021-4144-AEC0-DF174C83FE73}"/>
              </a:ext>
            </a:extLst>
          </p:cNvPr>
          <p:cNvPicPr>
            <a:picLocks xmlns:a="http://schemas.openxmlformats.org/drawingml/2006/main" noChangeAspect="1"/>
          </p:cNvPicPr>
          <p:nvPr/>
        </p:nvPicPr>
        <p:blipFill>
          <a:blip xmlns:r="http://schemas.openxmlformats.org/officeDocument/2006/relationships" xmlns:a="http://schemas.openxmlformats.org/drawingml/2006/main" r:embed="Re16eab715d8644ed"/>
          <a:stretch xmlns:a="http://schemas.openxmlformats.org/drawingml/2006/main"/>
        </p:blipFill>
        <p:spPr>
          <a:xfrm xmlns:a="http://schemas.openxmlformats.org/drawingml/2006/main">
            <a:off x="5038725" y="647700"/>
            <a:ext cx="2114550" cy="7048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9A74A56-2A08-4E25-9E86-4BE7757C9865}"/>
              </a:ext>
            </a:extLst>
          </p:cNvPr>
          <p:cNvSpPr>
            <a:spLocks xmlns:a="http://schemas.openxmlformats.org/drawingml/2006/main" noGrp="1"/>
          </p:cNvSpPr>
          <p:nvPr/>
        </p:nvSpPr>
        <p:spPr>
          <a:xfrm xmlns:a="http://schemas.openxmlformats.org/drawingml/2006/main">
            <a:off x="1600200" y="2095500"/>
            <a:ext cx="89916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4650" b="1">
                <a:solidFill>
                  <a:srgbClr val="FFFFFF"/>
                </a:solidFill>
              </a:defRPr>
            </a:defPPr>
          </a:lstStyle>
          <a:p xmlns:a="http://schemas.openxmlformats.org/drawingml/2006/main">
            <a:pPr>
              <a:defRPr sz="4650" b="1">
                <a:solidFill>
                  <a:srgbClr val="FFFFFF"/>
                </a:solidFill>
              </a:defRPr>
            </a:pPr>
            <a:r>
              <a:rPr sz="4650" b="1">
                <a:solidFill>
                  <a:srgbClr val="FFFFFF"/>
                </a:solidFill>
              </a:rPr>
              <a:t>People first.</a:t>
            </a:r>
          </a:p>
          <a:p xmlns:a="http://schemas.openxmlformats.org/drawingml/2006/main">
            <a:pPr>
              <a:defRPr sz="4650" b="1">
                <a:solidFill>
                  <a:srgbClr val="FFFFFF"/>
                </a:solidFill>
              </a:defRPr>
            </a:pPr>
            <a:r>
              <a:rPr sz="4650" b="1">
                <a:solidFill>
                  <a:srgbClr val="FFFFFF"/>
                </a:solidFill>
              </a:rPr>
              <a:t>Every shift.</a:t>
            </a:r>
          </a:p>
        </p:txBody>
      </p:sp>
      <p:sp>
        <p:nvSpPr>
          <p:cNvPr id="4" name="">
            <a:extLst xmlns:a="http://schemas.openxmlformats.org/drawingml/2006/main">
              <a:ext uri="{FF2B5EF4-FFF2-40B4-BE49-F238E27FC236}">
                <a16:creationId xmlns:a16="http://schemas.microsoft.com/office/drawing/2014/main" id="{F70DB476-D6E2-4202-B870-2DD07B7189E3}"/>
              </a:ext>
            </a:extLst>
          </p:cNvPr>
          <p:cNvSpPr>
            <a:spLocks xmlns:a="http://schemas.openxmlformats.org/drawingml/2006/main" noGrp="1"/>
          </p:cNvSpPr>
          <p:nvPr/>
        </p:nvSpPr>
        <p:spPr>
          <a:xfrm xmlns:a="http://schemas.openxmlformats.org/drawingml/2006/main">
            <a:off x="1809750" y="3790950"/>
            <a:ext cx="857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800" b="0">
                <a:solidFill>
                  <a:srgbClr val="DCE9E3"/>
                </a:solidFill>
              </a:defRPr>
            </a:defPPr>
          </a:lstStyle>
          <a:p xmlns:a="http://schemas.openxmlformats.org/drawingml/2006/main">
            <a:pPr>
              <a:defRPr sz="1800" b="0">
                <a:solidFill>
                  <a:srgbClr val="DCE9E3"/>
                </a:solidFill>
              </a:defRPr>
            </a:pPr>
            <a:r>
              <a:rPr sz="1800" b="0">
                <a:solidFill>
                  <a:srgbClr val="DCE9E3"/>
                </a:solidFill>
              </a:rPr>
              <a:t>A worker-controlled check-in. A visible request. A human response.</a:t>
            </a:r>
          </a:p>
        </p:txBody>
      </p:sp>
      <p:sp>
        <p:nvSpPr>
          <p:cNvPr id="5" name="">
            <a:extLst xmlns:a="http://schemas.openxmlformats.org/drawingml/2006/main">
              <a:ext uri="{FF2B5EF4-FFF2-40B4-BE49-F238E27FC236}">
                <a16:creationId xmlns:a16="http://schemas.microsoft.com/office/drawing/2014/main" id="{DDFF35CA-C32A-4B71-B3FD-B7D7EFC84B2F}"/>
              </a:ext>
            </a:extLst>
          </p:cNvPr>
          <p:cNvSpPr>
            <a:spLocks xmlns:a="http://schemas.openxmlformats.org/drawingml/2006/main" noGrp="1"/>
          </p:cNvSpPr>
          <p:nvPr/>
        </p:nvSpPr>
        <p:spPr>
          <a:xfrm xmlns:a="http://schemas.openxmlformats.org/drawingml/2006/main">
            <a:off x="1619250" y="514350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125" b="1">
                <a:solidFill>
                  <a:srgbClr val="C8FF63"/>
                </a:solidFill>
              </a:defRPr>
            </a:defPPr>
          </a:lstStyle>
          <a:p xmlns:a="http://schemas.openxmlformats.org/drawingml/2006/main">
            <a:pPr>
              <a:defRPr sz="1125" b="1">
                <a:solidFill>
                  <a:srgbClr val="C8FF63"/>
                </a:solidFill>
              </a:defRPr>
            </a:pPr>
            <a:r>
              <a:rPr sz="1125" b="1">
                <a:solidFill>
                  <a:srgbClr val="C8FF63"/>
                </a:solidFill>
              </a:rPr>
              <a:t>BEST USE OF PRESAGE     BEST USE OF GEMINI API     BEST USE OF TIGER DATA</a:t>
            </a:r>
          </a:p>
        </p:txBody>
      </p:sp>
      <p:sp>
        <p:nvSpPr>
          <p:cNvPr id="6" name="">
            <a:extLst xmlns:a="http://schemas.openxmlformats.org/drawingml/2006/main">
              <a:ext uri="{FF2B5EF4-FFF2-40B4-BE49-F238E27FC236}">
                <a16:creationId xmlns:a16="http://schemas.microsoft.com/office/drawing/2014/main" id="{36471AD7-9225-465D-A8C7-8604629D0885}"/>
              </a:ext>
            </a:extLst>
          </p:cNvPr>
          <p:cNvSpPr>
            <a:spLocks xmlns:a="http://schemas.openxmlformats.org/drawingml/2006/main" noGrp="1"/>
          </p:cNvSpPr>
          <p:nvPr/>
        </p:nvSpPr>
        <p:spPr>
          <a:xfrm xmlns:a="http://schemas.openxmlformats.org/drawingml/2006/main">
            <a:off x="3714750" y="605790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defPPr>
              <a:defRPr sz="1050" b="1">
                <a:solidFill>
                  <a:srgbClr val="FFD278"/>
                </a:solidFill>
              </a:defRPr>
            </a:defPPr>
          </a:lstStyle>
          <a:p xmlns:a="http://schemas.openxmlformats.org/drawingml/2006/main">
            <a:pPr>
              <a:defRPr sz="1050" b="1">
                <a:solidFill>
                  <a:srgbClr val="FFD278"/>
                </a:solidFill>
              </a:defRPr>
            </a:pPr>
            <a:r>
              <a:rPr sz="1050" b="1">
                <a:solidFill>
                  <a:srgbClr val="FFD278"/>
                </a:solidFill>
              </a:rPr>
              <a:t>youtube.com/watch?v=CzoFM4OR6TA</a:t>
            </a:r>
          </a:p>
        </p:txBody>
      </p:sp>
    </p:spTree>
    <p:extLst>
      <p:ext uri="{BB962C8B-B14F-4D97-AF65-F5344CB8AC3E}">
        <p14:creationId xmlns:p14="http://schemas.microsoft.com/office/powerpoint/2010/main" val="2034363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2026-10-11T15:40:14.5620000Z</dcterms:created>
  <dcterms:modified xsi:type="dcterms:W3CDTF">2026-10-11T15:40:14.5620000Z</dcterms:modified>
</coreProperties>
</file>